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3" autoAdjust="0"/>
    <p:restoredTop sz="94610"/>
  </p:normalViewPr>
  <p:slideViewPr>
    <p:cSldViewPr snapToGrid="0" snapToObjects="1">
      <p:cViewPr varScale="1">
        <p:scale>
          <a:sx n="113" d="100"/>
          <a:sy n="113" d="100"/>
        </p:scale>
        <p:origin x="9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Kim" userId="bfb6c6aebdabc740" providerId="LiveId" clId="{E6B68EE1-88A9-4613-9E83-470EF94E541F}"/>
    <pc:docChg chg="custSel modSld">
      <pc:chgData name="Brian Kim" userId="bfb6c6aebdabc740" providerId="LiveId" clId="{E6B68EE1-88A9-4613-9E83-470EF94E541F}" dt="2026-09-03T01:55:41.751" v="617" actId="20577"/>
      <pc:docMkLst>
        <pc:docMk/>
      </pc:docMkLst>
      <pc:sldChg chg="modSp mod">
        <pc:chgData name="Brian Kim" userId="bfb6c6aebdabc740" providerId="LiveId" clId="{E6B68EE1-88A9-4613-9E83-470EF94E541F}" dt="2026-09-03T01:47:39.748" v="461" actId="20577"/>
        <pc:sldMkLst>
          <pc:docMk/>
          <pc:sldMk cId="0" sldId="258"/>
        </pc:sldMkLst>
        <pc:spChg chg="mod">
          <ac:chgData name="Brian Kim" userId="bfb6c6aebdabc740" providerId="LiveId" clId="{E6B68EE1-88A9-4613-9E83-470EF94E541F}" dt="2026-09-03T01:47:39.748" v="461" actId="20577"/>
          <ac:spMkLst>
            <pc:docMk/>
            <pc:sldMk cId="0" sldId="258"/>
            <ac:spMk id="16" creationId="{00000000-0000-0000-0000-000000000000}"/>
          </ac:spMkLst>
        </pc:spChg>
      </pc:sldChg>
      <pc:sldChg chg="modSp mod">
        <pc:chgData name="Brian Kim" userId="bfb6c6aebdabc740" providerId="LiveId" clId="{E6B68EE1-88A9-4613-9E83-470EF94E541F}" dt="2026-09-03T01:55:41.751" v="617" actId="20577"/>
        <pc:sldMkLst>
          <pc:docMk/>
          <pc:sldMk cId="0" sldId="259"/>
        </pc:sldMkLst>
        <pc:spChg chg="mod">
          <ac:chgData name="Brian Kim" userId="bfb6c6aebdabc740" providerId="LiveId" clId="{E6B68EE1-88A9-4613-9E83-470EF94E541F}" dt="2026-09-03T01:55:41.751" v="617" actId="20577"/>
          <ac:spMkLst>
            <pc:docMk/>
            <pc:sldMk cId="0" sldId="259"/>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184486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10515600" cy="365760"/>
          </a:xfrm>
          <a:prstGeom prst="rect">
            <a:avLst/>
          </a:prstGeom>
          <a:noFill/>
          <a:ln/>
        </p:spPr>
        <p:txBody>
          <a:bodyPr wrap="square" lIns="0" tIns="0" rIns="0" bIns="0" rtlCol="0" anchor="ctr">
            <a:normAutofit/>
          </a:bodyPr>
          <a:lstStyle/>
          <a:p>
            <a:pPr marL="0" indent="0">
              <a:buNone/>
            </a:pPr>
            <a:r>
              <a:rPr lang="en-US" sz="1600" b="1" kern="0" spc="400" dirty="0">
                <a:solidFill>
                  <a:srgbClr val="C9A432"/>
                </a:solidFill>
                <a:latin typeface="Calibri" pitchFamily="34" charset="0"/>
                <a:ea typeface="Calibri" pitchFamily="34" charset="-122"/>
                <a:cs typeface="Calibri" pitchFamily="34" charset="-120"/>
              </a:rPr>
              <a:t>SUNGMIN · CLASS 12</a:t>
            </a:r>
            <a:endParaRPr lang="en-US" sz="1600" dirty="0"/>
          </a:p>
        </p:txBody>
      </p:sp>
      <p:sp>
        <p:nvSpPr>
          <p:cNvPr id="3" name="Text 1"/>
          <p:cNvSpPr txBox="1"/>
          <p:nvPr/>
        </p:nvSpPr>
        <p:spPr>
          <a:xfrm>
            <a:off x="822960" y="2377440"/>
            <a:ext cx="10515600" cy="1051560"/>
          </a:xfrm>
          <a:prstGeom prst="rect">
            <a:avLst/>
          </a:prstGeom>
          <a:noFill/>
          <a:ln/>
        </p:spPr>
        <p:txBody>
          <a:bodyPr wrap="square" lIns="0" tIns="0" rIns="0" bIns="0" rtlCol="0" anchor="ctr">
            <a:normAutofit/>
          </a:bodyPr>
          <a:lstStyle/>
          <a:p>
            <a:pPr marL="0" indent="0">
              <a:buNone/>
            </a:pPr>
            <a:r>
              <a:rPr lang="en-US" sz="4400" b="1" dirty="0">
                <a:solidFill>
                  <a:srgbClr val="FFFFFF"/>
                </a:solidFill>
                <a:latin typeface="Georgia" pitchFamily="34" charset="0"/>
                <a:ea typeface="Georgia" pitchFamily="34" charset="-122"/>
                <a:cs typeface="Georgia" pitchFamily="34" charset="-120"/>
              </a:rPr>
              <a:t>What Will You Research?</a:t>
            </a:r>
            <a:endParaRPr lang="en-US" sz="4400" dirty="0"/>
          </a:p>
        </p:txBody>
      </p:sp>
      <p:sp>
        <p:nvSpPr>
          <p:cNvPr id="4" name="Text 2"/>
          <p:cNvSpPr txBox="1"/>
          <p:nvPr/>
        </p:nvSpPr>
        <p:spPr>
          <a:xfrm>
            <a:off x="822960" y="3566160"/>
            <a:ext cx="10515600" cy="457200"/>
          </a:xfrm>
          <a:prstGeom prst="rect">
            <a:avLst/>
          </a:prstGeom>
          <a:noFill/>
          <a:ln/>
        </p:spPr>
        <p:txBody>
          <a:bodyPr wrap="square" lIns="0" tIns="0" rIns="0" bIns="0" rtlCol="0" anchor="ctr">
            <a:normAutofit/>
          </a:bodyPr>
          <a:lstStyle/>
          <a:p>
            <a:pPr marL="0" indent="0">
              <a:buNone/>
            </a:pPr>
            <a:r>
              <a:rPr lang="en-US" sz="1700" dirty="0">
                <a:solidFill>
                  <a:srgbClr val="9FB0CC"/>
                </a:solidFill>
                <a:latin typeface="Calibri" pitchFamily="34" charset="0"/>
                <a:ea typeface="Calibri" pitchFamily="34" charset="-122"/>
                <a:cs typeface="Calibri" pitchFamily="34" charset="-120"/>
              </a:rPr>
              <a:t>The plan, the years after, and saying it fresh.</a:t>
            </a:r>
            <a:endParaRPr lang="en-US" sz="1700" dirty="0"/>
          </a:p>
        </p:txBody>
      </p:sp>
      <p:sp>
        <p:nvSpPr>
          <p:cNvPr id="5" name="Text 3"/>
          <p:cNvSpPr txBox="1"/>
          <p:nvPr/>
        </p:nvSpPr>
        <p:spPr>
          <a:xfrm>
            <a:off x="822960" y="6126480"/>
            <a:ext cx="5486400" cy="320040"/>
          </a:xfrm>
          <a:prstGeom prst="rect">
            <a:avLst/>
          </a:prstGeom>
          <a:noFill/>
          <a:ln/>
        </p:spPr>
        <p:txBody>
          <a:bodyPr wrap="square" lIns="0" tIns="0" rIns="0" bIns="0" rtlCol="0" anchor="ctr">
            <a:normAutofit/>
          </a:bodyPr>
          <a:lstStyle/>
          <a:p>
            <a:pPr marL="0" indent="0">
              <a:buNone/>
            </a:pPr>
            <a:r>
              <a:rPr lang="en-US" sz="1300" dirty="0">
                <a:solidFill>
                  <a:srgbClr val="6E7F9C"/>
                </a:solidFill>
                <a:latin typeface="Calibri" pitchFamily="34" charset="0"/>
                <a:ea typeface="Calibri" pitchFamily="34" charset="-122"/>
                <a:cs typeface="Calibri" pitchFamily="34" charset="-120"/>
              </a:rPr>
              <a:t>Do English with Brian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ctr">
            <a:normAutofit/>
          </a:bodyPr>
          <a:lstStyle/>
          <a:p>
            <a:pPr marL="0" indent="0">
              <a:buNone/>
            </a:pPr>
            <a:r>
              <a:rPr lang="en-US" sz="1300" b="1" kern="0" spc="300" dirty="0">
                <a:solidFill>
                  <a:srgbClr val="C9A432"/>
                </a:solidFill>
                <a:latin typeface="Calibri" pitchFamily="34" charset="0"/>
                <a:ea typeface="Calibri" pitchFamily="34" charset="-122"/>
                <a:cs typeface="Calibri" pitchFamily="34" charset="-120"/>
              </a:rPr>
              <a:t>WARM-UP</a:t>
            </a:r>
            <a:endParaRPr lang="en-US" sz="1300" dirty="0"/>
          </a:p>
        </p:txBody>
      </p:sp>
      <p:sp>
        <p:nvSpPr>
          <p:cNvPr id="3" name="Text 1"/>
          <p:cNvSpPr txBox="1"/>
          <p:nvPr/>
        </p:nvSpPr>
        <p:spPr>
          <a:xfrm>
            <a:off x="548640" y="621792"/>
            <a:ext cx="11064240" cy="658368"/>
          </a:xfrm>
          <a:prstGeom prst="rect">
            <a:avLst/>
          </a:prstGeom>
          <a:noFill/>
          <a:ln/>
        </p:spPr>
        <p:txBody>
          <a:bodyPr wrap="square" lIns="0" tIns="0" rIns="0" bIns="0" rtlCol="0" anchor="ctr">
            <a:normAutofit/>
          </a:bodyPr>
          <a:lstStyle/>
          <a:p>
            <a:pPr marL="0" indent="0">
              <a:buNone/>
            </a:pPr>
            <a:r>
              <a:rPr lang="en-US" sz="3000" b="1" dirty="0">
                <a:solidFill>
                  <a:srgbClr val="FFFFFF"/>
                </a:solidFill>
                <a:latin typeface="Georgia" pitchFamily="34" charset="0"/>
                <a:ea typeface="Georgia" pitchFamily="34" charset="-122"/>
                <a:cs typeface="Georgia" pitchFamily="34" charset="-120"/>
              </a:rPr>
              <a:t>Catching Up</a:t>
            </a:r>
            <a:endParaRPr lang="en-US" sz="3000" dirty="0"/>
          </a:p>
        </p:txBody>
      </p:sp>
      <p:sp>
        <p:nvSpPr>
          <p:cNvPr id="4" name="Text 2"/>
          <p:cNvSpPr txBox="1"/>
          <p:nvPr/>
        </p:nvSpPr>
        <p:spPr>
          <a:xfrm>
            <a:off x="548640" y="1554480"/>
            <a:ext cx="5257800" cy="274320"/>
          </a:xfrm>
          <a:prstGeom prst="rect">
            <a:avLst/>
          </a:prstGeom>
          <a:noFill/>
          <a:ln/>
        </p:spPr>
        <p:txBody>
          <a:bodyPr wrap="square" lIns="0" tIns="0" rIns="0" bIns="0" rtlCol="0" anchor="ctr">
            <a:normAutofit/>
          </a:bodyPr>
          <a:lstStyle/>
          <a:p>
            <a:pPr marL="0" indent="0">
              <a:buNone/>
            </a:pPr>
            <a:r>
              <a:rPr lang="en-US" sz="1200" b="1" kern="0" spc="200" dirty="0">
                <a:solidFill>
                  <a:srgbClr val="9FB0CC"/>
                </a:solidFill>
                <a:latin typeface="Calibri" pitchFamily="34" charset="0"/>
                <a:ea typeface="Calibri" pitchFamily="34" charset="-122"/>
                <a:cs typeface="Calibri" pitchFamily="34" charset="-120"/>
              </a:rPr>
              <a:t>QUESTIONS</a:t>
            </a:r>
            <a:endParaRPr lang="en-US" sz="1200" dirty="0"/>
          </a:p>
        </p:txBody>
      </p:sp>
      <p:sp>
        <p:nvSpPr>
          <p:cNvPr id="5" name="Text 3"/>
          <p:cNvSpPr txBox="1"/>
          <p:nvPr/>
        </p:nvSpPr>
        <p:spPr>
          <a:xfrm>
            <a:off x="548640" y="1865376"/>
            <a:ext cx="5257800" cy="2011680"/>
          </a:xfrm>
          <a:prstGeom prst="rect">
            <a:avLst/>
          </a:prstGeom>
          <a:noFill/>
          <a:ln/>
        </p:spPr>
        <p:txBody>
          <a:bodyPr wrap="square" lIns="0" tIns="0" rIns="0" bIns="0" rtlCol="0" anchor="t">
            <a:normAutofit/>
          </a:bodyPr>
          <a:lstStyle/>
          <a:p>
            <a:pPr marL="0" indent="0">
              <a:buNone/>
            </a:pPr>
            <a:r>
              <a:rPr lang="en-US" sz="1400" b="1" dirty="0">
                <a:solidFill>
                  <a:srgbClr val="E4C05C"/>
                </a:solidFill>
                <a:latin typeface="Calibri" pitchFamily="34" charset="0"/>
                <a:ea typeface="Calibri" pitchFamily="34" charset="-122"/>
                <a:cs typeface="Calibri" pitchFamily="34" charset="-120"/>
              </a:rPr>
              <a:t>Q1  </a:t>
            </a:r>
            <a:r>
              <a:rPr lang="en-US" sz="1650" dirty="0">
                <a:solidFill>
                  <a:srgbClr val="FFFFFF"/>
                </a:solidFill>
                <a:latin typeface="Calibri" pitchFamily="34" charset="0"/>
                <a:ea typeface="Calibri" pitchFamily="34" charset="-122"/>
                <a:cs typeface="Calibri" pitchFamily="34" charset="-120"/>
              </a:rPr>
              <a:t>How's the arm this week?</a:t>
            </a:r>
            <a:endParaRPr lang="en-US" sz="1400" dirty="0"/>
          </a:p>
          <a:p>
            <a:pPr marL="0" indent="0">
              <a:buNone/>
            </a:pPr>
            <a:r>
              <a:rPr lang="en-US" sz="1400" b="1" dirty="0">
                <a:solidFill>
                  <a:srgbClr val="E4C05C"/>
                </a:solidFill>
                <a:latin typeface="Calibri" pitchFamily="34" charset="0"/>
                <a:ea typeface="Calibri" pitchFamily="34" charset="-122"/>
                <a:cs typeface="Calibri" pitchFamily="34" charset="-120"/>
              </a:rPr>
              <a:t>Q2  </a:t>
            </a:r>
            <a:r>
              <a:rPr lang="en-US" sz="1650" dirty="0">
                <a:solidFill>
                  <a:srgbClr val="FFFFFF"/>
                </a:solidFill>
                <a:latin typeface="Calibri" pitchFamily="34" charset="0"/>
                <a:ea typeface="Calibri" pitchFamily="34" charset="-122"/>
                <a:cs typeface="Calibri" pitchFamily="34" charset="-120"/>
              </a:rPr>
              <a:t>What's still ongoing at school?</a:t>
            </a:r>
            <a:endParaRPr lang="en-US" sz="1400" dirty="0"/>
          </a:p>
        </p:txBody>
      </p:sp>
      <p:sp>
        <p:nvSpPr>
          <p:cNvPr id="6" name="Shape 4"/>
          <p:cNvSpPr/>
          <p:nvPr/>
        </p:nvSpPr>
        <p:spPr>
          <a:xfrm>
            <a:off x="6035040" y="1554480"/>
            <a:ext cx="5605272" cy="2468880"/>
          </a:xfrm>
          <a:prstGeom prst="roundRect">
            <a:avLst>
              <a:gd name="adj" fmla="val 3333"/>
            </a:avLst>
          </a:prstGeom>
          <a:solidFill>
            <a:srgbClr val="16273F"/>
          </a:solidFill>
          <a:ln w="12700">
            <a:solidFill>
              <a:srgbClr val="223756"/>
            </a:solidFill>
            <a:prstDash val="solid"/>
          </a:ln>
        </p:spPr>
      </p:sp>
      <p:sp>
        <p:nvSpPr>
          <p:cNvPr id="7" name="Text 5"/>
          <p:cNvSpPr txBox="1"/>
          <p:nvPr/>
        </p:nvSpPr>
        <p:spPr>
          <a:xfrm>
            <a:off x="6309360" y="1737360"/>
            <a:ext cx="5056632" cy="274320"/>
          </a:xfrm>
          <a:prstGeom prst="rect">
            <a:avLst/>
          </a:prstGeom>
          <a:noFill/>
          <a:ln/>
        </p:spPr>
        <p:txBody>
          <a:bodyPr wrap="square" lIns="0" tIns="0" rIns="0" bIns="0" rtlCol="0" anchor="ctr">
            <a:normAutofit/>
          </a:bodyPr>
          <a:lstStyle/>
          <a:p>
            <a:pPr marL="0" indent="0">
              <a:buNone/>
            </a:pPr>
            <a:r>
              <a:rPr lang="en-US" sz="1200" b="1" kern="0" spc="200" dirty="0">
                <a:solidFill>
                  <a:srgbClr val="C9A432"/>
                </a:solidFill>
                <a:latin typeface="Calibri" pitchFamily="34" charset="0"/>
                <a:ea typeface="Calibri" pitchFamily="34" charset="-122"/>
                <a:cs typeface="Calibri" pitchFamily="34" charset="-120"/>
              </a:rPr>
              <a:t>TOOLBOX</a:t>
            </a:r>
            <a:endParaRPr lang="en-US" sz="1200" dirty="0"/>
          </a:p>
        </p:txBody>
      </p:sp>
      <p:sp>
        <p:nvSpPr>
          <p:cNvPr id="8" name="Text 6"/>
          <p:cNvSpPr txBox="1"/>
          <p:nvPr/>
        </p:nvSpPr>
        <p:spPr>
          <a:xfrm>
            <a:off x="6309360" y="2057400"/>
            <a:ext cx="5056632" cy="1783080"/>
          </a:xfrm>
          <a:prstGeom prst="rect">
            <a:avLst/>
          </a:prstGeom>
          <a:noFill/>
          <a:ln/>
        </p:spPr>
        <p:txBody>
          <a:bodyPr wrap="square" lIns="0" tIns="0" rIns="0" bIns="0" rtlCol="0" anchor="t">
            <a:normAutofit/>
          </a:bodyPr>
          <a:lstStyle/>
          <a:p>
            <a:pPr marL="0" indent="0">
              <a:buNone/>
            </a:pPr>
            <a:r>
              <a:rPr lang="en-US" sz="1500" b="1" dirty="0">
                <a:solidFill>
                  <a:srgbClr val="FFFFFF"/>
                </a:solidFill>
                <a:latin typeface="Calibri" pitchFamily="34" charset="0"/>
                <a:ea typeface="Calibri" pitchFamily="34" charset="-122"/>
                <a:cs typeface="Calibri" pitchFamily="34" charset="-120"/>
              </a:rPr>
              <a:t>It's coming along</a:t>
            </a:r>
            <a:endParaRPr lang="en-US" sz="1500" dirty="0"/>
          </a:p>
          <a:p>
            <a:pPr marL="0" indent="0">
              <a:spcAft>
                <a:spcPts val="900"/>
              </a:spcAft>
              <a:buNone/>
            </a:pPr>
            <a:r>
              <a:rPr lang="en-US" sz="1150" dirty="0">
                <a:solidFill>
                  <a:srgbClr val="9FB0CC"/>
                </a:solidFill>
                <a:latin typeface="Calibri" pitchFamily="34" charset="0"/>
                <a:ea typeface="Calibri" pitchFamily="34" charset="-122"/>
                <a:cs typeface="Calibri" pitchFamily="34" charset="-120"/>
              </a:rPr>
              <a:t>조금씩 나아지고 있어요</a:t>
            </a:r>
            <a:endParaRPr lang="en-US" sz="1500" dirty="0"/>
          </a:p>
          <a:p>
            <a:pPr marL="0" indent="0">
              <a:buNone/>
            </a:pPr>
            <a:r>
              <a:rPr lang="en-US" sz="1500" b="1" dirty="0">
                <a:solidFill>
                  <a:srgbClr val="FFFFFF"/>
                </a:solidFill>
                <a:latin typeface="Calibri" pitchFamily="34" charset="0"/>
                <a:ea typeface="Calibri" pitchFamily="34" charset="-122"/>
                <a:cs typeface="Calibri" pitchFamily="34" charset="-120"/>
              </a:rPr>
              <a:t>~ is still ongoing</a:t>
            </a:r>
            <a:endParaRPr lang="en-US" sz="1500" dirty="0"/>
          </a:p>
          <a:p>
            <a:pPr marL="0" indent="0">
              <a:buNone/>
            </a:pPr>
            <a:r>
              <a:rPr lang="en-US" sz="1150" dirty="0">
                <a:solidFill>
                  <a:srgbClr val="9FB0CC"/>
                </a:solidFill>
                <a:latin typeface="Calibri" pitchFamily="34" charset="0"/>
                <a:ea typeface="Calibri" pitchFamily="34" charset="-122"/>
                <a:cs typeface="Calibri" pitchFamily="34" charset="-120"/>
              </a:rPr>
              <a:t>~는 아직 진행 중이에요</a:t>
            </a:r>
            <a:endParaRPr lang="en-US" sz="1500" dirty="0"/>
          </a:p>
        </p:txBody>
      </p:sp>
      <p:sp>
        <p:nvSpPr>
          <p:cNvPr id="9" name="Text 7"/>
          <p:cNvSpPr txBox="1"/>
          <p:nvPr/>
        </p:nvSpPr>
        <p:spPr>
          <a:xfrm>
            <a:off x="548640" y="4206240"/>
            <a:ext cx="5120640" cy="256032"/>
          </a:xfrm>
          <a:prstGeom prst="rect">
            <a:avLst/>
          </a:prstGeom>
          <a:noFill/>
          <a:ln/>
        </p:spPr>
        <p:txBody>
          <a:bodyPr wrap="square" lIns="0" tIns="0" rIns="0" bIns="0" rtlCol="0" anchor="ctr">
            <a:normAutofit/>
          </a:bodyPr>
          <a:lstStyle/>
          <a:p>
            <a:pPr marL="0" indent="0">
              <a:buNone/>
            </a:pPr>
            <a:r>
              <a:rPr lang="en-US" sz="1100" b="1" kern="0" spc="200" dirty="0">
                <a:solidFill>
                  <a:srgbClr val="9FB0CC"/>
                </a:solidFill>
                <a:latin typeface="Calibri" pitchFamily="34" charset="0"/>
                <a:ea typeface="Calibri" pitchFamily="34" charset="-122"/>
                <a:cs typeface="Calibri" pitchFamily="34" charset="-120"/>
              </a:rPr>
              <a:t>FROM YOUR WORDS</a:t>
            </a:r>
            <a:r>
              <a:rPr lang="en-US" sz="1100" dirty="0">
                <a:solidFill>
                  <a:srgbClr val="6E7F9C"/>
                </a:solidFill>
                <a:latin typeface="Calibri" pitchFamily="34" charset="0"/>
                <a:ea typeface="Calibri" pitchFamily="34" charset="-122"/>
                <a:cs typeface="Calibri" pitchFamily="34" charset="-120"/>
              </a:rPr>
              <a:t>  ·  </a:t>
            </a:r>
            <a:r>
              <a:rPr lang="en-US" sz="1100" dirty="0">
                <a:solidFill>
                  <a:srgbClr val="9FB0CC"/>
                </a:solidFill>
                <a:latin typeface="Calibri" pitchFamily="34" charset="0"/>
                <a:ea typeface="Calibri" pitchFamily="34" charset="-122"/>
                <a:cs typeface="Calibri" pitchFamily="34" charset="-120"/>
              </a:rPr>
              <a:t>지난주 단어</a:t>
            </a:r>
            <a:endParaRPr lang="en-US" sz="1100" dirty="0"/>
          </a:p>
        </p:txBody>
      </p:sp>
      <p:sp>
        <p:nvSpPr>
          <p:cNvPr id="10" name="Shape 8"/>
          <p:cNvSpPr/>
          <p:nvPr/>
        </p:nvSpPr>
        <p:spPr>
          <a:xfrm>
            <a:off x="548640" y="4498848"/>
            <a:ext cx="1056132" cy="384048"/>
          </a:xfrm>
          <a:prstGeom prst="roundRect">
            <a:avLst>
              <a:gd name="adj" fmla="val 50000"/>
            </a:avLst>
          </a:prstGeom>
          <a:solidFill>
            <a:srgbClr val="10203A"/>
          </a:solidFill>
          <a:ln w="15875">
            <a:solidFill>
              <a:srgbClr val="C9A432"/>
            </a:solidFill>
            <a:prstDash val="solid"/>
          </a:ln>
        </p:spPr>
      </p:sp>
      <p:sp>
        <p:nvSpPr>
          <p:cNvPr id="11" name="Text 9"/>
          <p:cNvSpPr txBox="1"/>
          <p:nvPr/>
        </p:nvSpPr>
        <p:spPr>
          <a:xfrm>
            <a:off x="548640" y="4498848"/>
            <a:ext cx="1056132" cy="384048"/>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ongoing</a:t>
            </a:r>
            <a:endParaRPr lang="en-US" sz="1300" dirty="0"/>
          </a:p>
        </p:txBody>
      </p:sp>
      <p:sp>
        <p:nvSpPr>
          <p:cNvPr id="12" name="Shape 10"/>
          <p:cNvSpPr/>
          <p:nvPr/>
        </p:nvSpPr>
        <p:spPr>
          <a:xfrm>
            <a:off x="1751076" y="4498848"/>
            <a:ext cx="1056132" cy="384048"/>
          </a:xfrm>
          <a:prstGeom prst="roundRect">
            <a:avLst>
              <a:gd name="adj" fmla="val 50000"/>
            </a:avLst>
          </a:prstGeom>
          <a:solidFill>
            <a:srgbClr val="10203A"/>
          </a:solidFill>
          <a:ln w="15875">
            <a:solidFill>
              <a:srgbClr val="C9A432"/>
            </a:solidFill>
            <a:prstDash val="solid"/>
          </a:ln>
        </p:spPr>
      </p:sp>
      <p:sp>
        <p:nvSpPr>
          <p:cNvPr id="13" name="Text 11"/>
          <p:cNvSpPr txBox="1"/>
          <p:nvPr/>
        </p:nvSpPr>
        <p:spPr>
          <a:xfrm>
            <a:off x="1751076" y="4498848"/>
            <a:ext cx="1056132" cy="384048"/>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worried</a:t>
            </a:r>
            <a:endParaRPr lang="en-US" sz="1300" dirty="0"/>
          </a:p>
        </p:txBody>
      </p:sp>
      <p:sp>
        <p:nvSpPr>
          <p:cNvPr id="14" name="Shape 12"/>
          <p:cNvSpPr/>
          <p:nvPr/>
        </p:nvSpPr>
        <p:spPr>
          <a:xfrm>
            <a:off x="548640" y="5166360"/>
            <a:ext cx="11091672" cy="1325880"/>
          </a:xfrm>
          <a:prstGeom prst="roundRect">
            <a:avLst>
              <a:gd name="adj" fmla="val 6207"/>
            </a:avLst>
          </a:prstGeom>
          <a:solidFill>
            <a:srgbClr val="1B2E4A"/>
          </a:solidFill>
          <a:ln w="12700">
            <a:solidFill>
              <a:srgbClr val="C9A432"/>
            </a:solidFill>
            <a:prstDash val="dash"/>
          </a:ln>
        </p:spPr>
      </p:sp>
      <p:sp>
        <p:nvSpPr>
          <p:cNvPr id="15" name="Text 13"/>
          <p:cNvSpPr txBox="1"/>
          <p:nvPr/>
        </p:nvSpPr>
        <p:spPr>
          <a:xfrm>
            <a:off x="822960" y="5285232"/>
            <a:ext cx="10515600" cy="256032"/>
          </a:xfrm>
          <a:prstGeom prst="rect">
            <a:avLst/>
          </a:prstGeom>
          <a:noFill/>
          <a:ln/>
        </p:spPr>
        <p:txBody>
          <a:bodyPr wrap="square" lIns="0" tIns="0" rIns="0" bIns="0" rtlCol="0" anchor="ctr">
            <a:normAutofit/>
          </a:bodyPr>
          <a:lstStyle/>
          <a:p>
            <a:pPr marL="0" indent="0">
              <a:buNone/>
            </a:pPr>
            <a:r>
              <a:rPr lang="en-US" sz="1150" b="1" kern="0" spc="200" dirty="0">
                <a:solidFill>
                  <a:srgbClr val="C9A432"/>
                </a:solidFill>
                <a:latin typeface="Calibri" pitchFamily="34" charset="0"/>
                <a:ea typeface="Calibri" pitchFamily="34" charset="-122"/>
                <a:cs typeface="Calibri" pitchFamily="34" charset="-120"/>
              </a:rPr>
              <a:t>CAUGHT TODAY</a:t>
            </a:r>
            <a:r>
              <a:rPr lang="en-US" sz="1150" dirty="0">
                <a:solidFill>
                  <a:srgbClr val="6E7F9C"/>
                </a:solidFill>
                <a:latin typeface="Calibri" pitchFamily="34" charset="0"/>
                <a:ea typeface="Calibri" pitchFamily="34" charset="-122"/>
                <a:cs typeface="Calibri" pitchFamily="34" charset="-120"/>
              </a:rPr>
              <a:t>  ·  </a:t>
            </a:r>
            <a:r>
              <a:rPr lang="en-US" sz="1150" dirty="0">
                <a:solidFill>
                  <a:srgbClr val="9FB0CC"/>
                </a:solidFill>
                <a:latin typeface="Calibri" pitchFamily="34" charset="0"/>
                <a:ea typeface="Calibri" pitchFamily="34" charset="-122"/>
                <a:cs typeface="Calibri" pitchFamily="34" charset="-120"/>
              </a:rPr>
              <a:t>수업 중 나온 문장을 여기에</a:t>
            </a:r>
            <a:endParaRPr lang="en-US" sz="1150" dirty="0"/>
          </a:p>
        </p:txBody>
      </p:sp>
      <p:sp>
        <p:nvSpPr>
          <p:cNvPr id="16" name="Text 14"/>
          <p:cNvSpPr txBox="1"/>
          <p:nvPr/>
        </p:nvSpPr>
        <p:spPr>
          <a:xfrm>
            <a:off x="822960" y="5577840"/>
            <a:ext cx="1051560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 </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ctr">
            <a:normAutofit/>
          </a:bodyPr>
          <a:lstStyle/>
          <a:p>
            <a:pPr marL="0" indent="0">
              <a:buNone/>
            </a:pPr>
            <a:r>
              <a:rPr lang="en-US" sz="1300" b="1" kern="0" spc="300" dirty="0">
                <a:solidFill>
                  <a:srgbClr val="C9A432"/>
                </a:solidFill>
                <a:latin typeface="Calibri" pitchFamily="34" charset="0"/>
                <a:ea typeface="Calibri" pitchFamily="34" charset="-122"/>
                <a:cs typeface="Calibri" pitchFamily="34" charset="-120"/>
              </a:rPr>
              <a:t>THE RESEARCH</a:t>
            </a:r>
            <a:endParaRPr lang="en-US" sz="1300" dirty="0"/>
          </a:p>
        </p:txBody>
      </p:sp>
      <p:sp>
        <p:nvSpPr>
          <p:cNvPr id="3" name="Text 1"/>
          <p:cNvSpPr txBox="1"/>
          <p:nvPr/>
        </p:nvSpPr>
        <p:spPr>
          <a:xfrm>
            <a:off x="548640" y="621792"/>
            <a:ext cx="11064240" cy="658368"/>
          </a:xfrm>
          <a:prstGeom prst="rect">
            <a:avLst/>
          </a:prstGeom>
          <a:noFill/>
          <a:ln/>
        </p:spPr>
        <p:txBody>
          <a:bodyPr wrap="square" lIns="0" tIns="0" rIns="0" bIns="0" rtlCol="0" anchor="ctr">
            <a:normAutofit/>
          </a:bodyPr>
          <a:lstStyle/>
          <a:p>
            <a:pPr marL="0" indent="0">
              <a:buNone/>
            </a:pPr>
            <a:r>
              <a:rPr lang="en-US" sz="3000" b="1" dirty="0">
                <a:solidFill>
                  <a:srgbClr val="FFFFFF"/>
                </a:solidFill>
                <a:latin typeface="Georgia" pitchFamily="34" charset="0"/>
                <a:ea typeface="Georgia" pitchFamily="34" charset="-122"/>
                <a:cs typeface="Georgia" pitchFamily="34" charset="-120"/>
              </a:rPr>
              <a:t>What Exactly Will You Study?</a:t>
            </a:r>
            <a:endParaRPr lang="en-US" sz="3000" dirty="0"/>
          </a:p>
        </p:txBody>
      </p:sp>
      <p:sp>
        <p:nvSpPr>
          <p:cNvPr id="4" name="Text 2"/>
          <p:cNvSpPr txBox="1"/>
          <p:nvPr/>
        </p:nvSpPr>
        <p:spPr>
          <a:xfrm>
            <a:off x="548640" y="1554480"/>
            <a:ext cx="5257800" cy="274320"/>
          </a:xfrm>
          <a:prstGeom prst="rect">
            <a:avLst/>
          </a:prstGeom>
          <a:noFill/>
          <a:ln/>
        </p:spPr>
        <p:txBody>
          <a:bodyPr wrap="square" lIns="0" tIns="0" rIns="0" bIns="0" rtlCol="0" anchor="ctr">
            <a:normAutofit/>
          </a:bodyPr>
          <a:lstStyle/>
          <a:p>
            <a:pPr marL="0" indent="0">
              <a:buNone/>
            </a:pPr>
            <a:r>
              <a:rPr lang="en-US" sz="1200" b="1" kern="0" spc="200" dirty="0">
                <a:solidFill>
                  <a:srgbClr val="9FB0CC"/>
                </a:solidFill>
                <a:latin typeface="Calibri" pitchFamily="34" charset="0"/>
                <a:ea typeface="Calibri" pitchFamily="34" charset="-122"/>
                <a:cs typeface="Calibri" pitchFamily="34" charset="-120"/>
              </a:rPr>
              <a:t>QUESTIONS</a:t>
            </a:r>
            <a:endParaRPr lang="en-US" sz="1200" dirty="0"/>
          </a:p>
        </p:txBody>
      </p:sp>
      <p:sp>
        <p:nvSpPr>
          <p:cNvPr id="5" name="Text 3"/>
          <p:cNvSpPr txBox="1"/>
          <p:nvPr/>
        </p:nvSpPr>
        <p:spPr>
          <a:xfrm>
            <a:off x="548640" y="1865376"/>
            <a:ext cx="5257800" cy="2286000"/>
          </a:xfrm>
          <a:prstGeom prst="rect">
            <a:avLst/>
          </a:prstGeom>
          <a:noFill/>
          <a:ln/>
        </p:spPr>
        <p:txBody>
          <a:bodyPr wrap="square" lIns="0" tIns="0" rIns="0" bIns="0" rtlCol="0" anchor="t">
            <a:normAutofit/>
          </a:bodyPr>
          <a:lstStyle/>
          <a:p>
            <a:pPr marL="0" indent="0">
              <a:buNone/>
            </a:pPr>
            <a:r>
              <a:rPr lang="en-US" sz="1400" b="1" dirty="0">
                <a:solidFill>
                  <a:srgbClr val="E4C05C"/>
                </a:solidFill>
                <a:latin typeface="Calibri" pitchFamily="34" charset="0"/>
                <a:ea typeface="Calibri" pitchFamily="34" charset="-122"/>
                <a:cs typeface="Calibri" pitchFamily="34" charset="-120"/>
              </a:rPr>
              <a:t>Q1  </a:t>
            </a:r>
            <a:r>
              <a:rPr lang="en-US" sz="1650" dirty="0">
                <a:solidFill>
                  <a:srgbClr val="FFFFFF"/>
                </a:solidFill>
                <a:latin typeface="Calibri" pitchFamily="34" charset="0"/>
                <a:ea typeface="Calibri" pitchFamily="34" charset="-122"/>
                <a:cs typeface="Calibri" pitchFamily="34" charset="-120"/>
              </a:rPr>
              <a:t>What exactly do you want to research?</a:t>
            </a:r>
            <a:endParaRPr lang="en-US" sz="1400" dirty="0"/>
          </a:p>
          <a:p>
            <a:pPr marL="0" indent="0">
              <a:buNone/>
            </a:pPr>
            <a:r>
              <a:rPr lang="en-US" sz="1400" b="1" dirty="0">
                <a:solidFill>
                  <a:srgbClr val="E4C05C"/>
                </a:solidFill>
                <a:latin typeface="Calibri" pitchFamily="34" charset="0"/>
                <a:ea typeface="Calibri" pitchFamily="34" charset="-122"/>
                <a:cs typeface="Calibri" pitchFamily="34" charset="-120"/>
              </a:rPr>
              <a:t>Q2  </a:t>
            </a:r>
            <a:r>
              <a:rPr lang="en-US" sz="1650" dirty="0">
                <a:solidFill>
                  <a:srgbClr val="FFFFFF"/>
                </a:solidFill>
                <a:latin typeface="Calibri" pitchFamily="34" charset="0"/>
                <a:ea typeface="Calibri" pitchFamily="34" charset="-122"/>
                <a:cs typeface="Calibri" pitchFamily="34" charset="-120"/>
              </a:rPr>
              <a:t>Why hasn't someone already done it?</a:t>
            </a:r>
            <a:endParaRPr lang="en-US" sz="1400" dirty="0"/>
          </a:p>
          <a:p>
            <a:pPr marL="0" indent="0">
              <a:buNone/>
            </a:pPr>
            <a:r>
              <a:rPr lang="en-US" sz="1400" b="1" dirty="0">
                <a:solidFill>
                  <a:srgbClr val="E4C05C"/>
                </a:solidFill>
                <a:latin typeface="Calibri" pitchFamily="34" charset="0"/>
                <a:ea typeface="Calibri" pitchFamily="34" charset="-122"/>
                <a:cs typeface="Calibri" pitchFamily="34" charset="-120"/>
              </a:rPr>
              <a:t>Q3  </a:t>
            </a:r>
            <a:r>
              <a:rPr lang="en-US" sz="1650" dirty="0">
                <a:solidFill>
                  <a:srgbClr val="FFFFFF"/>
                </a:solidFill>
                <a:latin typeface="Calibri" pitchFamily="34" charset="0"/>
                <a:ea typeface="Calibri" pitchFamily="34" charset="-122"/>
                <a:cs typeface="Calibri" pitchFamily="34" charset="-120"/>
              </a:rPr>
              <a:t>What would you build that doesn't exist yet?</a:t>
            </a:r>
            <a:endParaRPr lang="en-US" sz="1400" dirty="0"/>
          </a:p>
        </p:txBody>
      </p:sp>
      <p:sp>
        <p:nvSpPr>
          <p:cNvPr id="6" name="Shape 4"/>
          <p:cNvSpPr/>
          <p:nvPr/>
        </p:nvSpPr>
        <p:spPr>
          <a:xfrm>
            <a:off x="6035040" y="1554480"/>
            <a:ext cx="5605272" cy="2651760"/>
          </a:xfrm>
          <a:prstGeom prst="roundRect">
            <a:avLst>
              <a:gd name="adj" fmla="val 3103"/>
            </a:avLst>
          </a:prstGeom>
          <a:solidFill>
            <a:srgbClr val="16273F"/>
          </a:solidFill>
          <a:ln w="12700">
            <a:solidFill>
              <a:srgbClr val="223756"/>
            </a:solidFill>
            <a:prstDash val="solid"/>
          </a:ln>
        </p:spPr>
      </p:sp>
      <p:sp>
        <p:nvSpPr>
          <p:cNvPr id="7" name="Text 5"/>
          <p:cNvSpPr txBox="1"/>
          <p:nvPr/>
        </p:nvSpPr>
        <p:spPr>
          <a:xfrm>
            <a:off x="6309360" y="1737360"/>
            <a:ext cx="5056632" cy="274320"/>
          </a:xfrm>
          <a:prstGeom prst="rect">
            <a:avLst/>
          </a:prstGeom>
          <a:noFill/>
          <a:ln/>
        </p:spPr>
        <p:txBody>
          <a:bodyPr wrap="square" lIns="0" tIns="0" rIns="0" bIns="0" rtlCol="0" anchor="ctr">
            <a:normAutofit/>
          </a:bodyPr>
          <a:lstStyle/>
          <a:p>
            <a:pPr marL="0" indent="0">
              <a:buNone/>
            </a:pPr>
            <a:r>
              <a:rPr lang="en-US" sz="1200" b="1" kern="0" spc="200" dirty="0">
                <a:solidFill>
                  <a:srgbClr val="C9A432"/>
                </a:solidFill>
                <a:latin typeface="Calibri" pitchFamily="34" charset="0"/>
                <a:ea typeface="Calibri" pitchFamily="34" charset="-122"/>
                <a:cs typeface="Calibri" pitchFamily="34" charset="-120"/>
              </a:rPr>
              <a:t>TOOLBOX</a:t>
            </a:r>
            <a:endParaRPr lang="en-US" sz="1200" dirty="0"/>
          </a:p>
        </p:txBody>
      </p:sp>
      <p:sp>
        <p:nvSpPr>
          <p:cNvPr id="8" name="Text 6"/>
          <p:cNvSpPr txBox="1"/>
          <p:nvPr/>
        </p:nvSpPr>
        <p:spPr>
          <a:xfrm>
            <a:off x="6309360" y="2057400"/>
            <a:ext cx="5056632" cy="1965960"/>
          </a:xfrm>
          <a:prstGeom prst="rect">
            <a:avLst/>
          </a:prstGeom>
          <a:noFill/>
          <a:ln/>
        </p:spPr>
        <p:txBody>
          <a:bodyPr wrap="square" lIns="0" tIns="0" rIns="0" bIns="0" rtlCol="0" anchor="t">
            <a:normAutofit/>
          </a:bodyPr>
          <a:lstStyle/>
          <a:p>
            <a:pPr marL="0" indent="0">
              <a:buNone/>
            </a:pPr>
            <a:r>
              <a:rPr lang="en-US" sz="1500" b="1" dirty="0">
                <a:solidFill>
                  <a:srgbClr val="FFFFFF"/>
                </a:solidFill>
                <a:latin typeface="Calibri" pitchFamily="34" charset="0"/>
                <a:ea typeface="Calibri" pitchFamily="34" charset="-122"/>
                <a:cs typeface="Calibri" pitchFamily="34" charset="-120"/>
              </a:rPr>
              <a:t>I want to build ~</a:t>
            </a:r>
            <a:endParaRPr lang="en-US" sz="1500" dirty="0"/>
          </a:p>
          <a:p>
            <a:pPr marL="0" indent="0">
              <a:spcAft>
                <a:spcPts val="900"/>
              </a:spcAft>
              <a:buNone/>
            </a:pPr>
            <a:r>
              <a:rPr lang="en-US" sz="1150" dirty="0">
                <a:solidFill>
                  <a:srgbClr val="9FB0CC"/>
                </a:solidFill>
                <a:latin typeface="Calibri" pitchFamily="34" charset="0"/>
                <a:ea typeface="Calibri" pitchFamily="34" charset="-122"/>
                <a:cs typeface="Calibri" pitchFamily="34" charset="-120"/>
              </a:rPr>
              <a:t>~를 만들고 싶어요</a:t>
            </a:r>
            <a:endParaRPr lang="en-US" sz="1500" dirty="0"/>
          </a:p>
          <a:p>
            <a:pPr marL="0" indent="0">
              <a:buNone/>
            </a:pPr>
            <a:r>
              <a:rPr lang="en-US" sz="1500" b="1" dirty="0">
                <a:solidFill>
                  <a:srgbClr val="FFFFFF"/>
                </a:solidFill>
                <a:latin typeface="Calibri" pitchFamily="34" charset="0"/>
                <a:ea typeface="Calibri" pitchFamily="34" charset="-122"/>
                <a:cs typeface="Calibri" pitchFamily="34" charset="-120"/>
              </a:rPr>
              <a:t>What's missing right now is ~</a:t>
            </a:r>
            <a:endParaRPr lang="en-US" sz="1500" dirty="0"/>
          </a:p>
          <a:p>
            <a:pPr marL="0" indent="0">
              <a:spcAft>
                <a:spcPts val="900"/>
              </a:spcAft>
              <a:buNone/>
            </a:pPr>
            <a:r>
              <a:rPr lang="en-US" sz="1150" dirty="0">
                <a:solidFill>
                  <a:srgbClr val="9FB0CC"/>
                </a:solidFill>
                <a:latin typeface="Calibri" pitchFamily="34" charset="0"/>
                <a:ea typeface="Calibri" pitchFamily="34" charset="-122"/>
                <a:cs typeface="Calibri" pitchFamily="34" charset="-120"/>
              </a:rPr>
              <a:t>지금 없는 건 ~예요</a:t>
            </a:r>
            <a:endParaRPr lang="en-US" sz="1500" dirty="0"/>
          </a:p>
          <a:p>
            <a:pPr marL="0" indent="0">
              <a:buNone/>
            </a:pPr>
            <a:r>
              <a:rPr lang="en-US" sz="1500" b="1" dirty="0">
                <a:solidFill>
                  <a:srgbClr val="FFFFFF"/>
                </a:solidFill>
                <a:latin typeface="Calibri" pitchFamily="34" charset="0"/>
                <a:ea typeface="Calibri" pitchFamily="34" charset="-122"/>
                <a:cs typeface="Calibri" pitchFamily="34" charset="-120"/>
              </a:rPr>
              <a:t>No one has looked at ~ yet</a:t>
            </a:r>
            <a:endParaRPr lang="en-US" sz="1500" dirty="0"/>
          </a:p>
          <a:p>
            <a:pPr marL="0" indent="0">
              <a:buNone/>
            </a:pPr>
            <a:r>
              <a:rPr lang="en-US" sz="1150" dirty="0">
                <a:solidFill>
                  <a:srgbClr val="9FB0CC"/>
                </a:solidFill>
                <a:latin typeface="Calibri" pitchFamily="34" charset="0"/>
                <a:ea typeface="Calibri" pitchFamily="34" charset="-122"/>
                <a:cs typeface="Calibri" pitchFamily="34" charset="-120"/>
              </a:rPr>
              <a:t>아직 아무도 ~는 안 봤어요</a:t>
            </a:r>
            <a:endParaRPr lang="en-US" sz="1500" dirty="0"/>
          </a:p>
        </p:txBody>
      </p:sp>
      <p:sp>
        <p:nvSpPr>
          <p:cNvPr id="9" name="Text 7"/>
          <p:cNvSpPr txBox="1"/>
          <p:nvPr/>
        </p:nvSpPr>
        <p:spPr>
          <a:xfrm>
            <a:off x="548640" y="4206240"/>
            <a:ext cx="5120640" cy="256032"/>
          </a:xfrm>
          <a:prstGeom prst="rect">
            <a:avLst/>
          </a:prstGeom>
          <a:noFill/>
          <a:ln/>
        </p:spPr>
        <p:txBody>
          <a:bodyPr wrap="square" lIns="0" tIns="0" rIns="0" bIns="0" rtlCol="0" anchor="ctr">
            <a:normAutofit/>
          </a:bodyPr>
          <a:lstStyle/>
          <a:p>
            <a:pPr marL="0" indent="0">
              <a:buNone/>
            </a:pPr>
            <a:r>
              <a:rPr lang="en-US" sz="1100" b="1" kern="0" spc="200" dirty="0">
                <a:solidFill>
                  <a:srgbClr val="9FB0CC"/>
                </a:solidFill>
                <a:latin typeface="Calibri" pitchFamily="34" charset="0"/>
                <a:ea typeface="Calibri" pitchFamily="34" charset="-122"/>
                <a:cs typeface="Calibri" pitchFamily="34" charset="-120"/>
              </a:rPr>
              <a:t>FROM YOUR WORDS</a:t>
            </a:r>
            <a:r>
              <a:rPr lang="en-US" sz="1100" dirty="0">
                <a:solidFill>
                  <a:srgbClr val="6E7F9C"/>
                </a:solidFill>
                <a:latin typeface="Calibri" pitchFamily="34" charset="0"/>
                <a:ea typeface="Calibri" pitchFamily="34" charset="-122"/>
                <a:cs typeface="Calibri" pitchFamily="34" charset="-120"/>
              </a:rPr>
              <a:t>  ·  </a:t>
            </a:r>
            <a:r>
              <a:rPr lang="en-US" sz="1100" dirty="0">
                <a:solidFill>
                  <a:srgbClr val="9FB0CC"/>
                </a:solidFill>
                <a:latin typeface="Calibri" pitchFamily="34" charset="0"/>
                <a:ea typeface="Calibri" pitchFamily="34" charset="-122"/>
                <a:cs typeface="Calibri" pitchFamily="34" charset="-120"/>
              </a:rPr>
              <a:t>지난주 단어</a:t>
            </a:r>
            <a:endParaRPr lang="en-US" sz="1100" dirty="0"/>
          </a:p>
        </p:txBody>
      </p:sp>
      <p:sp>
        <p:nvSpPr>
          <p:cNvPr id="10" name="Shape 8"/>
          <p:cNvSpPr/>
          <p:nvPr/>
        </p:nvSpPr>
        <p:spPr>
          <a:xfrm>
            <a:off x="548640" y="4498848"/>
            <a:ext cx="864108" cy="384048"/>
          </a:xfrm>
          <a:prstGeom prst="roundRect">
            <a:avLst>
              <a:gd name="adj" fmla="val 50000"/>
            </a:avLst>
          </a:prstGeom>
          <a:solidFill>
            <a:srgbClr val="10203A"/>
          </a:solidFill>
          <a:ln w="15875">
            <a:solidFill>
              <a:srgbClr val="C9A432"/>
            </a:solidFill>
            <a:prstDash val="solid"/>
          </a:ln>
        </p:spPr>
      </p:sp>
      <p:sp>
        <p:nvSpPr>
          <p:cNvPr id="11" name="Text 9"/>
          <p:cNvSpPr txBox="1"/>
          <p:nvPr/>
        </p:nvSpPr>
        <p:spPr>
          <a:xfrm>
            <a:off x="548640" y="4498848"/>
            <a:ext cx="864108" cy="384048"/>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elite</a:t>
            </a:r>
            <a:endParaRPr lang="en-US" sz="1300" dirty="0"/>
          </a:p>
        </p:txBody>
      </p:sp>
      <p:sp>
        <p:nvSpPr>
          <p:cNvPr id="12" name="Shape 10"/>
          <p:cNvSpPr/>
          <p:nvPr/>
        </p:nvSpPr>
        <p:spPr>
          <a:xfrm>
            <a:off x="1559052" y="4498848"/>
            <a:ext cx="960120" cy="384048"/>
          </a:xfrm>
          <a:prstGeom prst="roundRect">
            <a:avLst>
              <a:gd name="adj" fmla="val 50000"/>
            </a:avLst>
          </a:prstGeom>
          <a:solidFill>
            <a:srgbClr val="10203A"/>
          </a:solidFill>
          <a:ln w="15875">
            <a:solidFill>
              <a:srgbClr val="C9A432"/>
            </a:solidFill>
            <a:prstDash val="solid"/>
          </a:ln>
        </p:spPr>
      </p:sp>
      <p:sp>
        <p:nvSpPr>
          <p:cNvPr id="13" name="Text 11"/>
          <p:cNvSpPr txBox="1"/>
          <p:nvPr/>
        </p:nvSpPr>
        <p:spPr>
          <a:xfrm>
            <a:off x="1559052" y="4498848"/>
            <a:ext cx="960120" cy="384048"/>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wisdom</a:t>
            </a:r>
            <a:endParaRPr lang="en-US" sz="1300" dirty="0"/>
          </a:p>
        </p:txBody>
      </p:sp>
      <p:sp>
        <p:nvSpPr>
          <p:cNvPr id="14" name="Shape 12"/>
          <p:cNvSpPr/>
          <p:nvPr/>
        </p:nvSpPr>
        <p:spPr>
          <a:xfrm>
            <a:off x="548640" y="5166360"/>
            <a:ext cx="11091672" cy="1325880"/>
          </a:xfrm>
          <a:prstGeom prst="roundRect">
            <a:avLst>
              <a:gd name="adj" fmla="val 6207"/>
            </a:avLst>
          </a:prstGeom>
          <a:solidFill>
            <a:srgbClr val="1B2E4A"/>
          </a:solidFill>
          <a:ln w="12700">
            <a:solidFill>
              <a:srgbClr val="C9A432"/>
            </a:solidFill>
            <a:prstDash val="dash"/>
          </a:ln>
        </p:spPr>
      </p:sp>
      <p:sp>
        <p:nvSpPr>
          <p:cNvPr id="15" name="Text 13"/>
          <p:cNvSpPr txBox="1"/>
          <p:nvPr/>
        </p:nvSpPr>
        <p:spPr>
          <a:xfrm>
            <a:off x="822960" y="5285232"/>
            <a:ext cx="10515600" cy="256032"/>
          </a:xfrm>
          <a:prstGeom prst="rect">
            <a:avLst/>
          </a:prstGeom>
          <a:noFill/>
          <a:ln/>
        </p:spPr>
        <p:txBody>
          <a:bodyPr wrap="square" lIns="0" tIns="0" rIns="0" bIns="0" rtlCol="0" anchor="ctr">
            <a:normAutofit/>
          </a:bodyPr>
          <a:lstStyle/>
          <a:p>
            <a:pPr marL="0" indent="0">
              <a:buNone/>
            </a:pPr>
            <a:r>
              <a:rPr lang="en-US" sz="1150" b="1" kern="0" spc="200" dirty="0">
                <a:solidFill>
                  <a:srgbClr val="C9A432"/>
                </a:solidFill>
                <a:latin typeface="Calibri" pitchFamily="34" charset="0"/>
                <a:ea typeface="Calibri" pitchFamily="34" charset="-122"/>
                <a:cs typeface="Calibri" pitchFamily="34" charset="-120"/>
              </a:rPr>
              <a:t>CAUGHT TODAY</a:t>
            </a:r>
            <a:r>
              <a:rPr lang="en-US" sz="1150" dirty="0">
                <a:solidFill>
                  <a:srgbClr val="6E7F9C"/>
                </a:solidFill>
                <a:latin typeface="Calibri" pitchFamily="34" charset="0"/>
                <a:ea typeface="Calibri" pitchFamily="34" charset="-122"/>
                <a:cs typeface="Calibri" pitchFamily="34" charset="-120"/>
              </a:rPr>
              <a:t>  ·  </a:t>
            </a:r>
            <a:r>
              <a:rPr lang="en-US" sz="1150" dirty="0">
                <a:solidFill>
                  <a:srgbClr val="9FB0CC"/>
                </a:solidFill>
                <a:latin typeface="Calibri" pitchFamily="34" charset="0"/>
                <a:ea typeface="Calibri" pitchFamily="34" charset="-122"/>
                <a:cs typeface="Calibri" pitchFamily="34" charset="-120"/>
              </a:rPr>
              <a:t>수업 중 나온 문장을 여기에</a:t>
            </a:r>
            <a:endParaRPr lang="en-US" sz="1150" dirty="0"/>
          </a:p>
        </p:txBody>
      </p:sp>
      <p:sp>
        <p:nvSpPr>
          <p:cNvPr id="16" name="Text 14"/>
          <p:cNvSpPr txBox="1"/>
          <p:nvPr/>
        </p:nvSpPr>
        <p:spPr>
          <a:xfrm>
            <a:off x="822960" y="5577840"/>
            <a:ext cx="1051560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 I want to build about supporting the transition manual for special education kids / What’s missing right now is the simple manual. / </a:t>
            </a:r>
          </a:p>
          <a:p>
            <a:pPr marL="0" indent="0">
              <a:buNone/>
            </a:pPr>
            <a:r>
              <a:rPr lang="en-US" sz="1500" dirty="0">
                <a:solidFill>
                  <a:srgbClr val="FFFFFF"/>
                </a:solidFill>
                <a:latin typeface="Calibri" pitchFamily="34" charset="0"/>
                <a:ea typeface="Calibri" pitchFamily="34" charset="-122"/>
                <a:cs typeface="Calibri" pitchFamily="34" charset="-120"/>
              </a:rPr>
              <a:t>Theory driven &amp; field driven / I haven’t seen that no one has looked at the transition manual for special education kids yet. Especially to assist their parents and teachers to talk about required lifetime skills for those kids. /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ctr">
            <a:normAutofit/>
          </a:bodyPr>
          <a:lstStyle/>
          <a:p>
            <a:pPr marL="0" indent="0">
              <a:buNone/>
            </a:pPr>
            <a:r>
              <a:rPr lang="en-US" sz="1300" b="1" kern="0" spc="300" dirty="0">
                <a:solidFill>
                  <a:srgbClr val="C9A432"/>
                </a:solidFill>
                <a:latin typeface="Calibri" pitchFamily="34" charset="0"/>
                <a:ea typeface="Calibri" pitchFamily="34" charset="-122"/>
                <a:cs typeface="Calibri" pitchFamily="34" charset="-120"/>
              </a:rPr>
              <a:t>AFTER THE DEGREE</a:t>
            </a:r>
            <a:endParaRPr lang="en-US" sz="1300" dirty="0"/>
          </a:p>
        </p:txBody>
      </p:sp>
      <p:sp>
        <p:nvSpPr>
          <p:cNvPr id="3" name="Text 1"/>
          <p:cNvSpPr txBox="1"/>
          <p:nvPr/>
        </p:nvSpPr>
        <p:spPr>
          <a:xfrm>
            <a:off x="548640" y="621792"/>
            <a:ext cx="11064240" cy="658368"/>
          </a:xfrm>
          <a:prstGeom prst="rect">
            <a:avLst/>
          </a:prstGeom>
          <a:noFill/>
          <a:ln/>
        </p:spPr>
        <p:txBody>
          <a:bodyPr wrap="square" lIns="0" tIns="0" rIns="0" bIns="0" rtlCol="0" anchor="ctr">
            <a:normAutofit/>
          </a:bodyPr>
          <a:lstStyle/>
          <a:p>
            <a:pPr marL="0" indent="0">
              <a:buNone/>
            </a:pPr>
            <a:r>
              <a:rPr lang="en-US" sz="3000" b="1" dirty="0">
                <a:solidFill>
                  <a:srgbClr val="FFFFFF"/>
                </a:solidFill>
                <a:latin typeface="Georgia" pitchFamily="34" charset="0"/>
                <a:ea typeface="Georgia" pitchFamily="34" charset="-122"/>
                <a:cs typeface="Georgia" pitchFamily="34" charset="-120"/>
              </a:rPr>
              <a:t>Then What?</a:t>
            </a:r>
            <a:endParaRPr lang="en-US" sz="3000" dirty="0"/>
          </a:p>
        </p:txBody>
      </p:sp>
      <p:sp>
        <p:nvSpPr>
          <p:cNvPr id="4" name="Text 2"/>
          <p:cNvSpPr txBox="1"/>
          <p:nvPr/>
        </p:nvSpPr>
        <p:spPr>
          <a:xfrm>
            <a:off x="548640" y="1554480"/>
            <a:ext cx="5257800" cy="274320"/>
          </a:xfrm>
          <a:prstGeom prst="rect">
            <a:avLst/>
          </a:prstGeom>
          <a:noFill/>
          <a:ln/>
        </p:spPr>
        <p:txBody>
          <a:bodyPr wrap="square" lIns="0" tIns="0" rIns="0" bIns="0" rtlCol="0" anchor="ctr">
            <a:normAutofit/>
          </a:bodyPr>
          <a:lstStyle/>
          <a:p>
            <a:pPr marL="0" indent="0">
              <a:buNone/>
            </a:pPr>
            <a:r>
              <a:rPr lang="en-US" sz="1200" b="1" kern="0" spc="200" dirty="0">
                <a:solidFill>
                  <a:srgbClr val="9FB0CC"/>
                </a:solidFill>
                <a:latin typeface="Calibri" pitchFamily="34" charset="0"/>
                <a:ea typeface="Calibri" pitchFamily="34" charset="-122"/>
                <a:cs typeface="Calibri" pitchFamily="34" charset="-120"/>
              </a:rPr>
              <a:t>QUESTIONS</a:t>
            </a:r>
            <a:endParaRPr lang="en-US" sz="1200" dirty="0"/>
          </a:p>
        </p:txBody>
      </p:sp>
      <p:sp>
        <p:nvSpPr>
          <p:cNvPr id="5" name="Text 3"/>
          <p:cNvSpPr txBox="1"/>
          <p:nvPr/>
        </p:nvSpPr>
        <p:spPr>
          <a:xfrm>
            <a:off x="548640" y="1865376"/>
            <a:ext cx="5257800" cy="2286000"/>
          </a:xfrm>
          <a:prstGeom prst="rect">
            <a:avLst/>
          </a:prstGeom>
          <a:noFill/>
          <a:ln/>
        </p:spPr>
        <p:txBody>
          <a:bodyPr wrap="square" lIns="0" tIns="0" rIns="0" bIns="0" rtlCol="0" anchor="t">
            <a:normAutofit/>
          </a:bodyPr>
          <a:lstStyle/>
          <a:p>
            <a:pPr marL="0" indent="0">
              <a:buNone/>
            </a:pPr>
            <a:r>
              <a:rPr lang="en-US" sz="1400" b="1" dirty="0">
                <a:solidFill>
                  <a:srgbClr val="E4C05C"/>
                </a:solidFill>
                <a:latin typeface="Calibri" pitchFamily="34" charset="0"/>
                <a:ea typeface="Calibri" pitchFamily="34" charset="-122"/>
                <a:cs typeface="Calibri" pitchFamily="34" charset="-120"/>
              </a:rPr>
              <a:t>Q1  </a:t>
            </a:r>
            <a:r>
              <a:rPr lang="en-US" sz="1650" dirty="0">
                <a:solidFill>
                  <a:srgbClr val="FFFFFF"/>
                </a:solidFill>
                <a:latin typeface="Calibri" pitchFamily="34" charset="0"/>
                <a:ea typeface="Calibri" pitchFamily="34" charset="-122"/>
                <a:cs typeface="Calibri" pitchFamily="34" charset="-120"/>
              </a:rPr>
              <a:t>What happens after you finish?</a:t>
            </a:r>
            <a:endParaRPr lang="en-US" sz="1400" dirty="0"/>
          </a:p>
          <a:p>
            <a:pPr marL="0" indent="0">
              <a:buNone/>
            </a:pPr>
            <a:r>
              <a:rPr lang="en-US" sz="1400" b="1" dirty="0">
                <a:solidFill>
                  <a:srgbClr val="E4C05C"/>
                </a:solidFill>
                <a:latin typeface="Calibri" pitchFamily="34" charset="0"/>
                <a:ea typeface="Calibri" pitchFamily="34" charset="-122"/>
                <a:cs typeface="Calibri" pitchFamily="34" charset="-120"/>
              </a:rPr>
              <a:t>Q2  </a:t>
            </a:r>
            <a:r>
              <a:rPr lang="en-US" sz="1650" dirty="0">
                <a:solidFill>
                  <a:srgbClr val="FFFFFF"/>
                </a:solidFill>
                <a:latin typeface="Calibri" pitchFamily="34" charset="0"/>
                <a:ea typeface="Calibri" pitchFamily="34" charset="-122"/>
                <a:cs typeface="Calibri" pitchFamily="34" charset="-120"/>
              </a:rPr>
              <a:t>Back to the classroom, or somewhere else?</a:t>
            </a:r>
            <a:endParaRPr lang="en-US" sz="1400" dirty="0"/>
          </a:p>
          <a:p>
            <a:pPr marL="0" indent="0">
              <a:buNone/>
            </a:pPr>
            <a:r>
              <a:rPr lang="en-US" sz="1400" b="1" dirty="0">
                <a:solidFill>
                  <a:srgbClr val="E4C05C"/>
                </a:solidFill>
                <a:latin typeface="Calibri" pitchFamily="34" charset="0"/>
                <a:ea typeface="Calibri" pitchFamily="34" charset="-122"/>
                <a:cs typeface="Calibri" pitchFamily="34" charset="-120"/>
              </a:rPr>
              <a:t>Q3  </a:t>
            </a:r>
            <a:r>
              <a:rPr lang="en-US" sz="1650" dirty="0">
                <a:solidFill>
                  <a:srgbClr val="FFFFFF"/>
                </a:solidFill>
                <a:latin typeface="Calibri" pitchFamily="34" charset="0"/>
                <a:ea typeface="Calibri" pitchFamily="34" charset="-122"/>
                <a:cs typeface="Calibri" pitchFamily="34" charset="-120"/>
              </a:rPr>
              <a:t>Where do you want to be in ten years?</a:t>
            </a:r>
            <a:endParaRPr lang="en-US" sz="1400" dirty="0"/>
          </a:p>
        </p:txBody>
      </p:sp>
      <p:sp>
        <p:nvSpPr>
          <p:cNvPr id="6" name="Shape 4"/>
          <p:cNvSpPr/>
          <p:nvPr/>
        </p:nvSpPr>
        <p:spPr>
          <a:xfrm>
            <a:off x="6035040" y="1554480"/>
            <a:ext cx="5605272" cy="2651760"/>
          </a:xfrm>
          <a:prstGeom prst="roundRect">
            <a:avLst>
              <a:gd name="adj" fmla="val 3103"/>
            </a:avLst>
          </a:prstGeom>
          <a:solidFill>
            <a:srgbClr val="16273F"/>
          </a:solidFill>
          <a:ln w="12700">
            <a:solidFill>
              <a:srgbClr val="223756"/>
            </a:solidFill>
            <a:prstDash val="solid"/>
          </a:ln>
        </p:spPr>
      </p:sp>
      <p:sp>
        <p:nvSpPr>
          <p:cNvPr id="7" name="Text 5"/>
          <p:cNvSpPr txBox="1"/>
          <p:nvPr/>
        </p:nvSpPr>
        <p:spPr>
          <a:xfrm>
            <a:off x="6309360" y="1737360"/>
            <a:ext cx="5056632" cy="274320"/>
          </a:xfrm>
          <a:prstGeom prst="rect">
            <a:avLst/>
          </a:prstGeom>
          <a:noFill/>
          <a:ln/>
        </p:spPr>
        <p:txBody>
          <a:bodyPr wrap="square" lIns="0" tIns="0" rIns="0" bIns="0" rtlCol="0" anchor="ctr">
            <a:normAutofit/>
          </a:bodyPr>
          <a:lstStyle/>
          <a:p>
            <a:pPr marL="0" indent="0">
              <a:buNone/>
            </a:pPr>
            <a:r>
              <a:rPr lang="en-US" sz="1200" b="1" kern="0" spc="200" dirty="0">
                <a:solidFill>
                  <a:srgbClr val="C9A432"/>
                </a:solidFill>
                <a:latin typeface="Calibri" pitchFamily="34" charset="0"/>
                <a:ea typeface="Calibri" pitchFamily="34" charset="-122"/>
                <a:cs typeface="Calibri" pitchFamily="34" charset="-120"/>
              </a:rPr>
              <a:t>TOOLBOX</a:t>
            </a:r>
            <a:endParaRPr lang="en-US" sz="1200" dirty="0"/>
          </a:p>
        </p:txBody>
      </p:sp>
      <p:sp>
        <p:nvSpPr>
          <p:cNvPr id="8" name="Text 6"/>
          <p:cNvSpPr txBox="1"/>
          <p:nvPr/>
        </p:nvSpPr>
        <p:spPr>
          <a:xfrm>
            <a:off x="6309360" y="2057400"/>
            <a:ext cx="5056632" cy="1965960"/>
          </a:xfrm>
          <a:prstGeom prst="rect">
            <a:avLst/>
          </a:prstGeom>
          <a:noFill/>
          <a:ln/>
        </p:spPr>
        <p:txBody>
          <a:bodyPr wrap="square" lIns="0" tIns="0" rIns="0" bIns="0" rtlCol="0" anchor="t">
            <a:normAutofit/>
          </a:bodyPr>
          <a:lstStyle/>
          <a:p>
            <a:pPr marL="0" indent="0">
              <a:buNone/>
            </a:pPr>
            <a:r>
              <a:rPr lang="en-US" sz="1500" b="1" dirty="0">
                <a:solidFill>
                  <a:srgbClr val="FFFFFF"/>
                </a:solidFill>
                <a:latin typeface="Calibri" pitchFamily="34" charset="0"/>
                <a:ea typeface="Calibri" pitchFamily="34" charset="-122"/>
                <a:cs typeface="Calibri" pitchFamily="34" charset="-120"/>
              </a:rPr>
              <a:t>Once I finish, I'd ~</a:t>
            </a:r>
            <a:endParaRPr lang="en-US" sz="1500" dirty="0"/>
          </a:p>
          <a:p>
            <a:pPr marL="0" indent="0">
              <a:spcAft>
                <a:spcPts val="900"/>
              </a:spcAft>
              <a:buNone/>
            </a:pPr>
            <a:r>
              <a:rPr lang="en-US" sz="1150" dirty="0">
                <a:solidFill>
                  <a:srgbClr val="9FB0CC"/>
                </a:solidFill>
                <a:latin typeface="Calibri" pitchFamily="34" charset="0"/>
                <a:ea typeface="Calibri" pitchFamily="34" charset="-122"/>
                <a:cs typeface="Calibri" pitchFamily="34" charset="-120"/>
              </a:rPr>
              <a:t>마치고 나면 ~할 거예요</a:t>
            </a:r>
            <a:endParaRPr lang="en-US" sz="1500" dirty="0"/>
          </a:p>
          <a:p>
            <a:pPr marL="0" indent="0">
              <a:buNone/>
            </a:pPr>
            <a:r>
              <a:rPr lang="en-US" sz="1500" b="1" dirty="0">
                <a:solidFill>
                  <a:srgbClr val="FFFFFF"/>
                </a:solidFill>
                <a:latin typeface="Calibri" pitchFamily="34" charset="0"/>
                <a:ea typeface="Calibri" pitchFamily="34" charset="-122"/>
                <a:cs typeface="Calibri" pitchFamily="34" charset="-120"/>
              </a:rPr>
              <a:t>Either way, I'd ~</a:t>
            </a:r>
            <a:endParaRPr lang="en-US" sz="1500" dirty="0"/>
          </a:p>
          <a:p>
            <a:pPr marL="0" indent="0">
              <a:spcAft>
                <a:spcPts val="900"/>
              </a:spcAft>
              <a:buNone/>
            </a:pPr>
            <a:r>
              <a:rPr lang="en-US" sz="1150" dirty="0">
                <a:solidFill>
                  <a:srgbClr val="9FB0CC"/>
                </a:solidFill>
                <a:latin typeface="Calibri" pitchFamily="34" charset="0"/>
                <a:ea typeface="Calibri" pitchFamily="34" charset="-122"/>
                <a:cs typeface="Calibri" pitchFamily="34" charset="-120"/>
              </a:rPr>
              <a:t>어느 쪽이든 ~할 거예요</a:t>
            </a:r>
            <a:endParaRPr lang="en-US" sz="1500" dirty="0"/>
          </a:p>
          <a:p>
            <a:pPr marL="0" indent="0">
              <a:buNone/>
            </a:pPr>
            <a:r>
              <a:rPr lang="en-US" sz="1500" b="1" dirty="0">
                <a:solidFill>
                  <a:srgbClr val="FFFFFF"/>
                </a:solidFill>
                <a:latin typeface="Calibri" pitchFamily="34" charset="0"/>
                <a:ea typeface="Calibri" pitchFamily="34" charset="-122"/>
                <a:cs typeface="Calibri" pitchFamily="34" charset="-120"/>
              </a:rPr>
              <a:t>In ten years, I'd like to ~</a:t>
            </a:r>
            <a:endParaRPr lang="en-US" sz="1500" dirty="0"/>
          </a:p>
          <a:p>
            <a:pPr marL="0" indent="0">
              <a:buNone/>
            </a:pPr>
            <a:r>
              <a:rPr lang="en-US" sz="1150" dirty="0">
                <a:solidFill>
                  <a:srgbClr val="9FB0CC"/>
                </a:solidFill>
                <a:latin typeface="Calibri" pitchFamily="34" charset="0"/>
                <a:ea typeface="Calibri" pitchFamily="34" charset="-122"/>
                <a:cs typeface="Calibri" pitchFamily="34" charset="-120"/>
              </a:rPr>
              <a:t>10년 뒤엔 ~하고 싶어요</a:t>
            </a:r>
            <a:endParaRPr lang="en-US" sz="1500" dirty="0"/>
          </a:p>
        </p:txBody>
      </p:sp>
      <p:sp>
        <p:nvSpPr>
          <p:cNvPr id="9" name="Text 7"/>
          <p:cNvSpPr txBox="1"/>
          <p:nvPr/>
        </p:nvSpPr>
        <p:spPr>
          <a:xfrm>
            <a:off x="548640" y="4206240"/>
            <a:ext cx="5120640" cy="256032"/>
          </a:xfrm>
          <a:prstGeom prst="rect">
            <a:avLst/>
          </a:prstGeom>
          <a:noFill/>
          <a:ln/>
        </p:spPr>
        <p:txBody>
          <a:bodyPr wrap="square" lIns="0" tIns="0" rIns="0" bIns="0" rtlCol="0" anchor="ctr">
            <a:normAutofit/>
          </a:bodyPr>
          <a:lstStyle/>
          <a:p>
            <a:pPr marL="0" indent="0">
              <a:buNone/>
            </a:pPr>
            <a:r>
              <a:rPr lang="en-US" sz="1100" b="1" kern="0" spc="200" dirty="0">
                <a:solidFill>
                  <a:srgbClr val="9FB0CC"/>
                </a:solidFill>
                <a:latin typeface="Calibri" pitchFamily="34" charset="0"/>
                <a:ea typeface="Calibri" pitchFamily="34" charset="-122"/>
                <a:cs typeface="Calibri" pitchFamily="34" charset="-120"/>
              </a:rPr>
              <a:t>FROM YOUR WORDS</a:t>
            </a:r>
            <a:r>
              <a:rPr lang="en-US" sz="1100" dirty="0">
                <a:solidFill>
                  <a:srgbClr val="6E7F9C"/>
                </a:solidFill>
                <a:latin typeface="Calibri" pitchFamily="34" charset="0"/>
                <a:ea typeface="Calibri" pitchFamily="34" charset="-122"/>
                <a:cs typeface="Calibri" pitchFamily="34" charset="-120"/>
              </a:rPr>
              <a:t>  ·  </a:t>
            </a:r>
            <a:r>
              <a:rPr lang="en-US" sz="1100" dirty="0">
                <a:solidFill>
                  <a:srgbClr val="9FB0CC"/>
                </a:solidFill>
                <a:latin typeface="Calibri" pitchFamily="34" charset="0"/>
                <a:ea typeface="Calibri" pitchFamily="34" charset="-122"/>
                <a:cs typeface="Calibri" pitchFamily="34" charset="-120"/>
              </a:rPr>
              <a:t>지난주 단어</a:t>
            </a:r>
            <a:endParaRPr lang="en-US" sz="1100" dirty="0"/>
          </a:p>
        </p:txBody>
      </p:sp>
      <p:sp>
        <p:nvSpPr>
          <p:cNvPr id="10" name="Shape 8"/>
          <p:cNvSpPr/>
          <p:nvPr/>
        </p:nvSpPr>
        <p:spPr>
          <a:xfrm>
            <a:off x="548640" y="4498848"/>
            <a:ext cx="1152144" cy="384048"/>
          </a:xfrm>
          <a:prstGeom prst="roundRect">
            <a:avLst>
              <a:gd name="adj" fmla="val 50000"/>
            </a:avLst>
          </a:prstGeom>
          <a:solidFill>
            <a:srgbClr val="10203A"/>
          </a:solidFill>
          <a:ln w="15875">
            <a:solidFill>
              <a:srgbClr val="C9A432"/>
            </a:solidFill>
            <a:prstDash val="solid"/>
          </a:ln>
        </p:spPr>
      </p:sp>
      <p:sp>
        <p:nvSpPr>
          <p:cNvPr id="11" name="Text 9"/>
          <p:cNvSpPr txBox="1"/>
          <p:nvPr/>
        </p:nvSpPr>
        <p:spPr>
          <a:xfrm>
            <a:off x="548640" y="4498848"/>
            <a:ext cx="1152144" cy="384048"/>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lifetime</a:t>
            </a:r>
            <a:endParaRPr lang="en-US" sz="1300" dirty="0"/>
          </a:p>
        </p:txBody>
      </p:sp>
      <p:sp>
        <p:nvSpPr>
          <p:cNvPr id="12" name="Shape 10"/>
          <p:cNvSpPr/>
          <p:nvPr/>
        </p:nvSpPr>
        <p:spPr>
          <a:xfrm>
            <a:off x="1847088" y="4498848"/>
            <a:ext cx="768096" cy="384048"/>
          </a:xfrm>
          <a:prstGeom prst="roundRect">
            <a:avLst>
              <a:gd name="adj" fmla="val 50000"/>
            </a:avLst>
          </a:prstGeom>
          <a:solidFill>
            <a:srgbClr val="10203A"/>
          </a:solidFill>
          <a:ln w="15875">
            <a:solidFill>
              <a:srgbClr val="C9A432"/>
            </a:solidFill>
            <a:prstDash val="solid"/>
          </a:ln>
        </p:spPr>
      </p:sp>
      <p:sp>
        <p:nvSpPr>
          <p:cNvPr id="13" name="Text 11"/>
          <p:cNvSpPr txBox="1"/>
          <p:nvPr/>
        </p:nvSpPr>
        <p:spPr>
          <a:xfrm>
            <a:off x="1847088" y="4498848"/>
            <a:ext cx="768096" cy="384048"/>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fate</a:t>
            </a:r>
            <a:endParaRPr lang="en-US" sz="1300" dirty="0"/>
          </a:p>
        </p:txBody>
      </p:sp>
      <p:sp>
        <p:nvSpPr>
          <p:cNvPr id="14" name="Shape 12"/>
          <p:cNvSpPr/>
          <p:nvPr/>
        </p:nvSpPr>
        <p:spPr>
          <a:xfrm>
            <a:off x="548640" y="5166360"/>
            <a:ext cx="11091672" cy="1325880"/>
          </a:xfrm>
          <a:prstGeom prst="roundRect">
            <a:avLst>
              <a:gd name="adj" fmla="val 6207"/>
            </a:avLst>
          </a:prstGeom>
          <a:solidFill>
            <a:srgbClr val="1B2E4A"/>
          </a:solidFill>
          <a:ln w="12700">
            <a:solidFill>
              <a:srgbClr val="C9A432"/>
            </a:solidFill>
            <a:prstDash val="dash"/>
          </a:ln>
        </p:spPr>
      </p:sp>
      <p:sp>
        <p:nvSpPr>
          <p:cNvPr id="15" name="Text 13"/>
          <p:cNvSpPr txBox="1"/>
          <p:nvPr/>
        </p:nvSpPr>
        <p:spPr>
          <a:xfrm>
            <a:off x="822960" y="5285232"/>
            <a:ext cx="10515600" cy="256032"/>
          </a:xfrm>
          <a:prstGeom prst="rect">
            <a:avLst/>
          </a:prstGeom>
          <a:noFill/>
          <a:ln/>
        </p:spPr>
        <p:txBody>
          <a:bodyPr wrap="square" lIns="0" tIns="0" rIns="0" bIns="0" rtlCol="0" anchor="ctr">
            <a:normAutofit/>
          </a:bodyPr>
          <a:lstStyle/>
          <a:p>
            <a:pPr marL="0" indent="0">
              <a:buNone/>
            </a:pPr>
            <a:r>
              <a:rPr lang="en-US" sz="1150" b="1" kern="0" spc="200" dirty="0">
                <a:solidFill>
                  <a:srgbClr val="C9A432"/>
                </a:solidFill>
                <a:latin typeface="Calibri" pitchFamily="34" charset="0"/>
                <a:ea typeface="Calibri" pitchFamily="34" charset="-122"/>
                <a:cs typeface="Calibri" pitchFamily="34" charset="-120"/>
              </a:rPr>
              <a:t>CAUGHT TODAY</a:t>
            </a:r>
            <a:r>
              <a:rPr lang="en-US" sz="1150" dirty="0">
                <a:solidFill>
                  <a:srgbClr val="6E7F9C"/>
                </a:solidFill>
                <a:latin typeface="Calibri" pitchFamily="34" charset="0"/>
                <a:ea typeface="Calibri" pitchFamily="34" charset="-122"/>
                <a:cs typeface="Calibri" pitchFamily="34" charset="-120"/>
              </a:rPr>
              <a:t>  ·  </a:t>
            </a:r>
            <a:r>
              <a:rPr lang="en-US" sz="1150" dirty="0">
                <a:solidFill>
                  <a:srgbClr val="9FB0CC"/>
                </a:solidFill>
                <a:latin typeface="Calibri" pitchFamily="34" charset="0"/>
                <a:ea typeface="Calibri" pitchFamily="34" charset="-122"/>
                <a:cs typeface="Calibri" pitchFamily="34" charset="-120"/>
              </a:rPr>
              <a:t>수업 중 나온 문장을 여기에</a:t>
            </a:r>
            <a:endParaRPr lang="en-US" sz="1150" dirty="0"/>
          </a:p>
        </p:txBody>
      </p:sp>
      <p:sp>
        <p:nvSpPr>
          <p:cNvPr id="16" name="Text 14"/>
          <p:cNvSpPr txBox="1"/>
          <p:nvPr/>
        </p:nvSpPr>
        <p:spPr>
          <a:xfrm>
            <a:off x="822960" y="5577840"/>
            <a:ext cx="1051560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 Once I finish, I’d go back to school.  / to keep the option open / In ten years, I am not sure whether I will continue to be a teacher or not. /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lIns="0" tIns="0" rIns="0" bIns="0" rtlCol="0" anchor="ctr">
            <a:normAutofit/>
          </a:bodyPr>
          <a:lstStyle/>
          <a:p>
            <a:pPr marL="0" indent="0">
              <a:buNone/>
            </a:pPr>
            <a:r>
              <a:rPr lang="en-US" sz="1300" b="1" kern="0" spc="300" dirty="0">
                <a:solidFill>
                  <a:srgbClr val="C9A432"/>
                </a:solidFill>
                <a:latin typeface="Calibri" pitchFamily="34" charset="0"/>
                <a:ea typeface="Calibri" pitchFamily="34" charset="-122"/>
                <a:cs typeface="Calibri" pitchFamily="34" charset="-120"/>
              </a:rPr>
              <a:t>DON'T SAY IT TWICE · ROUND 2</a:t>
            </a:r>
            <a:endParaRPr lang="en-US" sz="1300" dirty="0"/>
          </a:p>
        </p:txBody>
      </p:sp>
      <p:sp>
        <p:nvSpPr>
          <p:cNvPr id="3" name="Text 1"/>
          <p:cNvSpPr txBox="1"/>
          <p:nvPr/>
        </p:nvSpPr>
        <p:spPr>
          <a:xfrm>
            <a:off x="548640" y="621792"/>
            <a:ext cx="11064240" cy="658368"/>
          </a:xfrm>
          <a:prstGeom prst="rect">
            <a:avLst/>
          </a:prstGeom>
          <a:noFill/>
          <a:ln/>
        </p:spPr>
        <p:txBody>
          <a:bodyPr wrap="square" lIns="0" tIns="0" rIns="0" bIns="0" rtlCol="0" anchor="ctr">
            <a:normAutofit/>
          </a:bodyPr>
          <a:lstStyle/>
          <a:p>
            <a:pPr marL="0" indent="0">
              <a:buNone/>
            </a:pPr>
            <a:r>
              <a:rPr lang="en-US" sz="3000" b="1" dirty="0">
                <a:solidFill>
                  <a:srgbClr val="FFFFFF"/>
                </a:solidFill>
                <a:latin typeface="Georgia" pitchFamily="34" charset="0"/>
                <a:ea typeface="Georgia" pitchFamily="34" charset="-122"/>
                <a:cs typeface="Georgia" pitchFamily="34" charset="-120"/>
              </a:rPr>
              <a:t>Same Idea, New Words</a:t>
            </a:r>
            <a:endParaRPr lang="en-US" sz="3000" dirty="0"/>
          </a:p>
        </p:txBody>
      </p:sp>
      <p:sp>
        <p:nvSpPr>
          <p:cNvPr id="4" name="Text 2"/>
          <p:cNvSpPr txBox="1"/>
          <p:nvPr/>
        </p:nvSpPr>
        <p:spPr>
          <a:xfrm>
            <a:off x="548640" y="1325880"/>
            <a:ext cx="11064240" cy="274320"/>
          </a:xfrm>
          <a:prstGeom prst="rect">
            <a:avLst/>
          </a:prstGeom>
          <a:noFill/>
          <a:ln/>
        </p:spPr>
        <p:txBody>
          <a:bodyPr wrap="square" lIns="0" tIns="0" rIns="0" bIns="0" rtlCol="0" anchor="ctr">
            <a:normAutofit/>
          </a:bodyPr>
          <a:lstStyle/>
          <a:p>
            <a:pPr marL="0" indent="0">
              <a:buNone/>
            </a:pPr>
            <a:r>
              <a:rPr lang="en-US" sz="1350" dirty="0">
                <a:solidFill>
                  <a:srgbClr val="9FB0CC"/>
                </a:solidFill>
                <a:latin typeface="Calibri" pitchFamily="34" charset="0"/>
                <a:ea typeface="Calibri" pitchFamily="34" charset="-122"/>
                <a:cs typeface="Calibri" pitchFamily="34" charset="-120"/>
              </a:rPr>
              <a:t>I'll flag a word you've repeated. Say it again — without it.</a:t>
            </a:r>
            <a:endParaRPr lang="en-US" sz="1350" dirty="0"/>
          </a:p>
        </p:txBody>
      </p:sp>
      <p:sp>
        <p:nvSpPr>
          <p:cNvPr id="5" name="Shape 3"/>
          <p:cNvSpPr/>
          <p:nvPr/>
        </p:nvSpPr>
        <p:spPr>
          <a:xfrm>
            <a:off x="548640" y="1783080"/>
            <a:ext cx="11091672" cy="566928"/>
          </a:xfrm>
          <a:prstGeom prst="roundRect">
            <a:avLst>
              <a:gd name="adj" fmla="val 11290"/>
            </a:avLst>
          </a:prstGeom>
          <a:solidFill>
            <a:srgbClr val="16273F"/>
          </a:solidFill>
          <a:ln w="12700">
            <a:solidFill>
              <a:srgbClr val="223756"/>
            </a:solidFill>
            <a:prstDash val="solid"/>
          </a:ln>
        </p:spPr>
      </p:sp>
      <p:sp>
        <p:nvSpPr>
          <p:cNvPr id="6" name="Text 4"/>
          <p:cNvSpPr txBox="1"/>
          <p:nvPr/>
        </p:nvSpPr>
        <p:spPr>
          <a:xfrm>
            <a:off x="868680" y="1901952"/>
            <a:ext cx="10515600" cy="365760"/>
          </a:xfrm>
          <a:prstGeom prst="rect">
            <a:avLst/>
          </a:prstGeom>
          <a:noFill/>
          <a:ln/>
        </p:spPr>
        <p:txBody>
          <a:bodyPr wrap="square" lIns="0" tIns="0" rIns="0" bIns="0" rtlCol="0" anchor="t">
            <a:normAutofit/>
          </a:bodyPr>
          <a:lstStyle/>
          <a:p>
            <a:pPr marL="0" indent="0">
              <a:buNone/>
            </a:pPr>
            <a:r>
              <a:rPr lang="en-US" sz="1400" b="1" dirty="0">
                <a:solidFill>
                  <a:srgbClr val="E4C05C"/>
                </a:solidFill>
                <a:latin typeface="Calibri" pitchFamily="34" charset="0"/>
                <a:ea typeface="Calibri" pitchFamily="34" charset="-122"/>
                <a:cs typeface="Calibri" pitchFamily="34" charset="-120"/>
              </a:rPr>
              <a:t>research   →   </a:t>
            </a:r>
            <a:r>
              <a:rPr lang="en-US" sz="1400" dirty="0">
                <a:solidFill>
                  <a:srgbClr val="FFFFFF"/>
                </a:solidFill>
                <a:latin typeface="Calibri" pitchFamily="34" charset="0"/>
                <a:ea typeface="Calibri" pitchFamily="34" charset="-122"/>
                <a:cs typeface="Calibri" pitchFamily="34" charset="-120"/>
              </a:rPr>
              <a:t>look into · dig into · find out how ~ works</a:t>
            </a:r>
            <a:endParaRPr lang="en-US" sz="1400" dirty="0"/>
          </a:p>
        </p:txBody>
      </p:sp>
      <p:sp>
        <p:nvSpPr>
          <p:cNvPr id="7" name="Shape 5"/>
          <p:cNvSpPr/>
          <p:nvPr/>
        </p:nvSpPr>
        <p:spPr>
          <a:xfrm>
            <a:off x="548640" y="2441448"/>
            <a:ext cx="11091672" cy="566928"/>
          </a:xfrm>
          <a:prstGeom prst="roundRect">
            <a:avLst>
              <a:gd name="adj" fmla="val 11290"/>
            </a:avLst>
          </a:prstGeom>
          <a:solidFill>
            <a:srgbClr val="16273F"/>
          </a:solidFill>
          <a:ln w="12700">
            <a:solidFill>
              <a:srgbClr val="223756"/>
            </a:solidFill>
            <a:prstDash val="solid"/>
          </a:ln>
        </p:spPr>
      </p:sp>
      <p:sp>
        <p:nvSpPr>
          <p:cNvPr id="8" name="Text 6"/>
          <p:cNvSpPr txBox="1"/>
          <p:nvPr/>
        </p:nvSpPr>
        <p:spPr>
          <a:xfrm>
            <a:off x="868680" y="2560320"/>
            <a:ext cx="10515600" cy="365760"/>
          </a:xfrm>
          <a:prstGeom prst="rect">
            <a:avLst/>
          </a:prstGeom>
          <a:noFill/>
          <a:ln/>
        </p:spPr>
        <p:txBody>
          <a:bodyPr wrap="square" lIns="0" tIns="0" rIns="0" bIns="0" rtlCol="0" anchor="t">
            <a:normAutofit/>
          </a:bodyPr>
          <a:lstStyle/>
          <a:p>
            <a:pPr marL="0" indent="0">
              <a:buNone/>
            </a:pPr>
            <a:r>
              <a:rPr lang="en-US" sz="1400" b="1" dirty="0">
                <a:solidFill>
                  <a:srgbClr val="E4C05C"/>
                </a:solidFill>
                <a:latin typeface="Calibri" pitchFamily="34" charset="0"/>
                <a:ea typeface="Calibri" pitchFamily="34" charset="-122"/>
                <a:cs typeface="Calibri" pitchFamily="34" charset="-120"/>
              </a:rPr>
              <a:t>study   →   </a:t>
            </a:r>
            <a:r>
              <a:rPr lang="en-US" sz="1400" dirty="0">
                <a:solidFill>
                  <a:srgbClr val="FFFFFF"/>
                </a:solidFill>
                <a:latin typeface="Calibri" pitchFamily="34" charset="0"/>
                <a:ea typeface="Calibri" pitchFamily="34" charset="-122"/>
                <a:cs typeface="Calibri" pitchFamily="34" charset="-120"/>
              </a:rPr>
              <a:t>work on · read up on · spend time with</a:t>
            </a:r>
            <a:endParaRPr lang="en-US" sz="1400" dirty="0"/>
          </a:p>
        </p:txBody>
      </p:sp>
      <p:sp>
        <p:nvSpPr>
          <p:cNvPr id="9" name="Shape 7"/>
          <p:cNvSpPr/>
          <p:nvPr/>
        </p:nvSpPr>
        <p:spPr>
          <a:xfrm>
            <a:off x="548640" y="3099816"/>
            <a:ext cx="11091672" cy="566928"/>
          </a:xfrm>
          <a:prstGeom prst="roundRect">
            <a:avLst>
              <a:gd name="adj" fmla="val 11290"/>
            </a:avLst>
          </a:prstGeom>
          <a:solidFill>
            <a:srgbClr val="16273F"/>
          </a:solidFill>
          <a:ln w="12700">
            <a:solidFill>
              <a:srgbClr val="223756"/>
            </a:solidFill>
            <a:prstDash val="solid"/>
          </a:ln>
        </p:spPr>
      </p:sp>
      <p:sp>
        <p:nvSpPr>
          <p:cNvPr id="10" name="Text 8"/>
          <p:cNvSpPr txBox="1"/>
          <p:nvPr/>
        </p:nvSpPr>
        <p:spPr>
          <a:xfrm>
            <a:off x="868680" y="3218688"/>
            <a:ext cx="10515600" cy="365760"/>
          </a:xfrm>
          <a:prstGeom prst="rect">
            <a:avLst/>
          </a:prstGeom>
          <a:noFill/>
          <a:ln/>
        </p:spPr>
        <p:txBody>
          <a:bodyPr wrap="square" lIns="0" tIns="0" rIns="0" bIns="0" rtlCol="0" anchor="t">
            <a:normAutofit/>
          </a:bodyPr>
          <a:lstStyle/>
          <a:p>
            <a:pPr marL="0" indent="0">
              <a:buNone/>
            </a:pPr>
            <a:r>
              <a:rPr lang="en-US" sz="1400" b="1" dirty="0">
                <a:solidFill>
                  <a:srgbClr val="E4C05C"/>
                </a:solidFill>
                <a:latin typeface="Calibri" pitchFamily="34" charset="0"/>
                <a:ea typeface="Calibri" pitchFamily="34" charset="-122"/>
                <a:cs typeface="Calibri" pitchFamily="34" charset="-120"/>
              </a:rPr>
              <a:t>develop   →   </a:t>
            </a:r>
            <a:r>
              <a:rPr lang="en-US" sz="1400" dirty="0">
                <a:solidFill>
                  <a:srgbClr val="FFFFFF"/>
                </a:solidFill>
                <a:latin typeface="Calibri" pitchFamily="34" charset="0"/>
                <a:ea typeface="Calibri" pitchFamily="34" charset="-122"/>
                <a:cs typeface="Calibri" pitchFamily="34" charset="-120"/>
              </a:rPr>
              <a:t>build · put together · shape</a:t>
            </a:r>
            <a:endParaRPr lang="en-US" sz="1400" dirty="0"/>
          </a:p>
        </p:txBody>
      </p:sp>
      <p:sp>
        <p:nvSpPr>
          <p:cNvPr id="11" name="Shape 9"/>
          <p:cNvSpPr/>
          <p:nvPr/>
        </p:nvSpPr>
        <p:spPr>
          <a:xfrm>
            <a:off x="548640" y="3758184"/>
            <a:ext cx="11091672" cy="566928"/>
          </a:xfrm>
          <a:prstGeom prst="roundRect">
            <a:avLst>
              <a:gd name="adj" fmla="val 11290"/>
            </a:avLst>
          </a:prstGeom>
          <a:solidFill>
            <a:srgbClr val="16273F"/>
          </a:solidFill>
          <a:ln w="12700">
            <a:solidFill>
              <a:srgbClr val="223756"/>
            </a:solidFill>
            <a:prstDash val="solid"/>
          </a:ln>
        </p:spPr>
      </p:sp>
      <p:sp>
        <p:nvSpPr>
          <p:cNvPr id="12" name="Text 10"/>
          <p:cNvSpPr txBox="1"/>
          <p:nvPr/>
        </p:nvSpPr>
        <p:spPr>
          <a:xfrm>
            <a:off x="868680" y="3877056"/>
            <a:ext cx="10515600" cy="365760"/>
          </a:xfrm>
          <a:prstGeom prst="rect">
            <a:avLst/>
          </a:prstGeom>
          <a:noFill/>
          <a:ln/>
        </p:spPr>
        <p:txBody>
          <a:bodyPr wrap="square" lIns="0" tIns="0" rIns="0" bIns="0" rtlCol="0" anchor="t">
            <a:normAutofit/>
          </a:bodyPr>
          <a:lstStyle/>
          <a:p>
            <a:pPr marL="0" indent="0">
              <a:buNone/>
            </a:pPr>
            <a:r>
              <a:rPr lang="en-US" sz="1400" b="1" dirty="0">
                <a:solidFill>
                  <a:srgbClr val="E4C05C"/>
                </a:solidFill>
                <a:latin typeface="Calibri" pitchFamily="34" charset="0"/>
                <a:ea typeface="Calibri" pitchFamily="34" charset="-122"/>
                <a:cs typeface="Calibri" pitchFamily="34" charset="-120"/>
              </a:rPr>
              <a:t>problem   →   </a:t>
            </a:r>
            <a:r>
              <a:rPr lang="en-US" sz="1400" dirty="0">
                <a:solidFill>
                  <a:srgbClr val="FFFFFF"/>
                </a:solidFill>
                <a:latin typeface="Calibri" pitchFamily="34" charset="0"/>
                <a:ea typeface="Calibri" pitchFamily="34" charset="-122"/>
                <a:cs typeface="Calibri" pitchFamily="34" charset="-120"/>
              </a:rPr>
              <a:t>what's not working · the gap · where it breaks down</a:t>
            </a:r>
            <a:endParaRPr lang="en-US" sz="1400" dirty="0"/>
          </a:p>
        </p:txBody>
      </p:sp>
      <p:sp>
        <p:nvSpPr>
          <p:cNvPr id="13" name="Shape 11"/>
          <p:cNvSpPr/>
          <p:nvPr/>
        </p:nvSpPr>
        <p:spPr>
          <a:xfrm>
            <a:off x="548640" y="4416552"/>
            <a:ext cx="11091672" cy="566928"/>
          </a:xfrm>
          <a:prstGeom prst="roundRect">
            <a:avLst>
              <a:gd name="adj" fmla="val 11290"/>
            </a:avLst>
          </a:prstGeom>
          <a:solidFill>
            <a:srgbClr val="16273F"/>
          </a:solidFill>
          <a:ln w="12700">
            <a:solidFill>
              <a:srgbClr val="223756"/>
            </a:solidFill>
            <a:prstDash val="solid"/>
          </a:ln>
        </p:spPr>
      </p:sp>
      <p:sp>
        <p:nvSpPr>
          <p:cNvPr id="14" name="Text 12"/>
          <p:cNvSpPr txBox="1"/>
          <p:nvPr/>
        </p:nvSpPr>
        <p:spPr>
          <a:xfrm>
            <a:off x="868680" y="4535424"/>
            <a:ext cx="10515600" cy="365760"/>
          </a:xfrm>
          <a:prstGeom prst="rect">
            <a:avLst/>
          </a:prstGeom>
          <a:noFill/>
          <a:ln/>
        </p:spPr>
        <p:txBody>
          <a:bodyPr wrap="square" lIns="0" tIns="0" rIns="0" bIns="0" rtlCol="0" anchor="t">
            <a:normAutofit/>
          </a:bodyPr>
          <a:lstStyle/>
          <a:p>
            <a:pPr marL="0" indent="0">
              <a:buNone/>
            </a:pPr>
            <a:r>
              <a:rPr lang="en-US" sz="1400" b="1" dirty="0">
                <a:solidFill>
                  <a:srgbClr val="E4C05C"/>
                </a:solidFill>
                <a:latin typeface="Calibri" pitchFamily="34" charset="0"/>
                <a:ea typeface="Calibri" pitchFamily="34" charset="-122"/>
                <a:cs typeface="Calibri" pitchFamily="34" charset="-120"/>
              </a:rPr>
              <a:t>result   →   </a:t>
            </a:r>
            <a:r>
              <a:rPr lang="en-US" sz="1400" dirty="0">
                <a:solidFill>
                  <a:srgbClr val="FFFFFF"/>
                </a:solidFill>
                <a:latin typeface="Calibri" pitchFamily="34" charset="0"/>
                <a:ea typeface="Calibri" pitchFamily="34" charset="-122"/>
                <a:cs typeface="Calibri" pitchFamily="34" charset="-120"/>
              </a:rPr>
              <a:t>what came out of it · what we saw · the outcome</a:t>
            </a:r>
            <a:endParaRPr lang="en-US" sz="1400" dirty="0"/>
          </a:p>
        </p:txBody>
      </p:sp>
      <p:sp>
        <p:nvSpPr>
          <p:cNvPr id="15" name="Shape 13"/>
          <p:cNvSpPr/>
          <p:nvPr/>
        </p:nvSpPr>
        <p:spPr>
          <a:xfrm>
            <a:off x="548640" y="5074920"/>
            <a:ext cx="11091672" cy="566928"/>
          </a:xfrm>
          <a:prstGeom prst="roundRect">
            <a:avLst>
              <a:gd name="adj" fmla="val 11290"/>
            </a:avLst>
          </a:prstGeom>
          <a:solidFill>
            <a:srgbClr val="1B2E4A"/>
          </a:solidFill>
          <a:ln w="12700">
            <a:solidFill>
              <a:srgbClr val="C9A432"/>
            </a:solidFill>
            <a:prstDash val="solid"/>
          </a:ln>
        </p:spPr>
      </p:sp>
      <p:sp>
        <p:nvSpPr>
          <p:cNvPr id="16" name="Text 14"/>
          <p:cNvSpPr txBox="1"/>
          <p:nvPr/>
        </p:nvSpPr>
        <p:spPr>
          <a:xfrm>
            <a:off x="868680" y="5193792"/>
            <a:ext cx="10515600" cy="365760"/>
          </a:xfrm>
          <a:prstGeom prst="rect">
            <a:avLst/>
          </a:prstGeom>
          <a:noFill/>
          <a:ln/>
        </p:spPr>
        <p:txBody>
          <a:bodyPr wrap="square" lIns="0" tIns="0" rIns="0" bIns="0" rtlCol="0" anchor="t">
            <a:normAutofit/>
          </a:bodyPr>
          <a:lstStyle/>
          <a:p>
            <a:pPr marL="0" indent="0">
              <a:buNone/>
            </a:pPr>
            <a:r>
              <a:rPr lang="en-US" sz="1400" b="1" dirty="0">
                <a:solidFill>
                  <a:srgbClr val="E4C05C"/>
                </a:solidFill>
                <a:latin typeface="Calibri" pitchFamily="34" charset="0"/>
                <a:ea typeface="Calibri" pitchFamily="34" charset="-122"/>
                <a:cs typeface="Calibri" pitchFamily="34" charset="-120"/>
              </a:rPr>
              <a:t>and last week —   →   </a:t>
            </a:r>
            <a:r>
              <a:rPr lang="en-US" sz="1400" dirty="0">
                <a:solidFill>
                  <a:srgbClr val="FFFFFF"/>
                </a:solidFill>
                <a:latin typeface="Calibri" pitchFamily="34" charset="0"/>
                <a:ea typeface="Calibri" pitchFamily="34" charset="-122"/>
                <a:cs typeface="Calibri" pitchFamily="34" charset="-120"/>
              </a:rPr>
              <a:t>students · transition · support · teach · important · difficult</a:t>
            </a:r>
            <a:endParaRPr lang="en-US" sz="1400" dirty="0"/>
          </a:p>
        </p:txBody>
      </p:sp>
      <p:sp>
        <p:nvSpPr>
          <p:cNvPr id="17" name="Text 15"/>
          <p:cNvSpPr txBox="1"/>
          <p:nvPr/>
        </p:nvSpPr>
        <p:spPr>
          <a:xfrm>
            <a:off x="548640" y="5760720"/>
            <a:ext cx="5120640" cy="256032"/>
          </a:xfrm>
          <a:prstGeom prst="rect">
            <a:avLst/>
          </a:prstGeom>
          <a:noFill/>
          <a:ln/>
        </p:spPr>
        <p:txBody>
          <a:bodyPr wrap="square" lIns="0" tIns="0" rIns="0" bIns="0" rtlCol="0" anchor="ctr">
            <a:normAutofit/>
          </a:bodyPr>
          <a:lstStyle/>
          <a:p>
            <a:pPr marL="0" indent="0">
              <a:buNone/>
            </a:pPr>
            <a:r>
              <a:rPr lang="en-US" sz="1100" b="1" kern="0" spc="200" dirty="0">
                <a:solidFill>
                  <a:srgbClr val="9FB0CC"/>
                </a:solidFill>
                <a:latin typeface="Calibri" pitchFamily="34" charset="0"/>
                <a:ea typeface="Calibri" pitchFamily="34" charset="-122"/>
                <a:cs typeface="Calibri" pitchFamily="34" charset="-120"/>
              </a:rPr>
              <a:t>FROM YOUR WORDS</a:t>
            </a:r>
            <a:r>
              <a:rPr lang="en-US" sz="1100" dirty="0">
                <a:solidFill>
                  <a:srgbClr val="6E7F9C"/>
                </a:solidFill>
                <a:latin typeface="Calibri" pitchFamily="34" charset="0"/>
                <a:ea typeface="Calibri" pitchFamily="34" charset="-122"/>
                <a:cs typeface="Calibri" pitchFamily="34" charset="-120"/>
              </a:rPr>
              <a:t>  ·  </a:t>
            </a:r>
            <a:r>
              <a:rPr lang="en-US" sz="1100" dirty="0">
                <a:solidFill>
                  <a:srgbClr val="9FB0CC"/>
                </a:solidFill>
                <a:latin typeface="Calibri" pitchFamily="34" charset="0"/>
                <a:ea typeface="Calibri" pitchFamily="34" charset="-122"/>
                <a:cs typeface="Calibri" pitchFamily="34" charset="-120"/>
              </a:rPr>
              <a:t>지난주 단어</a:t>
            </a:r>
            <a:endParaRPr lang="en-US" sz="1100" dirty="0"/>
          </a:p>
        </p:txBody>
      </p:sp>
      <p:sp>
        <p:nvSpPr>
          <p:cNvPr id="18" name="Shape 16"/>
          <p:cNvSpPr/>
          <p:nvPr/>
        </p:nvSpPr>
        <p:spPr>
          <a:xfrm>
            <a:off x="548640" y="6053328"/>
            <a:ext cx="960120" cy="384048"/>
          </a:xfrm>
          <a:prstGeom prst="roundRect">
            <a:avLst>
              <a:gd name="adj" fmla="val 50000"/>
            </a:avLst>
          </a:prstGeom>
          <a:solidFill>
            <a:srgbClr val="10203A"/>
          </a:solidFill>
          <a:ln w="15875">
            <a:solidFill>
              <a:srgbClr val="C9A432"/>
            </a:solidFill>
            <a:prstDash val="solid"/>
          </a:ln>
        </p:spPr>
      </p:sp>
      <p:sp>
        <p:nvSpPr>
          <p:cNvPr id="19" name="Text 17"/>
          <p:cNvSpPr txBox="1"/>
          <p:nvPr/>
        </p:nvSpPr>
        <p:spPr>
          <a:xfrm>
            <a:off x="548640" y="6053328"/>
            <a:ext cx="960120" cy="384048"/>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script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468</Words>
  <Application>Microsoft Office PowerPoint</Application>
  <PresentationFormat>와이드스크린</PresentationFormat>
  <Paragraphs>72</Paragraphs>
  <Slides>5</Slides>
  <Notes>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5</vt:i4>
      </vt:variant>
    </vt:vector>
  </HeadingPairs>
  <TitlesOfParts>
    <vt:vector size="10" baseType="lpstr">
      <vt:lpstr>맑은 고딕</vt:lpstr>
      <vt:lpstr>Arial</vt:lpstr>
      <vt:lpstr>Calibri</vt:lpstr>
      <vt:lpstr>Georgia</vt:lpstr>
      <vt:lpstr>Office Theme</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Brian Kim</cp:lastModifiedBy>
  <cp:revision>4</cp:revision>
  <dcterms:created xsi:type="dcterms:W3CDTF">2026-09-01T16:03:03Z</dcterms:created>
  <dcterms:modified xsi:type="dcterms:W3CDTF">2026-09-03T02:11:04Z</dcterms:modified>
</cp:coreProperties>
</file>