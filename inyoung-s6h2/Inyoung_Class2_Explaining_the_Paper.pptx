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 방향 — Normally, virgin female mice either ignore pups or look after them. But animals feel many things at once — hunger, stress, hormones. So the big question is how the brain combines two of those states to change a social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 방향
ASKED: whether hunger itself causes pup attack.
DID: took food away for 6 h; switched AgRP hunger neurons on (drug) in fed mice and off in hungry mice; lit up the AgRP→MPOA pathway for 30 min.
FOUND: about 60% of hungry mice attacked (plateau ~3 h); AgRP on → fed mice attacked; AgRP off → far fewer attacks; MPOA pathway 30 min → all attacked, LPOA/PVH → no change. Not stress (maze, other stressors no effect).
SO WHAT: the switch runs from the hunger neurons into the parenting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 방향
ASKED: what decides which hungry mice switch.
DID: checked hunger (food intake, ghrelin — same); staged the oestrous cycle; measured E2, P4; knocked out Esr1 or Pgr in MPOA vs Arc; tested pregnant mice.
FOUND: rate tracks the P4/E2 ratio, not either hormone alone (highest metestrus 70%, lowest oestrus 32%); KO in MPOA not Arc changes it — Esr1 KO 100% (40% predicted), Pgr KO 23% (53% predicted); pregnant mice matched the ratio prediction; hormones alone never caused attack without hunger.
SO WHAT: hormones set the odds, hunger pulls the trigger — both read in MPOA.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 방향
ASKED: how one set of neurons reads both hunger and hormones.
DID: recorded MPOA neurons in brain slices before/after fasting; blocked HCN channels (ZD-7288); added NPY vs AgRP; knocked down NPY only in the AgRP→MPOA pathway; counted Hcn transcripts across the cycle; infused HCN blocker into MPOA of fed mice.
FOUND: MPOA neurons in attackers are quieter and less excitable; the HCN voltage sag is mostly gone; NPY (not AgRP) reproduces this; NPY knockdown brings it back and delays attack; Hcn1/Hcn2 peak in oestrus; blocking HCN alone makes fed mice attack.
SO WHAT: hormones set how many HCN channels there are; hunger (via NPY) shuts them. Together → quiet MPOA → attack.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 방향
ASKED: whether MPOA shows an aggression state in a behaving animal.
DID: head-mounted microscope; tracked the same MPOA neurons before and after fasting, during pup interactions (6 females; the 2 in oestrus did not attack).
FOUND: attackers have lower baseline activity (already before fasting → hormones); weaker responses to pup sniffing/grooming; during attack, neurons go both up and down (average ~0) but the population enters a distinct, lasting state on PC2; an unsupervised HMM finds ~95% of aggression episodes; the state deepens with each attack.
SO WHAT: aggression is a persistent brain state, not a reflex — and MPOA encodes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처음부터 끝까지 한 번. Brian은 시간만 잰다. 발표 시간이 정해지면 목표 시간 조정.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INYOUNG · CLASS 2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Explaining the Paper, Start to Finish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Cao et al., Nature 2025 — Integration of hunger and hormonal state gates infant-directed aggression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TODAY WORKS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49377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Four Boxes, Every Figure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236976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94944" y="146304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  ASKED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94944" y="1719072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question here is whether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95344" y="1371600"/>
            <a:ext cx="3236976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041648" y="146304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  DID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041648" y="1719072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 test this, they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3236976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94944" y="239572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  FOUND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94944" y="265176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they found was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95344" y="2304288"/>
            <a:ext cx="3236976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041648" y="239572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  SO WHAT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041648" y="265176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This tells us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15200" y="1371600"/>
            <a:ext cx="4325112" cy="1773936"/>
          </a:xfrm>
          <a:prstGeom prst="roundRect">
            <a:avLst>
              <a:gd name="adj" fmla="val 3608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498080" y="1463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TENSE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498080" y="1737360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they did, what they found →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past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took food away for six hours.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it means →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present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i="1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This tells us that hunger changes…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49808" y="342900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VOICE  ·  out loud, active is easier to follow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49808" y="3749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✓  They knocked out the receptor in the MPOA.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     </a:t>
            </a:r>
            <a:pPr indent="0" marL="0">
              <a:buNone/>
            </a:pPr>
            <a:r>
              <a:rPr lang="en-US" sz="14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△  The receptor was knocked out in the MPOA.</a:t>
            </a:r>
            <a:pPr indent="0" marL="0">
              <a:buNone/>
            </a:pPr>
            <a:r>
              <a:rPr lang="en-US" sz="1100" i="1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fine in a paper, harder to follow in a room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3593592" cy="868680"/>
          </a:xfrm>
          <a:prstGeom prst="roundRect">
            <a:avLst>
              <a:gd name="adj" fmla="val 736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13232" y="46177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Figure + question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Each piece starts from one real panel. Point at it while you talk.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97680" y="4526280"/>
            <a:ext cx="3593592" cy="868680"/>
          </a:xfrm>
          <a:prstGeom prst="roundRect">
            <a:avLst>
              <a:gd name="adj" fmla="val 736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4462272" y="46177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 it to undergrads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Paper term on top, classroom words below. Use the bottom line.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046720" y="4526280"/>
            <a:ext cx="3593592" cy="868680"/>
          </a:xfrm>
          <a:prstGeom prst="roundRect">
            <a:avLst>
              <a:gd name="adj" fmla="val 736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211312" y="46177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 it right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Stress the gold syllable. We say these out loud first.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3593592" cy="868680"/>
          </a:xfrm>
          <a:prstGeom prst="roundRect">
            <a:avLst>
              <a:gd name="adj" fmla="val 736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13232" y="55778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line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best sentence, corrected, goes here. It becomes your L&amp;S.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297680" y="5486400"/>
            <a:ext cx="3593592" cy="868680"/>
          </a:xfrm>
          <a:prstGeom prst="roundRect">
            <a:avLst>
              <a:gd name="adj" fmla="val 736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4462272" y="55778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Build it up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After each figure, start again from the top.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046720" y="5486400"/>
            <a:ext cx="3593592" cy="868680"/>
          </a:xfrm>
          <a:prstGeom prst="roundRect">
            <a:avLst>
              <a:gd name="adj" fmla="val 736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211312" y="55778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Last round</a:t>
            </a:r>
            <a:endParaRPr lang="en-US" sz="13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whole paper, once, no stopping.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PIECE 1 · THE BACKGROUND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49377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Why Ask This at All?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would a hungry mouse attack a pup it would normally look after?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852160" cy="3063240"/>
          </a:xfrm>
          <a:prstGeom prst="roundRect">
            <a:avLst>
              <a:gd name="adj" fmla="val 209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16002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SET IT UP IN THREE LINES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23444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Normally, ___.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2788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23444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But animals feel many things at once — ___.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77240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234440" y="3611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 the big question here is ___.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83680" y="1463040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729984" y="1554480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  WHO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729984" y="1810512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Virgin female mice —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66860" y="1463040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313164" y="1554480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  WHAT THEY USUALLY DO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313164" y="1810512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usually ___ or ___ pups.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83680" y="2395728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729984" y="2487168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  WHAT CHANGES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729984" y="2743200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they're hungry,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166860" y="2395728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313164" y="2487168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  WHY IT MATTERS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9313164" y="2743200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shows how two states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83680" y="3401568"/>
            <a:ext cx="5056632" cy="502920"/>
          </a:xfrm>
          <a:prstGeom prst="roundRect">
            <a:avLst>
              <a:gd name="adj" fmla="val 12727"/>
            </a:avLst>
          </a:prstGeom>
          <a:solidFill>
            <a:srgbClr val="10203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748272" y="3447288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 IT RIGHT   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VIR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gin</a:t>
            </a:r>
            <a:pPr indent="0" marL="0">
              <a:buNone/>
            </a:pPr>
            <a:r>
              <a:rPr lang="en-US" sz="12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·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be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viour</a:t>
            </a:r>
            <a:pPr indent="0" marL="0">
              <a:buNone/>
            </a:pPr>
            <a:r>
              <a:rPr lang="en-US" sz="12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PUP</a:t>
            </a:r>
            <a:pPr indent="0" marL="0">
              <a:buNone/>
            </a:pPr>
            <a:r>
              <a:rPr lang="en-US" sz="12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·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or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gonal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83680" y="3977640"/>
            <a:ext cx="5056632" cy="548640"/>
          </a:xfrm>
          <a:prstGeom prst="roundRect">
            <a:avLst>
              <a:gd name="adj" fmla="val 1166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748272" y="4050792"/>
            <a:ext cx="4782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LINE  ·  best sentence, corrected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748272" y="4306824"/>
            <a:ext cx="472744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en-US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663440"/>
            <a:ext cx="11091672" cy="1783080"/>
          </a:xfrm>
          <a:prstGeom prst="roundRect">
            <a:avLst>
              <a:gd name="adj" fmla="val 35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749808" y="475488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 IT TO UNDERGRADS   paper term  →  classroom words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749808" y="5047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internal state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what's going on inside the body — hunger, hormones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4407408" y="5047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social behaviour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how an animal treats another animal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8065008" y="5047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virgin female mice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female mice that have never had pups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749808" y="5733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pup-directed care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looking after pups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4407408" y="5733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pup-directed aggression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attacking pups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8065008" y="5733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orthogonal states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two states that normally have nothing to do with each other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PIECE 2 · FIGURE 1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49377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Hunger Flips the Switch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prove hunger causes the attack — not stress, not something else?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85216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6" name="Image 0" descr="/home/claude/iny/fig1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572768"/>
            <a:ext cx="4310921" cy="1325880"/>
          </a:xfrm>
          <a:prstGeom prst="rect">
            <a:avLst/>
          </a:prstGeom>
        </p:spPr>
      </p:pic>
      <p:pic>
        <p:nvPicPr>
          <p:cNvPr id="7" name="Image 1" descr="/home/claude/iny/fig1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926080"/>
            <a:ext cx="3886399" cy="1344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431596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Cao et al., Nature 648, 138 (2025) · CC BY 4.0 · Fig. 1a,b,k</a:t>
            </a:r>
            <a:endParaRPr lang="en-US" sz="8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5"/>
          <p:cNvSpPr/>
          <p:nvPr/>
        </p:nvSpPr>
        <p:spPr>
          <a:xfrm>
            <a:off x="6583680" y="1463040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729984" y="1554480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  ASKED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6729984" y="1810512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question here is whether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166860" y="1463040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9313164" y="1554480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  DID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9313164" y="1810512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 test this, they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583680" y="2395728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6729984" y="2487168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  FOUND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6729984" y="2743200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they found was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9166860" y="2395728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9313164" y="2487168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  SO WHAT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9313164" y="2743200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This tells us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583680" y="3401568"/>
            <a:ext cx="5056632" cy="502920"/>
          </a:xfrm>
          <a:prstGeom prst="roundRect">
            <a:avLst>
              <a:gd name="adj" fmla="val 12727"/>
            </a:avLst>
          </a:prstGeom>
          <a:solidFill>
            <a:srgbClr val="10203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Text 18"/>
          <p:cNvSpPr txBox="1"/>
          <p:nvPr/>
        </p:nvSpPr>
        <p:spPr>
          <a:xfrm>
            <a:off x="6748272" y="3447288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 IT RIGHT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hypo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lamus</a:t>
            </a:r>
            <a:pPr indent="0" marL="0">
              <a:buNone/>
            </a:pPr>
            <a:r>
              <a:rPr lang="en-US" sz="12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·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ag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GRES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sion</a:t>
            </a:r>
            <a:pPr indent="0" marL="0">
              <a:buNone/>
            </a:pPr>
            <a:r>
              <a:rPr lang="en-US" sz="12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·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depri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tion</a:t>
            </a:r>
            <a:pPr indent="0" marL="0">
              <a:buNone/>
            </a:pPr>
            <a:r>
              <a:rPr lang="en-US" sz="12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·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opto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netic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583680" y="3977640"/>
            <a:ext cx="5056632" cy="548640"/>
          </a:xfrm>
          <a:prstGeom prst="roundRect">
            <a:avLst>
              <a:gd name="adj" fmla="val 1166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Text 20"/>
          <p:cNvSpPr txBox="1"/>
          <p:nvPr/>
        </p:nvSpPr>
        <p:spPr>
          <a:xfrm>
            <a:off x="6748272" y="4050792"/>
            <a:ext cx="4782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LINE  ·  best sentence, corrected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Text 21"/>
          <p:cNvSpPr txBox="1"/>
          <p:nvPr/>
        </p:nvSpPr>
        <p:spPr>
          <a:xfrm>
            <a:off x="6748272" y="4306824"/>
            <a:ext cx="472744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en-US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548640" y="4663440"/>
            <a:ext cx="11091672" cy="1783080"/>
          </a:xfrm>
          <a:prstGeom prst="roundRect">
            <a:avLst>
              <a:gd name="adj" fmla="val 35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Text 23"/>
          <p:cNvSpPr txBox="1"/>
          <p:nvPr/>
        </p:nvSpPr>
        <p:spPr>
          <a:xfrm>
            <a:off x="749808" y="475488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 IT TO UNDERGRADS   paper term  →  classroom words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Text 24"/>
          <p:cNvSpPr txBox="1"/>
          <p:nvPr/>
        </p:nvSpPr>
        <p:spPr>
          <a:xfrm>
            <a:off x="749808" y="5047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food deprivation (FD)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taking their food away for six hours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Text 25"/>
          <p:cNvSpPr txBox="1"/>
          <p:nvPr/>
        </p:nvSpPr>
        <p:spPr>
          <a:xfrm>
            <a:off x="4407408" y="5047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Agg⁺ / Agg⁻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the mice that attacked / the ones that didn't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Text 26"/>
          <p:cNvSpPr txBox="1"/>
          <p:nvPr/>
        </p:nvSpPr>
        <p:spPr>
          <a:xfrm>
            <a:off x="8065008" y="5047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ArcAgRP neurons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the brain's hunger neurons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1" name="Text 27"/>
          <p:cNvSpPr txBox="1"/>
          <p:nvPr/>
        </p:nvSpPr>
        <p:spPr>
          <a:xfrm>
            <a:off x="749808" y="5733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chemogenetic activation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switching those neurons on with a drug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2" name="Text 28"/>
          <p:cNvSpPr txBox="1"/>
          <p:nvPr/>
        </p:nvSpPr>
        <p:spPr>
          <a:xfrm>
            <a:off x="4407408" y="5733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optogenetic stimulation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switching one pathway on with light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3" name="Text 29"/>
          <p:cNvSpPr txBox="1"/>
          <p:nvPr/>
        </p:nvSpPr>
        <p:spPr>
          <a:xfrm>
            <a:off x="8065008" y="5733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MPOA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the part of the hypothalamus that runs parenting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PIECE 3 · FIGURE 2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49377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Hormones Set the Odds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If hunger causes it, why did only about 60% of the mice attack?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85216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6" name="Image 0" descr="/home/claude/iny/fig2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72768"/>
            <a:ext cx="4923448" cy="1572768"/>
          </a:xfrm>
          <a:prstGeom prst="rect">
            <a:avLst/>
          </a:prstGeom>
        </p:spPr>
      </p:pic>
      <p:pic>
        <p:nvPicPr>
          <p:cNvPr id="7" name="Image 1" descr="/home/claude/iny/fig2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154680"/>
            <a:ext cx="1870364" cy="1143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431596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Cao et al., Nature 648, 138 (2025) · CC BY 4.0 · Fig. 2d–f,k</a:t>
            </a:r>
            <a:endParaRPr lang="en-US" sz="8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5"/>
          <p:cNvSpPr/>
          <p:nvPr/>
        </p:nvSpPr>
        <p:spPr>
          <a:xfrm>
            <a:off x="6583680" y="1463040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729984" y="1554480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  ASKED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6729984" y="1810512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question here is whether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166860" y="1463040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9313164" y="1554480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  DID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9313164" y="1810512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 test this, they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583680" y="2395728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6729984" y="2487168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  FOUND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6729984" y="2743200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they found was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9166860" y="2395728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9313164" y="2487168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  SO WHAT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9313164" y="2743200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This tells us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583680" y="3401568"/>
            <a:ext cx="5056632" cy="502920"/>
          </a:xfrm>
          <a:prstGeom prst="roundRect">
            <a:avLst>
              <a:gd name="adj" fmla="val 12727"/>
            </a:avLst>
          </a:prstGeom>
          <a:solidFill>
            <a:srgbClr val="10203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Text 18"/>
          <p:cNvSpPr txBox="1"/>
          <p:nvPr/>
        </p:nvSpPr>
        <p:spPr>
          <a:xfrm>
            <a:off x="6748272" y="3447288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 IT RIGHT   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OES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trous</a:t>
            </a:r>
            <a:pPr indent="0" marL="0">
              <a:buNone/>
            </a:pPr>
            <a:r>
              <a:rPr lang="en-US" sz="12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·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oes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TRA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diol</a:t>
            </a:r>
            <a:pPr indent="0" marL="0">
              <a:buNone/>
            </a:pPr>
            <a:r>
              <a:rPr lang="en-US" sz="12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·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pro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GES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terone</a:t>
            </a:r>
            <a:pPr indent="0" marL="0">
              <a:buNone/>
            </a:pPr>
            <a:r>
              <a:rPr lang="en-US" sz="12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tio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583680" y="3977640"/>
            <a:ext cx="5056632" cy="548640"/>
          </a:xfrm>
          <a:prstGeom prst="roundRect">
            <a:avLst>
              <a:gd name="adj" fmla="val 1166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Text 20"/>
          <p:cNvSpPr txBox="1"/>
          <p:nvPr/>
        </p:nvSpPr>
        <p:spPr>
          <a:xfrm>
            <a:off x="6748272" y="4050792"/>
            <a:ext cx="4782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LINE  ·  best sentence, corrected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Text 21"/>
          <p:cNvSpPr txBox="1"/>
          <p:nvPr/>
        </p:nvSpPr>
        <p:spPr>
          <a:xfrm>
            <a:off x="6748272" y="4306824"/>
            <a:ext cx="472744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en-US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548640" y="4663440"/>
            <a:ext cx="11091672" cy="1783080"/>
          </a:xfrm>
          <a:prstGeom prst="roundRect">
            <a:avLst>
              <a:gd name="adj" fmla="val 35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Text 23"/>
          <p:cNvSpPr txBox="1"/>
          <p:nvPr/>
        </p:nvSpPr>
        <p:spPr>
          <a:xfrm>
            <a:off x="749808" y="475488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 IT TO UNDERGRADS   paper term  →  classroom words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Text 24"/>
          <p:cNvSpPr txBox="1"/>
          <p:nvPr/>
        </p:nvSpPr>
        <p:spPr>
          <a:xfrm>
            <a:off x="749808" y="5047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oestrous cycle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the mouse version of the menstrual cycle — four to five days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Text 25"/>
          <p:cNvSpPr txBox="1"/>
          <p:nvPr/>
        </p:nvSpPr>
        <p:spPr>
          <a:xfrm>
            <a:off x="4407408" y="5047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oestradiol (E2) · progesterone (P4)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the two main female sex hormones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Text 26"/>
          <p:cNvSpPr txBox="1"/>
          <p:nvPr/>
        </p:nvSpPr>
        <p:spPr>
          <a:xfrm>
            <a:off x="8065008" y="5047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P4/E2 ratio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not how much of each — the balance between them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1" name="Text 27"/>
          <p:cNvSpPr txBox="1"/>
          <p:nvPr/>
        </p:nvSpPr>
        <p:spPr>
          <a:xfrm>
            <a:off x="749808" y="5733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receptor knockout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removing what the hormone binds to, in one brain area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2" name="Text 28"/>
          <p:cNvSpPr txBox="1"/>
          <p:nvPr/>
        </p:nvSpPr>
        <p:spPr>
          <a:xfrm>
            <a:off x="4407408" y="5733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switching rate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the share of mice that flip to attacking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3" name="Text 29"/>
          <p:cNvSpPr txBox="1"/>
          <p:nvPr/>
        </p:nvSpPr>
        <p:spPr>
          <a:xfrm>
            <a:off x="8065008" y="5733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metestrus · oestrus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the stages with the highest (70%) and lowest (32%) rate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PIECE 4 · FIGURE 3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49377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Where the Two Signals Meet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Two different signals, one behaviour. Where do they actually meet?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85216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6" name="Image 0" descr="/home/claude/iny/fig3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2837688" cy="1216152"/>
          </a:xfrm>
          <a:prstGeom prst="rect">
            <a:avLst/>
          </a:prstGeom>
        </p:spPr>
      </p:pic>
      <p:pic>
        <p:nvPicPr>
          <p:cNvPr id="7" name="Image 1" descr="/home/claude/iny/fig3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00200"/>
            <a:ext cx="2835985" cy="2606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431596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Cao et al., Nature 648, 138 (2025) · CC BY 4.0 · Fig. 3e,f,w</a:t>
            </a:r>
            <a:endParaRPr lang="en-US" sz="8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5"/>
          <p:cNvSpPr/>
          <p:nvPr/>
        </p:nvSpPr>
        <p:spPr>
          <a:xfrm>
            <a:off x="6583680" y="1463040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729984" y="1554480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  ASKED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6729984" y="1810512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question here is whether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166860" y="1463040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9313164" y="1554480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  DID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9313164" y="1810512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 test this, they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583680" y="2395728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6729984" y="2487168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  FOUND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6729984" y="2743200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they found was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9166860" y="2395728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9313164" y="2487168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  SO WHAT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9313164" y="2743200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This tells us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583680" y="3401568"/>
            <a:ext cx="5056632" cy="502920"/>
          </a:xfrm>
          <a:prstGeom prst="roundRect">
            <a:avLst>
              <a:gd name="adj" fmla="val 12727"/>
            </a:avLst>
          </a:prstGeom>
          <a:solidFill>
            <a:srgbClr val="10203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Text 18"/>
          <p:cNvSpPr txBox="1"/>
          <p:nvPr/>
        </p:nvSpPr>
        <p:spPr>
          <a:xfrm>
            <a:off x="6748272" y="3447288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 IT RIGHT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exci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bility</a:t>
            </a:r>
            <a:pPr indent="0" marL="0">
              <a:buNone/>
            </a:pPr>
            <a:r>
              <a:rPr lang="en-US" sz="12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NEU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ropeptide Y</a:t>
            </a:r>
            <a:pPr indent="0" marL="0">
              <a:buNone/>
            </a:pPr>
            <a:r>
              <a:rPr lang="en-US" sz="12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CHAN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nel</a:t>
            </a:r>
            <a:pPr indent="0" marL="0">
              <a:buNone/>
            </a:pPr>
            <a:r>
              <a:rPr lang="en-US" sz="12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VOL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tage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583680" y="3977640"/>
            <a:ext cx="5056632" cy="548640"/>
          </a:xfrm>
          <a:prstGeom prst="roundRect">
            <a:avLst>
              <a:gd name="adj" fmla="val 1166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Text 20"/>
          <p:cNvSpPr txBox="1"/>
          <p:nvPr/>
        </p:nvSpPr>
        <p:spPr>
          <a:xfrm>
            <a:off x="6748272" y="4050792"/>
            <a:ext cx="4782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LINE  ·  best sentence, corrected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Text 21"/>
          <p:cNvSpPr txBox="1"/>
          <p:nvPr/>
        </p:nvSpPr>
        <p:spPr>
          <a:xfrm>
            <a:off x="6748272" y="4306824"/>
            <a:ext cx="472744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en-US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548640" y="4663440"/>
            <a:ext cx="11091672" cy="1783080"/>
          </a:xfrm>
          <a:prstGeom prst="roundRect">
            <a:avLst>
              <a:gd name="adj" fmla="val 35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Text 23"/>
          <p:cNvSpPr txBox="1"/>
          <p:nvPr/>
        </p:nvSpPr>
        <p:spPr>
          <a:xfrm>
            <a:off x="749808" y="475488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 IT TO UNDERGRADS   paper term  →  classroom words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Text 24"/>
          <p:cNvSpPr txBox="1"/>
          <p:nvPr/>
        </p:nvSpPr>
        <p:spPr>
          <a:xfrm>
            <a:off x="749808" y="5047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patch-clamp recording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listening to one neuron's electrical activity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Text 25"/>
          <p:cNvSpPr txBox="1"/>
          <p:nvPr/>
        </p:nvSpPr>
        <p:spPr>
          <a:xfrm>
            <a:off x="4407408" y="5047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excitability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how easily a neuron fires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Text 26"/>
          <p:cNvSpPr txBox="1"/>
          <p:nvPr/>
        </p:nvSpPr>
        <p:spPr>
          <a:xfrm>
            <a:off x="8065008" y="5047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HCN channels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channels that keep a neuron ready to fire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1" name="Text 27"/>
          <p:cNvSpPr txBox="1"/>
          <p:nvPr/>
        </p:nvSpPr>
        <p:spPr>
          <a:xfrm>
            <a:off x="749808" y="5733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voltage sag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the electrical sign that HCN channels are working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2" name="Text 28"/>
          <p:cNvSpPr txBox="1"/>
          <p:nvPr/>
        </p:nvSpPr>
        <p:spPr>
          <a:xfrm>
            <a:off x="4407408" y="5733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NPY (neuropeptide Y)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the chemical the hunger neurons release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3" name="Text 29"/>
          <p:cNvSpPr txBox="1"/>
          <p:nvPr/>
        </p:nvSpPr>
        <p:spPr>
          <a:xfrm>
            <a:off x="8065008" y="5733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knockdown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turning a gene down, not all the way off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PIECE 5 · FIGURE 4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49377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Watching It in a Living Brain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All of that was in brain slices. Does it hold in a living, behaving mouse?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85216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6" name="Image 0" descr="/home/claude/iny/fig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2249326" cy="2103120"/>
          </a:xfrm>
          <a:prstGeom prst="rect">
            <a:avLst/>
          </a:prstGeom>
        </p:spPr>
      </p:pic>
      <p:pic>
        <p:nvPicPr>
          <p:cNvPr id="7" name="Image 1" descr="/home/claude/iny/fig4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691640"/>
            <a:ext cx="3409122" cy="2240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431596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Cao et al., Nature 648, 138 (2025) · CC BY 4.0 · Fig. 4a,i</a:t>
            </a:r>
            <a:endParaRPr lang="en-US" sz="8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5"/>
          <p:cNvSpPr/>
          <p:nvPr/>
        </p:nvSpPr>
        <p:spPr>
          <a:xfrm>
            <a:off x="6583680" y="1463040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729984" y="1554480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  ASKED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6729984" y="1810512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question here is whether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166860" y="1463040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9313164" y="1554480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  DID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9313164" y="1810512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 test this, they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583680" y="2395728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6729984" y="2487168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  FOUND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6729984" y="2743200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they found was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9166860" y="2395728"/>
            <a:ext cx="247345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9313164" y="2487168"/>
            <a:ext cx="21991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  SO WHAT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9313164" y="2743200"/>
            <a:ext cx="2199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This tells us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583680" y="3401568"/>
            <a:ext cx="5056632" cy="502920"/>
          </a:xfrm>
          <a:prstGeom prst="roundRect">
            <a:avLst>
              <a:gd name="adj" fmla="val 12727"/>
            </a:avLst>
          </a:prstGeom>
          <a:solidFill>
            <a:srgbClr val="10203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Text 18"/>
          <p:cNvSpPr txBox="1"/>
          <p:nvPr/>
        </p:nvSpPr>
        <p:spPr>
          <a:xfrm>
            <a:off x="6748272" y="3447288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 IT RIGHT   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croscope</a:t>
            </a:r>
            <a:pPr indent="0" marL="0">
              <a:buNone/>
            </a:pPr>
            <a:r>
              <a:rPr lang="en-US" sz="12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·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en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copy</a:t>
            </a:r>
            <a:pPr indent="0" marL="0">
              <a:buNone/>
            </a:pPr>
            <a:r>
              <a:rPr lang="en-US" sz="12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cipal</a:t>
            </a:r>
            <a:pPr indent="0" marL="0">
              <a:buNone/>
            </a:pPr>
            <a:r>
              <a:rPr lang="en-US" sz="12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cium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583680" y="3977640"/>
            <a:ext cx="5056632" cy="548640"/>
          </a:xfrm>
          <a:prstGeom prst="roundRect">
            <a:avLst>
              <a:gd name="adj" fmla="val 1166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Text 20"/>
          <p:cNvSpPr txBox="1"/>
          <p:nvPr/>
        </p:nvSpPr>
        <p:spPr>
          <a:xfrm>
            <a:off x="6748272" y="4050792"/>
            <a:ext cx="4782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LINE  ·  best sentence, corrected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Text 21"/>
          <p:cNvSpPr txBox="1"/>
          <p:nvPr/>
        </p:nvSpPr>
        <p:spPr>
          <a:xfrm>
            <a:off x="6748272" y="4306824"/>
            <a:ext cx="472744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en-US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548640" y="4663440"/>
            <a:ext cx="11091672" cy="1783080"/>
          </a:xfrm>
          <a:prstGeom prst="roundRect">
            <a:avLst>
              <a:gd name="adj" fmla="val 35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Text 23"/>
          <p:cNvSpPr txBox="1"/>
          <p:nvPr/>
        </p:nvSpPr>
        <p:spPr>
          <a:xfrm>
            <a:off x="749808" y="475488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 IT TO UNDERGRADS   paper term  →  classroom words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Text 24"/>
          <p:cNvSpPr txBox="1"/>
          <p:nvPr/>
        </p:nvSpPr>
        <p:spPr>
          <a:xfrm>
            <a:off x="749808" y="5047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calcium imaging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watching neurons light up when they fire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Text 25"/>
          <p:cNvSpPr txBox="1"/>
          <p:nvPr/>
        </p:nvSpPr>
        <p:spPr>
          <a:xfrm>
            <a:off x="4407408" y="5047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miniature microscope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a tiny microscope mounted on the mouse's head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Text 26"/>
          <p:cNvSpPr txBox="1"/>
          <p:nvPr/>
        </p:nvSpPr>
        <p:spPr>
          <a:xfrm>
            <a:off x="8065008" y="5047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baseline activity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how active the neurons are when nothing is happening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1" name="Text 27"/>
          <p:cNvSpPr txBox="1"/>
          <p:nvPr/>
        </p:nvSpPr>
        <p:spPr>
          <a:xfrm>
            <a:off x="749808" y="5733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neural state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a pattern across many neurons that lasts, not a one-off response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2" name="Text 28"/>
          <p:cNvSpPr txBox="1"/>
          <p:nvPr/>
        </p:nvSpPr>
        <p:spPr>
          <a:xfrm>
            <a:off x="4407408" y="5733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PC1 · PC2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a way to squash hundreds of neurons into two lines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3" name="Text 29"/>
          <p:cNvSpPr txBox="1"/>
          <p:nvPr/>
        </p:nvSpPr>
        <p:spPr>
          <a:xfrm>
            <a:off x="8065008" y="5733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decode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read the behaviour off the brain activity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PIECE 6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49377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Whole Story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Start from the top. No stopping. Point at each figure as you go.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2004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6" name="Image 0" descr="/home/claude/iny/fig1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017520" cy="92807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063240"/>
            <a:ext cx="3200400" cy="7315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85800" y="312724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FIG 1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Hunger flips the switch — ___.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858768" y="1463040"/>
            <a:ext cx="32004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10" name="Image 1" descr="/home/claude/iny/fig2de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208" y="1554480"/>
            <a:ext cx="3017520" cy="96393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858768" y="3063240"/>
            <a:ext cx="3200400" cy="7315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3995928" y="312724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FIG 2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Hormones set the odds — ___.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32004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14" name="Image 2" descr="/home/claude/iny/fig3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651" y="4023360"/>
            <a:ext cx="1542378" cy="14173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48640" y="5532120"/>
            <a:ext cx="3200400" cy="7315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85800" y="559612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FIG 3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meet at HCN channels — ___.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3858768" y="3931920"/>
            <a:ext cx="32004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18" name="Image 3" descr="/home/claude/iny/fig4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0572" y="4023360"/>
            <a:ext cx="2156791" cy="1417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858768" y="5532120"/>
            <a:ext cx="3200400" cy="7315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3995928" y="559612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FIG 4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living brain shows it — ___.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7269480" y="1463040"/>
            <a:ext cx="4370832" cy="4800600"/>
          </a:xfrm>
          <a:prstGeom prst="roundRect">
            <a:avLst>
              <a:gd name="adj" fmla="val 1464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7452360" y="15727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CLOSE IT  ·  pick one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7452360" y="192024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Mechanism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 the same neurons read hunger and hormones, and the behaviour flips when both line up.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7452360" y="333756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Big picture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This is one of the first cases where we can see, cell by cell, how two internal states combine to change a social decision.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Text 19"/>
          <p:cNvSpPr txBox="1"/>
          <p:nvPr/>
        </p:nvSpPr>
        <p:spPr>
          <a:xfrm>
            <a:off x="7452360" y="47548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For undergrads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an animal does to another animal depends not just on what it sees, but on what's going on inside it — and now we know one place in the brain where that calculation happens.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TAKE IT TO YOUR LAB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49377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Same Four Boxes, Your Own Research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One minute per box. This is your next lab meeting.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9097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94944" y="1554480"/>
            <a:ext cx="5216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  ASKED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94944" y="1810512"/>
            <a:ext cx="52166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my project, I'm asking whether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49340" y="1463040"/>
            <a:ext cx="549097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295644" y="1554480"/>
            <a:ext cx="5216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  DID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295644" y="1810512"/>
            <a:ext cx="52166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 test this, I ___ / I'm going to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549097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94944" y="2487168"/>
            <a:ext cx="5216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  FOUND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94944" y="2743200"/>
            <a:ext cx="52166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 far, I've found that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49340" y="2395728"/>
            <a:ext cx="5490972" cy="841248"/>
          </a:xfrm>
          <a:prstGeom prst="roundRect">
            <a:avLst>
              <a:gd name="adj" fmla="val 76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295644" y="2487168"/>
            <a:ext cx="5216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  SO WHAT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295644" y="2743200"/>
            <a:ext cx="52166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If it holds, it would mean ___.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49808" y="356616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TENSE, AGAIN  ·  your own work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49808" y="3886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Done: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measured…   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Still going: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I've been running…   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Next: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going to…   </a:t>
            </a:r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Meaning: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This suggests…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11091672" cy="1600200"/>
          </a:xfrm>
          <a:prstGeom prst="roundRect">
            <a:avLst>
              <a:gd name="adj" fmla="val 4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13232" y="4828032"/>
            <a:ext cx="10817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LINE  ·  best sentence, corrected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13232" y="5084064"/>
            <a:ext cx="10762488" cy="1197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en-US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WRAP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49377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Before Next Class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93592" cy="2926080"/>
          </a:xfrm>
          <a:prstGeom prst="roundRect">
            <a:avLst>
              <a:gd name="adj" fmla="val 281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Record it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three-minute version — about 30 seconds per figure. Send it to Brian.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93592" cy="2926080"/>
          </a:xfrm>
          <a:prstGeom prst="roundRect">
            <a:avLst>
              <a:gd name="adj" fmla="val 2813"/>
            </a:avLst>
          </a:prstGeom>
          <a:solidFill>
            <a:srgbClr val="16273F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7200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Find out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572000" y="28803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long the talk is · the date · whether you make the slides or use your professor's.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593592" cy="2926080"/>
          </a:xfrm>
          <a:prstGeom prst="roundRect">
            <a:avLst>
              <a:gd name="adj" fmla="val 2813"/>
            </a:avLst>
          </a:prstGeom>
          <a:solidFill>
            <a:srgbClr val="16273F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32104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32104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Listen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321040" y="28803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L&amp;S 02 is built from today's YOUR LINE sentences — your own words, corrected.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2026-09-22T09:17:08Z</dcterms:created>
  <dcterms:modified xsi:type="dcterms:W3CDTF">2026-09-22T09:17:08Z</dcterms:modified>
</cp:coreProperties>
</file>