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79442" cy="6858000"/>
  <p:notesSz cx="6858000" cy="1217944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C11(발표) 후반전 — 발표 끝 Q&amp;A. #100 돌파 회차. 연습은 C11 발표를 다시 하고 Brian이 청중 질문 던지는 구조 — C11 표현 통째 재소환. 반론 처리(#61~70)와 상황 구분: 협상 테이블이 아니라 발표장.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Q&amp;A와 협상 반론의 차이를 프레임으로: 여기선 청중 전체가 답을 평가함. Frank가 C11에서 쓴 제품 그대로 이어감.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배우고 바로: Brian이 우호적 질문 2~3개 (가격, 타깃, 성분) → 97→101 구조로 답. 101이 핵심 — 답을 발표 서사로 되돌리는 기술. #100 돌파 축하 한마디.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배우고 바로: Brian이 곤란한 질문 3개 (미확정 가격, 모르는 수치, 너무 세부적인 질문) → 102~105로 처리 → 106으로 마무리 복귀. 핵심 원칙: 모르는 걸 아는 척하지 않기 — 103+기한이 신뢰를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중 손 들기 1회 (105로 뒤로 미루는 연습), 발표 후 질문 4개. 성공 조건 = 마지막이 반드시 106으로 닫히는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79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O   E N G L I S H   W I T H   B R I A 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794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 — Class 12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79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Taking Questions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0" y="4069080"/>
            <a:ext cx="121794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#97–106 — the presentation is over. Now the hands go up.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Hands Go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45586" cy="1335024"/>
          </a:xfrm>
          <a:prstGeom prst="roundRect">
            <a:avLst>
              <a:gd name="adj" fmla="val 6164"/>
            </a:avLst>
          </a:prstGeom>
          <a:solidFill>
            <a:srgbClr val="2E3F5B"/>
          </a:solidFill>
          <a:ln w="8890">
            <a:solidFill>
              <a:srgbClr val="3F5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47088"/>
            <a:ext cx="10496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scene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41248" y="2231136"/>
            <a:ext cx="10496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presentation landed. Now three of the five buyers have questions.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633472"/>
            <a:ext cx="10496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발표는 잘 끝났습니다. 이제 다섯 명의 바이어 중 셋이 손을 들었어요.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3255264"/>
            <a:ext cx="11045586" cy="1335024"/>
          </a:xfrm>
          <a:prstGeom prst="roundRect">
            <a:avLst>
              <a:gd name="adj" fmla="val 6164"/>
            </a:avLst>
          </a:prstGeom>
          <a:solidFill>
            <a:srgbClr val="2E3F5B"/>
          </a:solidFill>
          <a:ln w="8890">
            <a:solidFill>
              <a:srgbClr val="3F5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364992"/>
            <a:ext cx="10496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different from negotiation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41248" y="3749040"/>
            <a:ext cx="10496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negotiation across a table — a room, listening to every word of your answer.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4151376"/>
            <a:ext cx="10496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반론 처리(#61~70)는 1:1 협상이었다면, 오늘은 여러 명 앞에서 — 모두가 당신의 답을 듣고 있어요.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4773168"/>
            <a:ext cx="11045586" cy="1335024"/>
          </a:xfrm>
          <a:prstGeom prst="roundRect">
            <a:avLst>
              <a:gd name="adj" fmla="val 6164"/>
            </a:avLst>
          </a:prstGeom>
          <a:solidFill>
            <a:srgbClr val="2E3F5B"/>
          </a:solidFill>
          <a:ln w="8890">
            <a:solidFill>
              <a:srgbClr val="3F5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882896"/>
            <a:ext cx="10496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practice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41248" y="5266944"/>
            <a:ext cx="10496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the C11 presentation again — and this time, I interrupt.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5669280"/>
            <a:ext cx="10496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발표를 다시 하고, 중간중간 Brian이 손을 듭니다. 표현 배우고 그 페이지에서 바로.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69314" y="6455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FIELDING THE QUESTION  #97–101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 It, Shape It, Answer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455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받은 질문 확인 → 짧은 답 → 배경 → 구조화 → 발표 내용과 연결. 배우고 바로 이 페이지에서 연습.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8249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5564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5608" y="173736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 understand correctly, you're asking about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제가 맞게 이해했다면, ~에 대한 질문이시죠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35608" y="208483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 understand correctly, you're asking about the price point.”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50545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7860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35608" y="256032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short answer is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짧게 답하면 ~입니다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35608" y="290779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short answer is yes — with one condition.”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32841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0156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5608" y="338328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give you some context,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배경을 말씀드리면 ~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35608" y="373075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 give you some context, we tested this with three retail partners.”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5137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22452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35608" y="420624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me answer that in two parts: ~ and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두 부분으로 나눠 답하겠습니다: ~와 ~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35608" y="455371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me answer that in two parts: pricing first, and then timing.”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97433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04748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35608" y="502920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ties back to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그건 아까 말씀드린 ~와 연결됩니다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35608" y="537667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ties back to what I said about the formula.”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815584"/>
            <a:ext cx="11045586" cy="512064"/>
          </a:xfrm>
          <a:prstGeom prst="roundRect">
            <a:avLst>
              <a:gd name="adj" fmla="val 14286"/>
            </a:avLst>
          </a:prstGeom>
          <a:solidFill>
            <a:srgbClr val="3D3A28"/>
          </a:solidFill>
          <a:ln w="7620">
            <a:solidFill>
              <a:srgbClr val="6B62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5861304"/>
            <a:ext cx="10588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BACK · C11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Answer, then return: It all comes down to ~ · To put it simply, ~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69314" y="6455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HARD ONES  #102–106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You Don't Have the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455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모르는 것, 확정 안 된 것, 자리에서 답할 수 없는 것 — 우아하게 처리하고 마무리로 복귀.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8249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5564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5608" y="173736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not something we've finalized yet, but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아직 확정 전입니다만 ~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35608" y="208483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not something we've finalized yet, but I can share our direction.”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50545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7860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35608" y="256032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I'd have to check on ~ and get back to you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~는 확인 후 답드리겠습니다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35608" y="290779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have to check on the export schedule and get back to you.”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32841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0156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5608" y="338328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can tell you is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지금 말씀드릴 수 있는 건 ~입니다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35608" y="373075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 can tell you is that the samples ship next month.”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5137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22452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35608" y="420624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happy to go deeper on ~ afterwards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~는 끝나고 더 자세히 나누시죠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35608" y="455371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happy to go deeper on the ingredients afterwards.”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97433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04748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35608" y="502920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there are no more questions,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더 질문 없으시면 ~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35608" y="537667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there are no more questions, let me leave you with the samples.”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815584"/>
            <a:ext cx="11045586" cy="512064"/>
          </a:xfrm>
          <a:prstGeom prst="roundRect">
            <a:avLst>
              <a:gd name="adj" fmla="val 14286"/>
            </a:avLst>
          </a:prstGeom>
          <a:solidFill>
            <a:srgbClr val="3D3A28"/>
          </a:solidFill>
          <a:ln w="7620">
            <a:solidFill>
              <a:srgbClr val="6B62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5861304"/>
            <a:ext cx="10588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fake it — pair 103 with a real deadline: I'll have it to you by Friday.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69314" y="6455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RUN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+ Q&amp;A, Start to Finish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455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발표 → 질문 세례 → 마무리까지 한 판.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1045586" cy="3291840"/>
          </a:xfrm>
          <a:prstGeom prst="roundRect">
            <a:avLst>
              <a:gd name="adj" fmla="val 2778"/>
            </a:avLst>
          </a:prstGeom>
          <a:solidFill>
            <a:srgbClr val="2E3F5B"/>
          </a:solidFill>
          <a:ln w="9525">
            <a:solidFill>
              <a:srgbClr val="3F5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03120"/>
            <a:ext cx="103140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presentation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C11 — #87→96, 키워드 없이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852928"/>
            <a:ext cx="103140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Friendly questions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우호적 질문 2개 → 97–101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3602736"/>
            <a:ext cx="103140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hard ones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곤란한 질문 2개 → 102–105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4352544"/>
            <a:ext cx="103140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close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106 → C11의 마무리로 복귀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5394960"/>
            <a:ext cx="11045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Brian은 청중 세 명 몫 — 목소리 톤을 바꿔가며 질문합니다.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869314" y="6455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We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45586" cy="1280160"/>
          </a:xfrm>
          <a:prstGeom prst="roundRect">
            <a:avLst>
              <a:gd name="adj" fmla="val 6429"/>
            </a:avLst>
          </a:prstGeom>
          <a:solidFill>
            <a:srgbClr val="2E3F5B"/>
          </a:solidFill>
          <a:ln w="8890">
            <a:solidFill>
              <a:srgbClr val="3F5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75104"/>
            <a:ext cx="10496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hundred and six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104969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#106 — 오늘 세 자리를 넘었어요.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291840"/>
            <a:ext cx="11045586" cy="1280160"/>
          </a:xfrm>
          <a:prstGeom prst="roundRect">
            <a:avLst>
              <a:gd name="adj" fmla="val 6429"/>
            </a:avLst>
          </a:prstGeom>
          <a:solidFill>
            <a:srgbClr val="2E3F5B"/>
          </a:solidFill>
          <a:ln w="8890">
            <a:solidFill>
              <a:srgbClr val="3F5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438144"/>
            <a:ext cx="10496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pair to remember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840480"/>
            <a:ext cx="104969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+ 기한 — 모르는 걸 인정하고 기한을 붙이는 게 아는 척보다 강합니다.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754880"/>
            <a:ext cx="11045586" cy="1280160"/>
          </a:xfrm>
          <a:prstGeom prst="roundRect">
            <a:avLst>
              <a:gd name="adj" fmla="val 6429"/>
            </a:avLst>
          </a:prstGeom>
          <a:solidFill>
            <a:srgbClr val="2E3F5B"/>
          </a:solidFill>
          <a:ln w="8890">
            <a:solidFill>
              <a:srgbClr val="3F5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901184"/>
            <a:ext cx="10496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time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5303520"/>
            <a:ext cx="104969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Q&amp;A에서 나온 것들로 다음 방향을 정해요.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6217920"/>
            <a:ext cx="12179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today, Frank!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69314" y="6455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2026-08-07T07:59:02Z</dcterms:created>
  <dcterms:modified xsi:type="dcterms:W3CDTF">2026-08-07T07:59:02Z</dcterms:modified>
</cp:coreProperties>
</file>