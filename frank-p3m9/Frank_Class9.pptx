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79442" cy="6858000"/>
  <p:notesSz cx="6858000" cy="1217944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04288"/>
            <a:ext cx="12179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688336"/>
            <a:ext cx="1217944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9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529584"/>
            <a:ext cx="12179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Objections · Closing the Deal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4059936"/>
            <a:ext cx="12179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#61–70   ·   The Toughest Buyer Roleplay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#61–64 · Deflect &amp; Reframe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다음은 방어 — 반론을 받아치고, 버티고, 딜을 닫는 표현들. (1/3)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773936"/>
            <a:ext cx="110455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반론 받기 · Deflect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21671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not get ahead of ourselves.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25296" y="2505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너무 앞서가진 말죠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90488" y="2139696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not get ahead of ourselves — price comes after fit.”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we talk discounts, let's not get ahead of ourselves.”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appreciate the interest, but let's not get ahead of ourselves.”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31363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where you're mistaken.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25296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바로 그 부분을 오해하고 계세요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3108960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where a lot of buyers get it wrong, actually.”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think we're the same as them, that's where you're mistaken.”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where you're mistaken — our margins are already tight.”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986784"/>
            <a:ext cx="110455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되받기 · Reframe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261104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389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down to ~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25296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~로 귀결되다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0488" y="4352544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us, it comes down to consistency, not price.”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the end, it all comes down to volume.”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comes down to whether you can meet our timeline.”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230368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3583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25296" y="53492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compare us like-for-like.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225296" y="5687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저희를 단순 비교하시면 안 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5321808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can't compare us like-for-like — the specs differ.”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quote isn't like-for-like with ours.”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us like-for-like and the value is obvious.”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#65–67 · Hold &amp; Trade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다음은 방어 — 반론을 받아치고, 버티고, 딜을 닫는 표현들. (2/3)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773936"/>
            <a:ext cx="110455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버티고 조건 걸기 · Hold &amp; Trade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21671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firm on ~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25296" y="2505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~은 양보 못 한다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90488" y="2139696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firm on the MOQ, but flexible on delivery.”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to be firm on the price this time.”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stayed firm on their terms throughout.”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31363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going to fly.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25296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그건 좀 곤란합니다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3108960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30% cut? That's not going to fly, I'm afraid.”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“Net-90 terms just aren't going to fly on our end.”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they want free shipping too, that's not going to fly.”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86784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14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41056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contingent on ~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25296" y="4443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그건 ~을 전제로 합니다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4078224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price is contingent on a full-container order.”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 shipping is contingent on you covering customs clearance.”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“Everything we discussed is contingent on final approval.”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#68–70 · Close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설득 다음은 방어 — 반론을 받아치고, 버티고, 딜을 닫는 표현들. (3/3)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773936"/>
            <a:ext cx="110455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닫기 · Close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762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21671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shake on it.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25296" y="2505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이걸로 합의하죠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90488" y="2139696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that works for you, let's shake on it.”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“Same terms as last year — let's shake on it.”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“Good. Let's shake on it and get started.”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017520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25296" y="31363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draw up the paperwork.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25296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 준비하겠습니다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0488" y="3108960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— I'll draw up the paperwork this week.”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draw up the paperwork and send it over tomorrow.”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“Once you confirm, I'll draw up the paperwork.”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86784"/>
            <a:ext cx="11045586" cy="841248"/>
          </a:xfrm>
          <a:prstGeom prst="roundRect">
            <a:avLst>
              <a:gd name="adj" fmla="val 6522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114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25296" y="41056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sleep on it.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25296" y="4443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하룻밤 생각해보죠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4078224"/>
            <a:ext cx="523914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strong offer — let me sleep on it.”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rather not rush. Let me sleep on it.”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 day — let me sleep on it and I'll call you.”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45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ROLEPLAY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45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Toughest Buyer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455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Brian이 매 라운드 다른 반론을 던지는 까다로운 바이어를 연기합니다. #61–70으로 받아치며 딜을 지켜내세요.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583089" cy="3529584"/>
          </a:xfrm>
          <a:prstGeom prst="roundRect">
            <a:avLst>
              <a:gd name="adj" fmla="val 3186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03120"/>
            <a:ext cx="384048" cy="384048"/>
          </a:xfrm>
          <a:prstGeom prst="ellipse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103120"/>
            <a:ext cx="16686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" y="2651760"/>
            <a:ext cx="2144177" cy="841248"/>
          </a:xfrm>
          <a:prstGeom prst="roundRect">
            <a:avLst>
              <a:gd name="adj" fmla="val 5435"/>
            </a:avLst>
          </a:prstGeom>
          <a:solidFill>
            <a:srgbClr val="2438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24912"/>
            <a:ext cx="18515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Buyer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2688" y="2944368"/>
            <a:ext cx="185156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competitor quoted 20% lower.”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3621024"/>
            <a:ext cx="2144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경쟁사 저가 견적 → 가격을 가치로 되받기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6384" y="4151376"/>
            <a:ext cx="21441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86384" y="4370832"/>
            <a:ext cx="21441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come down to ~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You can't compare us like-for-like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7761" y="1920240"/>
            <a:ext cx="2583089" cy="3529584"/>
          </a:xfrm>
          <a:prstGeom prst="roundRect">
            <a:avLst>
              <a:gd name="adj" fmla="val 3186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7217" y="2103120"/>
            <a:ext cx="384048" cy="384048"/>
          </a:xfrm>
          <a:prstGeom prst="ellipse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7217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9281" y="2103120"/>
            <a:ext cx="16686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Push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07217" y="2651760"/>
            <a:ext cx="2144177" cy="841248"/>
          </a:xfrm>
          <a:prstGeom prst="roundRect">
            <a:avLst>
              <a:gd name="adj" fmla="val 5435"/>
            </a:avLst>
          </a:prstGeom>
          <a:solidFill>
            <a:srgbClr val="2438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3521" y="2724912"/>
            <a:ext cx="18515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Buyer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53521" y="2944368"/>
            <a:ext cx="185156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MOQ is way too high for us.”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07217" y="3621024"/>
            <a:ext cx="2144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최소주문량 부담 → 버티되 조건을 걸기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07217" y="4151376"/>
            <a:ext cx="21441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07217" y="4370832"/>
            <a:ext cx="21441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 firm on ~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That's contingent on ~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08593" y="1920240"/>
            <a:ext cx="2583089" cy="3529584"/>
          </a:xfrm>
          <a:prstGeom prst="roundRect">
            <a:avLst>
              <a:gd name="adj" fmla="val 3186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049" y="2103120"/>
            <a:ext cx="384048" cy="384048"/>
          </a:xfrm>
          <a:prstGeom prst="ellipse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049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113" y="2103120"/>
            <a:ext cx="16686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28049" y="2651760"/>
            <a:ext cx="2144177" cy="841248"/>
          </a:xfrm>
          <a:prstGeom prst="roundRect">
            <a:avLst>
              <a:gd name="adj" fmla="val 5435"/>
            </a:avLst>
          </a:prstGeom>
          <a:solidFill>
            <a:srgbClr val="2438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4353" y="2724912"/>
            <a:ext cx="18515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Buyer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74353" y="2944368"/>
            <a:ext cx="185156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need at least 30% off to move.”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28049" y="3621024"/>
            <a:ext cx="2144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무리한 할인 요구 → 선을 긋기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28049" y="4151376"/>
            <a:ext cx="21441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28049" y="4370832"/>
            <a:ext cx="21441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That's not going to fly.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We're open to ~ (Class 6)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29426" y="1920240"/>
            <a:ext cx="2583089" cy="3529584"/>
          </a:xfrm>
          <a:prstGeom prst="roundRect">
            <a:avLst>
              <a:gd name="adj" fmla="val 3186"/>
            </a:avLst>
          </a:prstGeom>
          <a:solidFill>
            <a:srgbClr val="2E3F5B"/>
          </a:solidFill>
          <a:ln w="12700">
            <a:solidFill>
              <a:srgbClr val="2E3F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48882" y="2103120"/>
            <a:ext cx="384048" cy="384048"/>
          </a:xfrm>
          <a:prstGeom prst="ellipse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4888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760946" y="2103120"/>
            <a:ext cx="16686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248882" y="2651760"/>
            <a:ext cx="2144177" cy="841248"/>
          </a:xfrm>
          <a:prstGeom prst="roundRect">
            <a:avLst>
              <a:gd name="adj" fmla="val 5435"/>
            </a:avLst>
          </a:prstGeom>
          <a:solidFill>
            <a:srgbClr val="24385B"/>
          </a:solidFill>
          <a:ln w="12700">
            <a:solidFill>
              <a:srgbClr val="3F5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95186" y="2724912"/>
            <a:ext cx="18515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 Buyer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395186" y="2944368"/>
            <a:ext cx="185156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“Alright... let's see where we land.”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48882" y="3621024"/>
            <a:ext cx="21441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합의 도출 → 딜을 닫거나, 시간을 벌기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248882" y="4151376"/>
            <a:ext cx="21441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248882" y="4370832"/>
            <a:ext cx="214417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Let's shake on it.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I'll draw up the paperwork.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Let me sleep on it.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596128"/>
            <a:ext cx="11045586" cy="640080"/>
          </a:xfrm>
          <a:prstGeom prst="roundRect">
            <a:avLst>
              <a:gd name="adj" fmla="val 8571"/>
            </a:avLst>
          </a:prstGeom>
          <a:solidFill>
            <a:srgbClr val="24385B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" y="5596128"/>
            <a:ext cx="104237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MISSION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깎지 말고 조건을 걸어라. 그냥 양보하면 실패 — 매 반론에 “trade, don't give”. 한 바퀴 후, 힌트 가리고 한 번 더.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" y="6437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869314" y="64373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2026-07-22T05:26:11Z</dcterms:created>
  <dcterms:modified xsi:type="dcterms:W3CDTF">2026-07-22T05:26:11Z</dcterms:modified>
</cp:coreProperties>
</file>