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827511B9-AB7E-40D2-A41F-5FD009A0BA6E}"/>
    <pc:docChg chg="undo custSel modSld">
      <pc:chgData name="Brian Kim" userId="bfb6c6aebdabc740" providerId="LiveId" clId="{827511B9-AB7E-40D2-A41F-5FD009A0BA6E}" dt="2026-09-16T10:15:14.690" v="95" actId="1036"/>
      <pc:docMkLst>
        <pc:docMk/>
      </pc:docMkLst>
      <pc:sldChg chg="modSp mod">
        <pc:chgData name="Brian Kim" userId="bfb6c6aebdabc740" providerId="LiveId" clId="{827511B9-AB7E-40D2-A41F-5FD009A0BA6E}" dt="2026-09-16T10:07:38.052" v="54" actId="1036"/>
        <pc:sldMkLst>
          <pc:docMk/>
          <pc:sldMk cId="0" sldId="258"/>
        </pc:sldMkLst>
        <pc:spChg chg="mod">
          <ac:chgData name="Brian Kim" userId="bfb6c6aebdabc740" providerId="LiveId" clId="{827511B9-AB7E-40D2-A41F-5FD009A0BA6E}" dt="2026-09-16T10:07:38.052" v="54" actId="103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Brian Kim" userId="bfb6c6aebdabc740" providerId="LiveId" clId="{827511B9-AB7E-40D2-A41F-5FD009A0BA6E}" dt="2026-09-16T10:07:38.052" v="54" actId="10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Brian Kim" userId="bfb6c6aebdabc740" providerId="LiveId" clId="{827511B9-AB7E-40D2-A41F-5FD009A0BA6E}" dt="2026-09-16T10:07:38.052" v="54" actId="103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Brian Kim" userId="bfb6c6aebdabc740" providerId="LiveId" clId="{827511B9-AB7E-40D2-A41F-5FD009A0BA6E}" dt="2026-09-16T10:07:38.052" v="54" actId="10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Brian Kim" userId="bfb6c6aebdabc740" providerId="LiveId" clId="{827511B9-AB7E-40D2-A41F-5FD009A0BA6E}" dt="2026-09-16T10:07:38.052" v="54" actId="1036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Brian Kim" userId="bfb6c6aebdabc740" providerId="LiveId" clId="{827511B9-AB7E-40D2-A41F-5FD009A0BA6E}" dt="2026-09-16T10:15:14.690" v="95" actId="1036"/>
        <pc:sldMkLst>
          <pc:docMk/>
          <pc:sldMk cId="0" sldId="259"/>
        </pc:sldMkLst>
        <pc:spChg chg="mod">
          <ac:chgData name="Brian Kim" userId="bfb6c6aebdabc740" providerId="LiveId" clId="{827511B9-AB7E-40D2-A41F-5FD009A0BA6E}" dt="2026-09-16T10:15:14.690" v="95" actId="10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Brian Kim" userId="bfb6c6aebdabc740" providerId="LiveId" clId="{827511B9-AB7E-40D2-A41F-5FD009A0BA6E}" dt="2026-09-16T10:15:14.690" v="95" actId="10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Brian Kim" userId="bfb6c6aebdabc740" providerId="LiveId" clId="{827511B9-AB7E-40D2-A41F-5FD009A0BA6E}" dt="2026-09-16T10:15:14.690" v="95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Brian Kim" userId="bfb6c6aebdabc740" providerId="LiveId" clId="{827511B9-AB7E-40D2-A41F-5FD009A0BA6E}" dt="2026-09-16T10:15:14.690" v="95" actId="103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Brian Kim" userId="bfb6c6aebdabc740" providerId="LiveId" clId="{827511B9-AB7E-40D2-A41F-5FD009A0BA6E}" dt="2026-09-16T10:15:14.690" v="95" actId="1036"/>
          <ac:spMkLst>
            <pc:docMk/>
            <pc:sldMk cId="0" sldId="259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52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LISA · CLASS 6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Interpreting at the Cellar Door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wineries you don't manage. You're the one who has to explain them.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BEFORE THEY ARRIVE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Night Before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want to know about each winery before you walk 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of the two do you know less about?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look up the night before?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words do you want ready?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want to know ~ before I go in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들어가기 전에 ~는 알고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know less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잘 몰라요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night before, I'd read up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전날 밤에 ~를 찾아볼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words I'd want ready are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미리 준비해둘 말은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I'd hate is being caught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곤란한 건 ~에서 막히는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over-prepare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차라리 과하게 준비하겠어요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uniform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dimension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CRAGGY RANGE · HAWKE'S BAY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Place and the Bottles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11월 10일 · 셀러도어 투어와 디너 · 11일 빈야드 방문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086600" cy="1348740"/>
          </a:xfrm>
          <a:prstGeom prst="roundRect">
            <a:avLst>
              <a:gd name="adj" fmla="val 542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6642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kind of soil is Gimblett Gravels, and why does it matter?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60120" y="1956816"/>
            <a:ext cx="64008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 defined vineyard district in Hawke's Bay — about 800 hectares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Exposed by a flood in 1876, when the Ngaruroro River changed course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Too poor to farm — nearly sold as a quarry (hence “The Quarry”)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Gravel holds the day's heat and releases it at night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why Bordeaux varieties and Syrah ripen there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012948"/>
            <a:ext cx="7086600" cy="955548"/>
          </a:xfrm>
          <a:prstGeom prst="roundRect">
            <a:avLst>
              <a:gd name="adj" fmla="val 765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1043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have three sites. What's grown where?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60120" y="3396996"/>
            <a:ext cx="6400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Gimblett Gravels, Hawke's Bay — Syrah, Bordeaux varieties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Te Muna Road, Martinborough — Pinot Noir, Sauvignon Blanc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Giants Estate, below Te Mata Peak — cellar door, restaurant, home base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7086600" cy="1348740"/>
          </a:xfrm>
          <a:prstGeom prst="roundRect">
            <a:avLst>
              <a:gd name="adj" fmla="val 542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 Sol, Sophia, The Quarry — what's in each bottle?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60120" y="4443984"/>
            <a:ext cx="64008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 Sol — Syrah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Sophia — Merlot-led Bordeaux blend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Quarry — Cabernet Sauvignon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Aroha — Martinborough Pinot Noir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Les Beaux Cailloux — Chardonnay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500116"/>
            <a:ext cx="7086600" cy="955548"/>
          </a:xfrm>
          <a:prstGeom prst="roundRect">
            <a:avLst>
              <a:gd name="adj" fmla="val 765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4672" y="55915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new chief winemaker took over. What would you want to hear from him?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5884164"/>
            <a:ext cx="6400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Ben Tombs, recently appointed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2024 was the 25th harvest and his first vintage there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question: what he kept, what he changed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863840" y="1572768"/>
            <a:ext cx="37764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9244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용어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092440" y="20116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vineyard district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포도밭 지구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gravel soil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자갈 토양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river terrace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하안 단구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single vineyard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싱글 빈야드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expression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떼루아 표현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vine age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수령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Bordeaux blend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보르도 블렌드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chief winemaker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수석 와인메이커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vintage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빈티지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63840" y="4343400"/>
            <a:ext cx="3776472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092440" y="4489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옮길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092440" y="478231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that means is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그러니까 ~라는 뜻이에요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reason they do that is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그렇게 하는 이유는 ~예요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a district, not a brand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브랜드가 아니라 지구 이름이에요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He's asking about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~에 대해 묻고 계세요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gives the wine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와인에 ~를 줘요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68945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지난주 단어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7388352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7388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dominate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773936" y="7388352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773936" y="7388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boundary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RAPAURA SPRINGS · MARLBOROUGH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Water and the Tiers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11월 12일 · 라파우라 방문, 테이스팅 및 디너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6642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does the water come from, and why does that make a difference?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60120" y="1956816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Snowmelt from the Southern Alps — the mountain range down the South Island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Runs down the Wairau, sinks into a deep aquifer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Surfaces as springs beside the vineyards about six months later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No irrigation needed — mineral-rich water arrives on its own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2907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makes Rapaura different from the rest of Marlborough?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60120" y="320040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Northwest of Blenheim, on deep gravel and sand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Warm, with low frost risk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Gives the benchmark Marlborough Sauvignon — citrus, tropical fruit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Renwick, just west, is cooler — better for Pinot and Chardonnay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ROHE?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60120" y="44439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 Māori word meaning region or boundary — not an abbreviation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Their sub-regional range: each wine from one part of Marlborough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Dillons Point, for example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 taste the sub-region, not a blend of the whole valley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4672" y="5394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Their premium range grew much faster. What would you ask about that?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5687568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Classic tier — up about 16% last year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ROHE and single vineyards — up 118%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Ask: can they supply that growth, and would they hold volume for Korea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Neylons farmed green-lipped mussels before buying vines in 1985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863840" y="1572768"/>
            <a:ext cx="37764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9244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용어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092440" y="20116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aquifer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대수층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snowmelt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눈 녹은 물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sub-region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소지역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frost risk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서리 위험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irrigation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관개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free-draining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배수가 잘 되는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tropical fruit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열대 과일 향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herbaceous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풀 향의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reserve tier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리저브 등급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63840" y="4343400"/>
            <a:ext cx="3776472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092440" y="4489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옮길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092440" y="478231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growth is at the premium end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성장은 프리미엄 쪽이에요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you supply that?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 물량이 가능할까요?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hold volume for ~?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~를 위해 물량을 잡아두실 수 있나요?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She'd like to know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~를 알고 싶어 하세요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put that back to him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그건 다시 여쭤볼게요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6848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지난주 단어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73426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7342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universal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865376" y="73426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865376" y="7342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successfully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THE WINERY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He Says It. You Explain It.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Brian이 와인메이커. 한 문장씩 던지면 Lisa가 풀어서 전달.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6642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“We hand-pick everything here — machines would break the bunches.”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60120" y="1956816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Bunches cut by hand, not machine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Slower and more expensive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 sort the fruit as you pick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Bunches arrive whole, not broken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7086600" cy="1152144"/>
          </a:xfrm>
          <a:prstGeom prst="roundRect">
            <a:avLst>
              <a:gd name="adj" fmla="val 634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2907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“It's all wild ferment — we don't inoculate.”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60120" y="320040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yeast already on the grapes starts the fermentation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No cultured yeast added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Less predictable, slower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add complexity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7086600" cy="955548"/>
          </a:xfrm>
          <a:prstGeom prst="roundRect">
            <a:avLst>
              <a:gd name="adj" fmla="val 765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“This one went through malo; the Sauvignon didn't.”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60120" y="4443984"/>
            <a:ext cx="6400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Malolactic fermentation converts sharp malic acid into softer lactic acid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Makes Chardonnay feel creamy instead of crisp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Usually blocked for Sauvignon Blanc, to keep the acidity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106924"/>
            <a:ext cx="7086600" cy="955548"/>
          </a:xfrm>
          <a:prstGeom prst="roundRect">
            <a:avLst>
              <a:gd name="adj" fmla="val 765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4672" y="51983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“Twenty percent new French oak, the rest is third and fourth fill.”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5490972"/>
            <a:ext cx="6400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New oak — vanilla, spice, tannin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Old oak (third, fourth fill) — lets the wine breathe, adds little flavour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D0B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Only a fifth of this wine saw new barrels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863840" y="1572768"/>
            <a:ext cx="37764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9244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TERMS · 용어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092440" y="20116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harvest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수확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hand-picked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손수확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destemming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제경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skin contact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침용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wild yeast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야생 효모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malolactic fermentation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젖산 발효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whole bunch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전송이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new oak / third fill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새 오크 / 3회차 통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racking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랙킹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yield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수율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63840" y="4343400"/>
            <a:ext cx="3776472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092440" y="4489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옮길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092440" y="478231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he means is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그러니까 ~라는 말씀이에요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other words,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다시 말하면 ~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reason is ~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이유는 ~예요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Sorry, could you say that again?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죄송해요, 다시 한 번요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check one word?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단어 하나만 확인해도 될까요?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1120</Words>
  <Application>Microsoft Office PowerPoint</Application>
  <PresentationFormat>와이드스크린</PresentationFormat>
  <Paragraphs>155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2026-09-16T02:46:46Z</dcterms:created>
  <dcterms:modified xsi:type="dcterms:W3CDTF">2026-09-16T11:56:04Z</dcterms:modified>
</cp:coreProperties>
</file>