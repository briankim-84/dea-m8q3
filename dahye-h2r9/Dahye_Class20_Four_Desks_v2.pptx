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54" autoAdjust="0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2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Kim" userId="bfb6c6aebdabc740" providerId="LiveId" clId="{F16F32AB-A938-46DA-934B-25C9DF0E2C6D}"/>
    <pc:docChg chg="custSel modSld">
      <pc:chgData name="Brian Kim" userId="bfb6c6aebdabc740" providerId="LiveId" clId="{F16F32AB-A938-46DA-934B-25C9DF0E2C6D}" dt="2026-10-08T02:59:31.007" v="4876" actId="20577"/>
      <pc:docMkLst>
        <pc:docMk/>
      </pc:docMkLst>
      <pc:sldChg chg="modSp mod">
        <pc:chgData name="Brian Kim" userId="bfb6c6aebdabc740" providerId="LiveId" clId="{F16F32AB-A938-46DA-934B-25C9DF0E2C6D}" dt="2026-10-08T02:14:22.636" v="584" actId="20577"/>
        <pc:sldMkLst>
          <pc:docMk/>
          <pc:sldMk cId="0" sldId="257"/>
        </pc:sldMkLst>
        <pc:spChg chg="mod">
          <ac:chgData name="Brian Kim" userId="bfb6c6aebdabc740" providerId="LiveId" clId="{F16F32AB-A938-46DA-934B-25C9DF0E2C6D}" dt="2026-10-08T02:14:22.636" v="584" actId="20577"/>
          <ac:spMkLst>
            <pc:docMk/>
            <pc:sldMk cId="0" sldId="257"/>
            <ac:spMk id="16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25:28.278" v="898" actId="20577"/>
        <pc:sldMkLst>
          <pc:docMk/>
          <pc:sldMk cId="0" sldId="258"/>
        </pc:sldMkLst>
        <pc:spChg chg="mod">
          <ac:chgData name="Brian Kim" userId="bfb6c6aebdabc740" providerId="LiveId" clId="{F16F32AB-A938-46DA-934B-25C9DF0E2C6D}" dt="2026-10-08T02:25:28.278" v="898" actId="20577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32:03.740" v="1584" actId="20577"/>
        <pc:sldMkLst>
          <pc:docMk/>
          <pc:sldMk cId="0" sldId="259"/>
        </pc:sldMkLst>
        <pc:spChg chg="mod">
          <ac:chgData name="Brian Kim" userId="bfb6c6aebdabc740" providerId="LiveId" clId="{F16F32AB-A938-46DA-934B-25C9DF0E2C6D}" dt="2026-10-08T02:32:03.740" v="1584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38:56.469" v="1945" actId="20577"/>
        <pc:sldMkLst>
          <pc:docMk/>
          <pc:sldMk cId="0" sldId="260"/>
        </pc:sldMkLst>
        <pc:spChg chg="mod">
          <ac:chgData name="Brian Kim" userId="bfb6c6aebdabc740" providerId="LiveId" clId="{F16F32AB-A938-46DA-934B-25C9DF0E2C6D}" dt="2026-10-08T02:38:56.469" v="1945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40:52.969" v="2191" actId="20577"/>
        <pc:sldMkLst>
          <pc:docMk/>
          <pc:sldMk cId="0" sldId="261"/>
        </pc:sldMkLst>
        <pc:spChg chg="mod">
          <ac:chgData name="Brian Kim" userId="bfb6c6aebdabc740" providerId="LiveId" clId="{F16F32AB-A938-46DA-934B-25C9DF0E2C6D}" dt="2026-10-08T02:40:52.969" v="2191" actId="20577"/>
          <ac:spMkLst>
            <pc:docMk/>
            <pc:sldMk cId="0" sldId="261"/>
            <ac:spMk id="13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42:11.822" v="2435" actId="20577"/>
        <pc:sldMkLst>
          <pc:docMk/>
          <pc:sldMk cId="0" sldId="262"/>
        </pc:sldMkLst>
        <pc:spChg chg="mod">
          <ac:chgData name="Brian Kim" userId="bfb6c6aebdabc740" providerId="LiveId" clId="{F16F32AB-A938-46DA-934B-25C9DF0E2C6D}" dt="2026-10-08T02:42:11.822" v="2435" actId="20577"/>
          <ac:spMkLst>
            <pc:docMk/>
            <pc:sldMk cId="0" sldId="262"/>
            <ac:spMk id="13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46:53.469" v="3179" actId="20577"/>
        <pc:sldMkLst>
          <pc:docMk/>
          <pc:sldMk cId="0" sldId="263"/>
        </pc:sldMkLst>
        <pc:spChg chg="mod">
          <ac:chgData name="Brian Kim" userId="bfb6c6aebdabc740" providerId="LiveId" clId="{F16F32AB-A938-46DA-934B-25C9DF0E2C6D}" dt="2026-10-08T02:46:53.469" v="3179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49:33.136" v="3676" actId="20577"/>
        <pc:sldMkLst>
          <pc:docMk/>
          <pc:sldMk cId="0" sldId="264"/>
        </pc:sldMkLst>
        <pc:spChg chg="mod">
          <ac:chgData name="Brian Kim" userId="bfb6c6aebdabc740" providerId="LiveId" clId="{F16F32AB-A938-46DA-934B-25C9DF0E2C6D}" dt="2026-10-08T02:49:33.136" v="3676" actId="20577"/>
          <ac:spMkLst>
            <pc:docMk/>
            <pc:sldMk cId="0" sldId="264"/>
            <ac:spMk id="13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54:46.198" v="4244" actId="20577"/>
        <pc:sldMkLst>
          <pc:docMk/>
          <pc:sldMk cId="0" sldId="265"/>
        </pc:sldMkLst>
        <pc:spChg chg="mod">
          <ac:chgData name="Brian Kim" userId="bfb6c6aebdabc740" providerId="LiveId" clId="{F16F32AB-A938-46DA-934B-25C9DF0E2C6D}" dt="2026-10-08T02:54:46.198" v="4244" actId="20577"/>
          <ac:spMkLst>
            <pc:docMk/>
            <pc:sldMk cId="0" sldId="265"/>
            <ac:spMk id="13" creationId="{00000000-0000-0000-0000-000000000000}"/>
          </ac:spMkLst>
        </pc:spChg>
      </pc:sldChg>
      <pc:sldChg chg="modSp mod">
        <pc:chgData name="Brian Kim" userId="bfb6c6aebdabc740" providerId="LiveId" clId="{F16F32AB-A938-46DA-934B-25C9DF0E2C6D}" dt="2026-10-08T02:59:31.007" v="4876" actId="20577"/>
        <pc:sldMkLst>
          <pc:docMk/>
          <pc:sldMk cId="0" sldId="267"/>
        </pc:sldMkLst>
        <pc:spChg chg="mod">
          <ac:chgData name="Brian Kim" userId="bfb6c6aebdabc740" providerId="LiveId" clId="{F16F32AB-A938-46DA-934B-25C9DF0E2C6D}" dt="2026-10-08T02:59:31.007" v="4876" actId="20577"/>
          <ac:spMkLst>
            <pc:docMk/>
            <pc:sldMk cId="0" sldId="267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443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· CLASS 20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Desks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first. Then a mom walks in without an appointment. Then four emails land in your inbox.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E7F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 ·  1 /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23774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ANSWER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~ / I had ~      It was ~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you do after our last class?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were you with?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35000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straight home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26664" y="1965960"/>
            <a:ext cx="224485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1965960"/>
            <a:ext cx="22448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dinner with ~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99532" y="1965960"/>
            <a:ext cx="192938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99532" y="196596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up late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6932" y="1965960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6932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so tired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went straight hone.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had dinner with my husband.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And I rested.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(What did you do yesterday?)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went to meet friend.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drank coffee and had a chat.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Recently, I meet often 4 people.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am weird. Sometimes, high school contacts me and I avoid. I feel uncomfortable.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am not sure why. I am really not an usual person. I feel this way.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 ·  2 /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23774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ANSWER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~ / I had ~      It was ~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you go anywhere this week?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was it?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4036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1403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to ~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80260" y="1965960"/>
            <a:ext cx="161391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80260" y="196596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home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22192" y="1965960"/>
            <a:ext cx="171907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22192" y="1965960"/>
            <a:ext cx="1719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a friend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965960"/>
            <a:ext cx="213969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0" y="1965960"/>
            <a:ext cx="21396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some errands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went to the bank. And my dog’s hospital. I went to see a vet.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went to </a:t>
            </a:r>
            <a:r>
              <a:rPr lang="en-US" sz="1600" dirty="0" err="1">
                <a:solidFill>
                  <a:schemeClr val="bg1"/>
                </a:solidFill>
              </a:rPr>
              <a:t>Euiwang</a:t>
            </a:r>
            <a:r>
              <a:rPr lang="en-US" sz="1600" dirty="0">
                <a:solidFill>
                  <a:schemeClr val="bg1"/>
                </a:solidFill>
              </a:rPr>
              <a:t> and met my friend.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(Did you drive to </a:t>
            </a:r>
            <a:r>
              <a:rPr lang="en-US" sz="1600" dirty="0" err="1">
                <a:solidFill>
                  <a:schemeClr val="bg1"/>
                </a:solidFill>
              </a:rPr>
              <a:t>Euiwang</a:t>
            </a:r>
            <a:r>
              <a:rPr lang="en-US" sz="1600" dirty="0">
                <a:solidFill>
                  <a:schemeClr val="bg1"/>
                </a:solidFill>
              </a:rPr>
              <a:t>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always drive.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often go there.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TALK  ·  3 /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0" y="237744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ANSWER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went to ~ / I had ~      It was ~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your plan for this weekend?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THEN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something you do often?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92938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65960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going to ~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1965960"/>
            <a:ext cx="245516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965960"/>
            <a:ext cx="24551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planned yet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89220" y="1965960"/>
            <a:ext cx="119329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89220" y="1965960"/>
            <a:ext cx="11932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~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10528" y="1965960"/>
            <a:ext cx="27706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0528" y="1965960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weather is nice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have nothing planned yet.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Now, my mom told me stop coming.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Maybe, I will stay home. Do nothing.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It’s not fun to keep resting.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like work and home and work and home.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like this routine.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Rest but you get KRW 1,500,000 vs. work 8am to 8pm very busy KRW 6,000,000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At the moment, I will choose the second one.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I can’t play and rest. I don’t know how to play and to rest.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VENUE · FIRST BIRTHDAY  ·  1 /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Hi, can I see the hall now? I didn't make an appointment.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will it take?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52704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course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03704" y="1965960"/>
            <a:ext cx="152704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03704" y="1965960"/>
            <a:ext cx="15270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58768" y="1965960"/>
            <a:ext cx="176479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58768" y="1965960"/>
            <a:ext cx="1764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That’s fine.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When is the date? / has the date been fixed? / Do you have a schedule? / Do you have date in mind?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(Yes. In 3 weeks.)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However, we have minimum 30 people. Is that okay?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(Yes. 30 people is fine.)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Okay. Let me explain at the office. This way please.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VENUE · FIRST BIRTHDAY  ·  2 /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okay for babies and strollers? Several of my friends have little ones.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 elevator?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stroller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084832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84832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21024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21024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Of course. You can bring strollers.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No problem. No restriction.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(Is there an elevator?)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What kind of question is that?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Of course. We have 4 elevators. You can use the elevator.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Enough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VENUE · FIRST BIRTHDAY  ·  3 /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want a short ceremony on the stage. Is that possible?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have a mic?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81381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813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70048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You can use ceremony on the stage in front of the hall.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a mic and big screen. Let me show you the hall. And I will show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VENUE · FIRST BIRTHDAY  ·  4 /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you have a kids' menu or high chairs?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do you need?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kids' menu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22576" y="1965960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22576" y="19659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chair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96512" y="196596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96512" y="1965960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don’t have kid’s menu.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Only 1 menu.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high chairs. No restriction. You ask for the event hall and our banquet team will prepare few on the day.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Our banquet will help you on the day.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(Does kid gets charged?)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Doesn’t matter between kids and adults, only main steak plates will be counted.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(So if kids don’t take steak then no charge?)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That’s correct. For example, kids with mom eat together. You just pay 1 person fee.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To explain simple, you just pay per course menu.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VENUE · FIRST BIRTHDAY  ·  5 /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bring our own balloons and decorations? And can we use the entire hall?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can we come in to set up?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28216" y="1965960"/>
            <a:ext cx="117043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28216" y="1965960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212140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2121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~ o'clock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We have only inclusive package.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30 people package and 50 people package.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(If I choose 30 people package, what is included?)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First, room rental fee and 30 people course menu and birthday table and the host and mom and dad’s makeup.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Last, baby video.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(That’s all included?)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Yes. It will be comfortable for you.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VENUE · FIRST BIRTHDAY  ·  6 /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 book today, how much is the deposit?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ASKS  </a:t>
            </a:r>
            <a:r>
              <a:rPr lang="en-US" sz="1700" i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pay by card?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65960" y="1965960"/>
            <a:ext cx="93268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65960" y="1965960"/>
            <a:ext cx="932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026664" y="1965960"/>
            <a:ext cx="12893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26664" y="1965960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1672" cy="3886200"/>
          </a:xfrm>
          <a:prstGeom prst="roundRect">
            <a:avLst>
              <a:gd name="adj" fmla="val 1882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651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SAYS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44368"/>
            <a:ext cx="1060704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Deposit is KRW 500,000.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(How much is the total?)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30 people package fee is KRW 5,400,000. You can pay by credit card or bank transfer.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1,000,000 = million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1,000 = 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86,000 -&gt; eighty six 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8,600 -&gt; eight point six K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7,600,000 -&gt; seven point six million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45,000,000 -&gt; forty five million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55,400,000 -&gt; fifty five point four million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 Then I will make a contract. I will be right back. Thank you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THE SAME FIVE LINES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emails. Same shape. Different middle.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53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GREET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09344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Ms. ~, / Hi ~,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~님께 / 안녕하세요 ~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67712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340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THANK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968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email.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메일 주셔서 감사합니다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55264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B2E4A"/>
          </a:solidFill>
          <a:ln w="12700">
            <a:solidFill>
              <a:srgbClr val="C9A4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284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ANSWER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84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~ is available.  ·  The rate is ~ won per person.  ·  Let me check and get back to you.  ·  I'm sorry about ~.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네, ~ 가능해요 · 1인당 ~원이에요 · 확인하고 다시 연락드릴게요 · ~는 죄송해요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242816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ASK BACK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let us know ~?  ·  Would you like to come and see the hall?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~를 알려주시겠어요? · 홀을 보러 오시겠어요?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30368"/>
            <a:ext cx="11091672" cy="896112"/>
          </a:xfrm>
          <a:prstGeom prst="roundRect">
            <a:avLst>
              <a:gd name="adj" fmla="val 8163"/>
            </a:avLst>
          </a:prstGeom>
          <a:solidFill>
            <a:srgbClr val="16273F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303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CLOSE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55955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attached ~.  ·  Please feel free to call me.  ·  Best regards, Dahye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첨부했어요 · 편하게 전화 주세요 · Dahye 드림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1 / 4  ·  A QUESTION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120640" cy="5806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Jiyoung Park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birthday party – November 15?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466344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663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Dahye,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showing me the hall today.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Saturday, November 15 available for lunch? We expect about 50 adults and 10 children.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also send me a quote? I'd like to mention it to my husband tonight.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Jiyoung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658368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658368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4596" y="658368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4596" y="658368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5592" y="658368"/>
            <a:ext cx="203454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5592" y="658368"/>
            <a:ext cx="2034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/ no + 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133856"/>
            <a:ext cx="203454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133856"/>
            <a:ext cx="20345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per person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6156" y="1133856"/>
            <a:ext cx="192938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06156" y="1133856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attached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5696712" cy="4754880"/>
          </a:xfrm>
          <a:prstGeom prst="roundRect">
            <a:avLst>
              <a:gd name="adj" fmla="val 1538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WRITES BACK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075688"/>
            <a:ext cx="52578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Dear </a:t>
            </a:r>
            <a:r>
              <a:rPr lang="en-US" sz="1400" dirty="0" err="1">
                <a:solidFill>
                  <a:schemeClr val="bg1"/>
                </a:solidFill>
              </a:rPr>
              <a:t>Jiyoung</a:t>
            </a:r>
            <a:r>
              <a:rPr lang="en-US" sz="1400" dirty="0">
                <a:solidFill>
                  <a:schemeClr val="bg1"/>
                </a:solidFill>
              </a:rPr>
              <a:t>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Thanks for your e-mail.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Let me answer your questions.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Saturday, November 15 is available at 12pm.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You can choose 50 people inclusive package.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Only 50 people adult and extra charges for 10 children.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I will attach the quote and event hall photos and menu brochure.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Please let me know if you need anything else.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Thank you.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Best regards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 err="1">
                <a:solidFill>
                  <a:schemeClr val="bg1"/>
                </a:solidFill>
              </a:rPr>
              <a:t>Dahye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2 / 4  ·  A QUOTE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120640" cy="5806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Minho Lee, Daeil Trading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lunch for 20 people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466344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663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Dahye,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 small company in the area. We're planning a half-day workshop on Friday, October 24, and we need lunch for 20 people and a projector.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rate per person, and is the projector included?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658368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658368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4596" y="658368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4596" y="658368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65592" y="658368"/>
            <a:ext cx="87782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65592" y="658368"/>
            <a:ext cx="877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71432" y="658368"/>
            <a:ext cx="192938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71432" y="658368"/>
            <a:ext cx="19293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projector: yes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0" y="1133856"/>
            <a:ext cx="182422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1133856"/>
            <a:ext cx="1824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and see?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5696712" cy="4754880"/>
          </a:xfrm>
          <a:prstGeom prst="roundRect">
            <a:avLst>
              <a:gd name="adj" fmla="val 1538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WRITES BACK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075688"/>
            <a:ext cx="52578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3 / 4  ·  A CHANGE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120640" cy="5806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Jiyoung Park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Re: First birthday party – a change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466344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663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Dahye,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the quote.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we move the party to Saturday, December 6? And the number has gone up to 45 adults and 15 children.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still okay?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Jiyoung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658368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658368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4596" y="658368"/>
            <a:ext cx="235000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4596" y="658368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check / yes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532620" y="658368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32620" y="658368"/>
            <a:ext cx="1298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133856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13385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number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0376" y="1133856"/>
            <a:ext cx="1403604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0376" y="1133856"/>
            <a:ext cx="14036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5696712" cy="4754880"/>
          </a:xfrm>
          <a:prstGeom prst="roundRect">
            <a:avLst>
              <a:gd name="adj" fmla="val 1538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WRITES BACK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075688"/>
            <a:ext cx="52578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EMAIL  ·  4 / 4  ·  A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640080"/>
            <a:ext cx="5120640" cy="5806440"/>
          </a:xfrm>
          <a:prstGeom prst="roundRect">
            <a:avLst>
              <a:gd name="adj" fmla="val 1429"/>
            </a:avLst>
          </a:prstGeom>
          <a:solidFill>
            <a:srgbClr val="F4F1EA"/>
          </a:solidFill>
          <a:ln w="12700">
            <a:solidFill>
              <a:srgbClr val="D8D2C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777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Minho Lee, Daeil Trading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amount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4663440" cy="0"/>
          </a:xfrm>
          <a:prstGeom prst="line">
            <a:avLst/>
          </a:prstGeom>
          <a:noFill/>
          <a:ln w="12700">
            <a:solidFill>
              <a:srgbClr val="D8D2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463040"/>
            <a:ext cx="46634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Dahye,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received the invoice for last Friday's workshop.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is higher than the quote you sent us. The quote said 35,000 won per person, but the invoice says 38,000.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check this for us?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0" y="658368"/>
            <a:ext cx="98298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658368"/>
            <a:ext cx="9829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54596" y="658368"/>
            <a:ext cx="1824228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4596" y="658368"/>
            <a:ext cx="1824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 about ~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06840" y="658368"/>
            <a:ext cx="1508760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06840" y="65836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check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1133856"/>
            <a:ext cx="1613916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1133856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invoice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5532" y="1133856"/>
            <a:ext cx="1193292" cy="420624"/>
          </a:xfrm>
          <a:prstGeom prst="roundRect">
            <a:avLst>
              <a:gd name="adj" fmla="val 50000"/>
            </a:avLst>
          </a:prstGeom>
          <a:solidFill>
            <a:srgbClr val="0C1A31"/>
          </a:solidFill>
          <a:ln w="15875">
            <a:solidFill>
              <a:srgbClr val="C9A4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5532" y="1133856"/>
            <a:ext cx="11932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C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691640"/>
            <a:ext cx="5696712" cy="4754880"/>
          </a:xfrm>
          <a:prstGeom prst="roundRect">
            <a:avLst>
              <a:gd name="adj" fmla="val 1538"/>
            </a:avLst>
          </a:prstGeom>
          <a:solidFill>
            <a:srgbClr val="1B2E4A"/>
          </a:solidFill>
          <a:ln w="12700">
            <a:solidFill>
              <a:srgbClr val="2237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72200" y="1783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DAHYE WRITES BACK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075688"/>
            <a:ext cx="5257800" cy="4251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1596</Words>
  <Application>Microsoft Office PowerPoint</Application>
  <PresentationFormat>와이드스크린</PresentationFormat>
  <Paragraphs>264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Brian Kim</cp:lastModifiedBy>
  <cp:revision>7</cp:revision>
  <dcterms:created xsi:type="dcterms:W3CDTF">2026-10-08T00:43:43Z</dcterms:created>
  <dcterms:modified xsi:type="dcterms:W3CDTF">2026-10-08T07:17:23Z</dcterms:modified>
</cp:coreProperties>
</file>