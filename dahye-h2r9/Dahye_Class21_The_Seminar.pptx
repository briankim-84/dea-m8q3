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754" autoAdjust="0"/>
    <p:restoredTop sz="94610"/>
  </p:normalViewPr>
  <p:slideViewPr>
    <p:cSldViewPr snapToGrid="0" snapToObjects="1">
      <p:cViewPr varScale="1">
        <p:scale>
          <a:sx n="84" d="100"/>
          <a:sy n="84" d="100"/>
        </p:scale>
        <p:origin x="12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Kim" userId="bfb6c6aebdabc740" providerId="LiveId" clId="{938FF28A-DFA1-4F6A-A717-AAECC0F8BD54}"/>
    <pc:docChg chg="custSel modSld">
      <pc:chgData name="Brian Kim" userId="bfb6c6aebdabc740" providerId="LiveId" clId="{938FF28A-DFA1-4F6A-A717-AAECC0F8BD54}" dt="2026-10-12T03:17:03.923" v="6549" actId="20577"/>
      <pc:docMkLst>
        <pc:docMk/>
      </pc:docMkLst>
      <pc:sldChg chg="modSp mod">
        <pc:chgData name="Brian Kim" userId="bfb6c6aebdabc740" providerId="LiveId" clId="{938FF28A-DFA1-4F6A-A717-AAECC0F8BD54}" dt="2026-10-12T02:25:23.228" v="305" actId="20577"/>
        <pc:sldMkLst>
          <pc:docMk/>
          <pc:sldMk cId="0" sldId="257"/>
        </pc:sldMkLst>
        <pc:spChg chg="mod">
          <ac:chgData name="Brian Kim" userId="bfb6c6aebdabc740" providerId="LiveId" clId="{938FF28A-DFA1-4F6A-A717-AAECC0F8BD54}" dt="2026-10-12T02:25:23.228" v="305" actId="20577"/>
          <ac:spMkLst>
            <pc:docMk/>
            <pc:sldMk cId="0" sldId="257"/>
            <ac:spMk id="16" creationId="{00000000-0000-0000-0000-000000000000}"/>
          </ac:spMkLst>
        </pc:spChg>
      </pc:sldChg>
      <pc:sldChg chg="modSp mod">
        <pc:chgData name="Brian Kim" userId="bfb6c6aebdabc740" providerId="LiveId" clId="{938FF28A-DFA1-4F6A-A717-AAECC0F8BD54}" dt="2026-10-12T02:32:50.104" v="1133" actId="20577"/>
        <pc:sldMkLst>
          <pc:docMk/>
          <pc:sldMk cId="0" sldId="258"/>
        </pc:sldMkLst>
        <pc:spChg chg="mod">
          <ac:chgData name="Brian Kim" userId="bfb6c6aebdabc740" providerId="LiveId" clId="{938FF28A-DFA1-4F6A-A717-AAECC0F8BD54}" dt="2026-10-12T02:32:50.104" v="1133" actId="20577"/>
          <ac:spMkLst>
            <pc:docMk/>
            <pc:sldMk cId="0" sldId="258"/>
            <ac:spMk id="16" creationId="{00000000-0000-0000-0000-000000000000}"/>
          </ac:spMkLst>
        </pc:spChg>
      </pc:sldChg>
      <pc:sldChg chg="modSp mod">
        <pc:chgData name="Brian Kim" userId="bfb6c6aebdabc740" providerId="LiveId" clId="{938FF28A-DFA1-4F6A-A717-AAECC0F8BD54}" dt="2026-10-12T02:36:25.890" v="1473" actId="20577"/>
        <pc:sldMkLst>
          <pc:docMk/>
          <pc:sldMk cId="0" sldId="259"/>
        </pc:sldMkLst>
        <pc:spChg chg="mod">
          <ac:chgData name="Brian Kim" userId="bfb6c6aebdabc740" providerId="LiveId" clId="{938FF28A-DFA1-4F6A-A717-AAECC0F8BD54}" dt="2026-10-12T02:36:25.890" v="1473" actId="20577"/>
          <ac:spMkLst>
            <pc:docMk/>
            <pc:sldMk cId="0" sldId="259"/>
            <ac:spMk id="16" creationId="{00000000-0000-0000-0000-000000000000}"/>
          </ac:spMkLst>
        </pc:spChg>
      </pc:sldChg>
      <pc:sldChg chg="modSp mod">
        <pc:chgData name="Brian Kim" userId="bfb6c6aebdabc740" providerId="LiveId" clId="{938FF28A-DFA1-4F6A-A717-AAECC0F8BD54}" dt="2026-10-12T02:40:28.581" v="1742" actId="20577"/>
        <pc:sldMkLst>
          <pc:docMk/>
          <pc:sldMk cId="0" sldId="260"/>
        </pc:sldMkLst>
        <pc:spChg chg="mod">
          <ac:chgData name="Brian Kim" userId="bfb6c6aebdabc740" providerId="LiveId" clId="{938FF28A-DFA1-4F6A-A717-AAECC0F8BD54}" dt="2026-10-12T02:40:28.581" v="1742" actId="20577"/>
          <ac:spMkLst>
            <pc:docMk/>
            <pc:sldMk cId="0" sldId="260"/>
            <ac:spMk id="16" creationId="{00000000-0000-0000-0000-000000000000}"/>
          </ac:spMkLst>
        </pc:spChg>
      </pc:sldChg>
      <pc:sldChg chg="modSp mod">
        <pc:chgData name="Brian Kim" userId="bfb6c6aebdabc740" providerId="LiveId" clId="{938FF28A-DFA1-4F6A-A717-AAECC0F8BD54}" dt="2026-10-12T02:45:51.543" v="2198" actId="20577"/>
        <pc:sldMkLst>
          <pc:docMk/>
          <pc:sldMk cId="0" sldId="261"/>
        </pc:sldMkLst>
        <pc:spChg chg="mod">
          <ac:chgData name="Brian Kim" userId="bfb6c6aebdabc740" providerId="LiveId" clId="{938FF28A-DFA1-4F6A-A717-AAECC0F8BD54}" dt="2026-10-12T02:45:51.543" v="2198" actId="20577"/>
          <ac:spMkLst>
            <pc:docMk/>
            <pc:sldMk cId="0" sldId="261"/>
            <ac:spMk id="16" creationId="{00000000-0000-0000-0000-000000000000}"/>
          </ac:spMkLst>
        </pc:spChg>
      </pc:sldChg>
      <pc:sldChg chg="modSp mod">
        <pc:chgData name="Brian Kim" userId="bfb6c6aebdabc740" providerId="LiveId" clId="{938FF28A-DFA1-4F6A-A717-AAECC0F8BD54}" dt="2026-10-12T02:49:38.664" v="2630" actId="20577"/>
        <pc:sldMkLst>
          <pc:docMk/>
          <pc:sldMk cId="0" sldId="262"/>
        </pc:sldMkLst>
        <pc:spChg chg="mod">
          <ac:chgData name="Brian Kim" userId="bfb6c6aebdabc740" providerId="LiveId" clId="{938FF28A-DFA1-4F6A-A717-AAECC0F8BD54}" dt="2026-10-12T02:49:38.664" v="2630" actId="20577"/>
          <ac:spMkLst>
            <pc:docMk/>
            <pc:sldMk cId="0" sldId="262"/>
            <ac:spMk id="16" creationId="{00000000-0000-0000-0000-000000000000}"/>
          </ac:spMkLst>
        </pc:spChg>
      </pc:sldChg>
      <pc:sldChg chg="modSp mod">
        <pc:chgData name="Brian Kim" userId="bfb6c6aebdabc740" providerId="LiveId" clId="{938FF28A-DFA1-4F6A-A717-AAECC0F8BD54}" dt="2026-10-12T02:55:45.992" v="3420" actId="20577"/>
        <pc:sldMkLst>
          <pc:docMk/>
          <pc:sldMk cId="0" sldId="263"/>
        </pc:sldMkLst>
        <pc:spChg chg="mod">
          <ac:chgData name="Brian Kim" userId="bfb6c6aebdabc740" providerId="LiveId" clId="{938FF28A-DFA1-4F6A-A717-AAECC0F8BD54}" dt="2026-10-12T02:55:45.992" v="3420" actId="20577"/>
          <ac:spMkLst>
            <pc:docMk/>
            <pc:sldMk cId="0" sldId="263"/>
            <ac:spMk id="15" creationId="{00000000-0000-0000-0000-000000000000}"/>
          </ac:spMkLst>
        </pc:spChg>
      </pc:sldChg>
      <pc:sldChg chg="modSp mod">
        <pc:chgData name="Brian Kim" userId="bfb6c6aebdabc740" providerId="LiveId" clId="{938FF28A-DFA1-4F6A-A717-AAECC0F8BD54}" dt="2026-10-12T03:02:21.362" v="4565" actId="20577"/>
        <pc:sldMkLst>
          <pc:docMk/>
          <pc:sldMk cId="0" sldId="264"/>
        </pc:sldMkLst>
        <pc:spChg chg="mod">
          <ac:chgData name="Brian Kim" userId="bfb6c6aebdabc740" providerId="LiveId" clId="{938FF28A-DFA1-4F6A-A717-AAECC0F8BD54}" dt="2026-10-12T03:02:21.362" v="4565" actId="20577"/>
          <ac:spMkLst>
            <pc:docMk/>
            <pc:sldMk cId="0" sldId="264"/>
            <ac:spMk id="15" creationId="{00000000-0000-0000-0000-000000000000}"/>
          </ac:spMkLst>
        </pc:spChg>
      </pc:sldChg>
      <pc:sldChg chg="modSp mod">
        <pc:chgData name="Brian Kim" userId="bfb6c6aebdabc740" providerId="LiveId" clId="{938FF28A-DFA1-4F6A-A717-AAECC0F8BD54}" dt="2026-10-12T03:07:09.266" v="5185" actId="20577"/>
        <pc:sldMkLst>
          <pc:docMk/>
          <pc:sldMk cId="0" sldId="265"/>
        </pc:sldMkLst>
        <pc:spChg chg="mod">
          <ac:chgData name="Brian Kim" userId="bfb6c6aebdabc740" providerId="LiveId" clId="{938FF28A-DFA1-4F6A-A717-AAECC0F8BD54}" dt="2026-10-12T03:07:09.266" v="5185" actId="20577"/>
          <ac:spMkLst>
            <pc:docMk/>
            <pc:sldMk cId="0" sldId="265"/>
            <ac:spMk id="15" creationId="{00000000-0000-0000-0000-000000000000}"/>
          </ac:spMkLst>
        </pc:spChg>
      </pc:sldChg>
      <pc:sldChg chg="modSp mod">
        <pc:chgData name="Brian Kim" userId="bfb6c6aebdabc740" providerId="LiveId" clId="{938FF28A-DFA1-4F6A-A717-AAECC0F8BD54}" dt="2026-10-12T03:13:24.613" v="6088" actId="20577"/>
        <pc:sldMkLst>
          <pc:docMk/>
          <pc:sldMk cId="0" sldId="266"/>
        </pc:sldMkLst>
        <pc:spChg chg="mod">
          <ac:chgData name="Brian Kim" userId="bfb6c6aebdabc740" providerId="LiveId" clId="{938FF28A-DFA1-4F6A-A717-AAECC0F8BD54}" dt="2026-10-12T03:13:24.613" v="6088" actId="20577"/>
          <ac:spMkLst>
            <pc:docMk/>
            <pc:sldMk cId="0" sldId="266"/>
            <ac:spMk id="15" creationId="{00000000-0000-0000-0000-000000000000}"/>
          </ac:spMkLst>
        </pc:spChg>
      </pc:sldChg>
      <pc:sldChg chg="modSp mod">
        <pc:chgData name="Brian Kim" userId="bfb6c6aebdabc740" providerId="LiveId" clId="{938FF28A-DFA1-4F6A-A717-AAECC0F8BD54}" dt="2026-10-12T03:17:03.923" v="6549" actId="20577"/>
        <pc:sldMkLst>
          <pc:docMk/>
          <pc:sldMk cId="0" sldId="267"/>
        </pc:sldMkLst>
        <pc:spChg chg="mod">
          <ac:chgData name="Brian Kim" userId="bfb6c6aebdabc740" providerId="LiveId" clId="{938FF28A-DFA1-4F6A-A717-AAECC0F8BD54}" dt="2026-10-12T03:17:03.923" v="6549" actId="20577"/>
          <ac:spMkLst>
            <pc:docMk/>
            <pc:sldMk cId="0" sldId="267"/>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44476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822960" y="2011680"/>
            <a:ext cx="10515600" cy="365760"/>
          </a:xfrm>
          <a:prstGeom prst="rect">
            <a:avLst/>
          </a:prstGeom>
          <a:noFill/>
          <a:ln/>
        </p:spPr>
        <p:txBody>
          <a:bodyPr wrap="square" lIns="0" tIns="0" rIns="0" bIns="0" rtlCol="0" anchor="ctr">
            <a:normAutofit/>
          </a:bodyPr>
          <a:lstStyle/>
          <a:p>
            <a:pPr marL="0" indent="0">
              <a:buNone/>
            </a:pPr>
            <a:r>
              <a:rPr lang="en-US" sz="1600" b="1" kern="0" spc="400" dirty="0">
                <a:solidFill>
                  <a:srgbClr val="C9A432"/>
                </a:solidFill>
                <a:latin typeface="Calibri" pitchFamily="34" charset="0"/>
                <a:ea typeface="Calibri" pitchFamily="34" charset="-122"/>
                <a:cs typeface="Calibri" pitchFamily="34" charset="-120"/>
              </a:rPr>
              <a:t>DAHYE · CLASS 21</a:t>
            </a:r>
            <a:endParaRPr lang="en-US" sz="1600" dirty="0"/>
          </a:p>
        </p:txBody>
      </p:sp>
      <p:sp>
        <p:nvSpPr>
          <p:cNvPr id="3" name="Text 1"/>
          <p:cNvSpPr txBox="1"/>
          <p:nvPr/>
        </p:nvSpPr>
        <p:spPr>
          <a:xfrm>
            <a:off x="822960" y="2423160"/>
            <a:ext cx="10515600" cy="1051560"/>
          </a:xfrm>
          <a:prstGeom prst="rect">
            <a:avLst/>
          </a:prstGeom>
          <a:noFill/>
          <a:ln/>
        </p:spPr>
        <p:txBody>
          <a:bodyPr wrap="square" lIns="0" tIns="0" rIns="0" bIns="0" rtlCol="0" anchor="ctr">
            <a:normAutofit/>
          </a:bodyPr>
          <a:lstStyle/>
          <a:p>
            <a:pPr marL="0" indent="0">
              <a:buNone/>
            </a:pPr>
            <a:r>
              <a:rPr lang="en-US" sz="4400" b="1" dirty="0">
                <a:solidFill>
                  <a:srgbClr val="FFFFFF"/>
                </a:solidFill>
                <a:latin typeface="Georgia" pitchFamily="34" charset="0"/>
                <a:ea typeface="Georgia" pitchFamily="34" charset="-122"/>
                <a:cs typeface="Georgia" pitchFamily="34" charset="-120"/>
              </a:rPr>
              <a:t>The Seminar</a:t>
            </a:r>
            <a:endParaRPr lang="en-US" sz="4400" dirty="0"/>
          </a:p>
        </p:txBody>
      </p:sp>
      <p:sp>
        <p:nvSpPr>
          <p:cNvPr id="4" name="Text 2"/>
          <p:cNvSpPr txBox="1"/>
          <p:nvPr/>
        </p:nvSpPr>
        <p:spPr>
          <a:xfrm>
            <a:off x="822960" y="3566160"/>
            <a:ext cx="10515600" cy="502920"/>
          </a:xfrm>
          <a:prstGeom prst="rect">
            <a:avLst/>
          </a:prstGeom>
          <a:noFill/>
          <a:ln/>
        </p:spPr>
        <p:txBody>
          <a:bodyPr wrap="square" lIns="0" tIns="0" rIns="0" bIns="0" rtlCol="0" anchor="ctr">
            <a:normAutofit/>
          </a:bodyPr>
          <a:lstStyle/>
          <a:p>
            <a:pPr marL="0" indent="0">
              <a:buNone/>
            </a:pPr>
            <a:r>
              <a:rPr lang="en-US" sz="1700" dirty="0">
                <a:solidFill>
                  <a:srgbClr val="9FB0CC"/>
                </a:solidFill>
                <a:latin typeface="Calibri" pitchFamily="34" charset="0"/>
                <a:ea typeface="Calibri" pitchFamily="34" charset="-122"/>
                <a:cs typeface="Calibri" pitchFamily="34" charset="-120"/>
              </a:rPr>
              <a:t>Small talk — three you know, three new. Then a company books a seminar by phone. Then, on the day, the guests start calling.</a:t>
            </a:r>
            <a:endParaRPr lang="en-US" sz="1700" dirty="0"/>
          </a:p>
        </p:txBody>
      </p:sp>
      <p:sp>
        <p:nvSpPr>
          <p:cNvPr id="5" name="Text 3"/>
          <p:cNvSpPr txBox="1"/>
          <p:nvPr/>
        </p:nvSpPr>
        <p:spPr>
          <a:xfrm>
            <a:off x="822960" y="6126480"/>
            <a:ext cx="5486400" cy="320040"/>
          </a:xfrm>
          <a:prstGeom prst="rect">
            <a:avLst/>
          </a:prstGeom>
          <a:noFill/>
          <a:ln/>
        </p:spPr>
        <p:txBody>
          <a:bodyPr wrap="square" lIns="0" tIns="0" rIns="0" bIns="0" rtlCol="0" anchor="ctr">
            <a:normAutofit/>
          </a:bodyPr>
          <a:lstStyle/>
          <a:p>
            <a:pPr marL="0" indent="0">
              <a:buNone/>
            </a:pPr>
            <a:r>
              <a:rPr lang="en-US" sz="1300" dirty="0">
                <a:solidFill>
                  <a:srgbClr val="6E7F9C"/>
                </a:solidFill>
                <a:latin typeface="Calibri" pitchFamily="34" charset="0"/>
                <a:ea typeface="Calibri" pitchFamily="34" charset="-122"/>
                <a:cs typeface="Calibri" pitchFamily="34" charset="-120"/>
              </a:rPr>
              <a:t>Do English with Brian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SMALL TALK  ·  1 / 6</a:t>
            </a:r>
            <a:endParaRPr lang="en-US" sz="1200" dirty="0"/>
          </a:p>
        </p:txBody>
      </p:sp>
      <p:sp>
        <p:nvSpPr>
          <p:cNvPr id="3" name="Text 1"/>
          <p:cNvSpPr txBox="1"/>
          <p:nvPr/>
        </p:nvSpPr>
        <p:spPr>
          <a:xfrm>
            <a:off x="5486400" y="237744"/>
            <a:ext cx="6126480" cy="329184"/>
          </a:xfrm>
          <a:prstGeom prst="rect">
            <a:avLst/>
          </a:prstGeom>
          <a:noFill/>
          <a:ln/>
        </p:spPr>
        <p:txBody>
          <a:bodyPr wrap="square" lIns="0" tIns="0" rIns="0" bIns="0" rtlCol="0" anchor="ctr">
            <a:normAutofit/>
          </a:bodyPr>
          <a:lstStyle/>
          <a:p>
            <a:pPr marL="0" indent="0" algn="r">
              <a:buNone/>
            </a:pPr>
            <a:r>
              <a:rPr lang="en-US" sz="1050" b="1" kern="0" spc="200" dirty="0">
                <a:solidFill>
                  <a:srgbClr val="C9A432"/>
                </a:solidFill>
                <a:latin typeface="Calibri" pitchFamily="34" charset="0"/>
                <a:ea typeface="Calibri" pitchFamily="34" charset="-122"/>
                <a:cs typeface="Calibri" pitchFamily="34" charset="-120"/>
              </a:rPr>
              <a:t>REVIEW   </a:t>
            </a:r>
            <a:r>
              <a:rPr lang="en-US" sz="1600" b="1" dirty="0">
                <a:solidFill>
                  <a:srgbClr val="FFFFFF"/>
                </a:solidFill>
                <a:latin typeface="Calibri" pitchFamily="34" charset="0"/>
                <a:ea typeface="Calibri" pitchFamily="34" charset="-122"/>
                <a:cs typeface="Calibri" pitchFamily="34" charset="-120"/>
              </a:rPr>
              <a:t>I went to ~</a:t>
            </a:r>
            <a:endParaRPr lang="en-US" sz="1050" dirty="0"/>
          </a:p>
        </p:txBody>
      </p:sp>
      <p:sp>
        <p:nvSpPr>
          <p:cNvPr id="4" name="Text 2"/>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What did you do yesterday?</a:t>
            </a:r>
            <a:endParaRPr lang="en-US" sz="2600" dirty="0"/>
          </a:p>
        </p:txBody>
      </p:sp>
      <p:sp>
        <p:nvSpPr>
          <p:cNvPr id="5" name="Text 3"/>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AND THEN  </a:t>
            </a:r>
            <a:r>
              <a:rPr lang="en-US" sz="1700" i="1" dirty="0">
                <a:solidFill>
                  <a:srgbClr val="E4C05C"/>
                </a:solidFill>
                <a:latin typeface="Calibri" pitchFamily="34" charset="0"/>
                <a:ea typeface="Calibri" pitchFamily="34" charset="-122"/>
                <a:cs typeface="Calibri" pitchFamily="34" charset="-120"/>
              </a:rPr>
              <a:t>Who were you with?</a:t>
            </a:r>
            <a:endParaRPr lang="en-US" sz="1100" dirty="0"/>
          </a:p>
        </p:txBody>
      </p:sp>
      <p:sp>
        <p:nvSpPr>
          <p:cNvPr id="6" name="Shape 4"/>
          <p:cNvSpPr/>
          <p:nvPr/>
        </p:nvSpPr>
        <p:spPr>
          <a:xfrm>
            <a:off x="548640" y="1965960"/>
            <a:ext cx="1527048" cy="420624"/>
          </a:xfrm>
          <a:prstGeom prst="roundRect">
            <a:avLst>
              <a:gd name="adj" fmla="val 50000"/>
            </a:avLst>
          </a:prstGeom>
          <a:solidFill>
            <a:srgbClr val="0C1A31"/>
          </a:solidFill>
          <a:ln w="15875">
            <a:solidFill>
              <a:srgbClr val="C9A432"/>
            </a:solidFill>
            <a:prstDash val="solid"/>
          </a:ln>
        </p:spPr>
      </p:sp>
      <p:sp>
        <p:nvSpPr>
          <p:cNvPr id="7" name="Text 5"/>
          <p:cNvSpPr txBox="1"/>
          <p:nvPr/>
        </p:nvSpPr>
        <p:spPr>
          <a:xfrm>
            <a:off x="548640" y="1965960"/>
            <a:ext cx="152704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went to ~</a:t>
            </a:r>
            <a:endParaRPr lang="en-US" sz="1500" dirty="0"/>
          </a:p>
        </p:txBody>
      </p:sp>
      <p:sp>
        <p:nvSpPr>
          <p:cNvPr id="8" name="Shape 6"/>
          <p:cNvSpPr/>
          <p:nvPr/>
        </p:nvSpPr>
        <p:spPr>
          <a:xfrm>
            <a:off x="2203704" y="1965960"/>
            <a:ext cx="1764792" cy="420624"/>
          </a:xfrm>
          <a:prstGeom prst="roundRect">
            <a:avLst>
              <a:gd name="adj" fmla="val 50000"/>
            </a:avLst>
          </a:prstGeom>
          <a:solidFill>
            <a:srgbClr val="0C1A31"/>
          </a:solidFill>
          <a:ln w="15875">
            <a:solidFill>
              <a:srgbClr val="C9A432"/>
            </a:solidFill>
            <a:prstDash val="solid"/>
          </a:ln>
        </p:spPr>
      </p:sp>
      <p:sp>
        <p:nvSpPr>
          <p:cNvPr id="9" name="Text 7"/>
          <p:cNvSpPr txBox="1"/>
          <p:nvPr/>
        </p:nvSpPr>
        <p:spPr>
          <a:xfrm>
            <a:off x="2203704" y="1965960"/>
            <a:ext cx="176479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stayed home</a:t>
            </a:r>
            <a:endParaRPr lang="en-US" sz="1500" dirty="0"/>
          </a:p>
        </p:txBody>
      </p:sp>
      <p:sp>
        <p:nvSpPr>
          <p:cNvPr id="10" name="Shape 8"/>
          <p:cNvSpPr/>
          <p:nvPr/>
        </p:nvSpPr>
        <p:spPr>
          <a:xfrm>
            <a:off x="4096512" y="1965960"/>
            <a:ext cx="2240280" cy="420624"/>
          </a:xfrm>
          <a:prstGeom prst="roundRect">
            <a:avLst>
              <a:gd name="adj" fmla="val 50000"/>
            </a:avLst>
          </a:prstGeom>
          <a:solidFill>
            <a:srgbClr val="0C1A31"/>
          </a:solidFill>
          <a:ln w="15875">
            <a:solidFill>
              <a:srgbClr val="C9A432"/>
            </a:solidFill>
            <a:prstDash val="solid"/>
          </a:ln>
        </p:spPr>
      </p:sp>
      <p:sp>
        <p:nvSpPr>
          <p:cNvPr id="11" name="Text 9"/>
          <p:cNvSpPr txBox="1"/>
          <p:nvPr/>
        </p:nvSpPr>
        <p:spPr>
          <a:xfrm>
            <a:off x="4096512" y="1965960"/>
            <a:ext cx="224028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went for a walk</a:t>
            </a:r>
            <a:endParaRPr lang="en-US" sz="1500" dirty="0"/>
          </a:p>
        </p:txBody>
      </p:sp>
      <p:sp>
        <p:nvSpPr>
          <p:cNvPr id="12" name="Shape 10"/>
          <p:cNvSpPr/>
          <p:nvPr/>
        </p:nvSpPr>
        <p:spPr>
          <a:xfrm>
            <a:off x="6464808" y="1965960"/>
            <a:ext cx="1764792" cy="420624"/>
          </a:xfrm>
          <a:prstGeom prst="roundRect">
            <a:avLst>
              <a:gd name="adj" fmla="val 50000"/>
            </a:avLst>
          </a:prstGeom>
          <a:solidFill>
            <a:srgbClr val="0C1A31"/>
          </a:solidFill>
          <a:ln w="15875">
            <a:solidFill>
              <a:srgbClr val="C9A432"/>
            </a:solidFill>
            <a:prstDash val="solid"/>
          </a:ln>
        </p:spPr>
      </p:sp>
      <p:sp>
        <p:nvSpPr>
          <p:cNvPr id="13" name="Text 11"/>
          <p:cNvSpPr txBox="1"/>
          <p:nvPr/>
        </p:nvSpPr>
        <p:spPr>
          <a:xfrm>
            <a:off x="6464808" y="1965960"/>
            <a:ext cx="176479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with my mom</a:t>
            </a:r>
            <a:endParaRPr lang="en-US" sz="1500" dirty="0"/>
          </a:p>
        </p:txBody>
      </p:sp>
      <p:sp>
        <p:nvSpPr>
          <p:cNvPr id="14" name="Shape 12"/>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5" name="Text 13"/>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6" name="Text 14"/>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Just stayed home with my husband.</a:t>
            </a:r>
          </a:p>
          <a:p>
            <a:pPr marL="0" indent="0">
              <a:lnSpc>
                <a:spcPct val="120000"/>
              </a:lnSpc>
              <a:buNone/>
            </a:pPr>
            <a:r>
              <a:rPr lang="en-US" sz="1600" dirty="0">
                <a:solidFill>
                  <a:schemeClr val="bg1"/>
                </a:solidFill>
              </a:rPr>
              <a:t>(Husband also stayed home?)</a:t>
            </a:r>
          </a:p>
          <a:p>
            <a:pPr marL="0" indent="0">
              <a:lnSpc>
                <a:spcPct val="120000"/>
              </a:lnSpc>
              <a:buNone/>
            </a:pPr>
            <a:r>
              <a:rPr lang="en-US" sz="1600" dirty="0">
                <a:solidFill>
                  <a:schemeClr val="bg1"/>
                </a:solidFill>
              </a:rPr>
              <a:t>It was long weekend. My husband met his boss and played golf together on last Saturday.</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(Who were you with?)</a:t>
            </a:r>
          </a:p>
          <a:p>
            <a:pPr marL="0" indent="0">
              <a:lnSpc>
                <a:spcPct val="120000"/>
              </a:lnSpc>
              <a:buNone/>
            </a:pPr>
            <a:r>
              <a:rPr lang="en-US" sz="1600" dirty="0">
                <a:solidFill>
                  <a:schemeClr val="bg1"/>
                </a:solidFill>
              </a:rPr>
              <a:t>Mostly with my husband at home.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SMALL TALK  ·  2 / 6</a:t>
            </a:r>
            <a:endParaRPr lang="en-US" sz="1200" dirty="0"/>
          </a:p>
        </p:txBody>
      </p:sp>
      <p:sp>
        <p:nvSpPr>
          <p:cNvPr id="3" name="Text 1"/>
          <p:cNvSpPr txBox="1"/>
          <p:nvPr/>
        </p:nvSpPr>
        <p:spPr>
          <a:xfrm>
            <a:off x="5486400" y="237744"/>
            <a:ext cx="6126480" cy="329184"/>
          </a:xfrm>
          <a:prstGeom prst="rect">
            <a:avLst/>
          </a:prstGeom>
          <a:noFill/>
          <a:ln/>
        </p:spPr>
        <p:txBody>
          <a:bodyPr wrap="square" lIns="0" tIns="0" rIns="0" bIns="0" rtlCol="0" anchor="ctr">
            <a:normAutofit/>
          </a:bodyPr>
          <a:lstStyle/>
          <a:p>
            <a:pPr marL="0" indent="0" algn="r">
              <a:buNone/>
            </a:pPr>
            <a:r>
              <a:rPr lang="en-US" sz="1050" b="1" kern="0" spc="200" dirty="0">
                <a:solidFill>
                  <a:srgbClr val="C9A432"/>
                </a:solidFill>
                <a:latin typeface="Calibri" pitchFamily="34" charset="0"/>
                <a:ea typeface="Calibri" pitchFamily="34" charset="-122"/>
                <a:cs typeface="Calibri" pitchFamily="34" charset="-120"/>
              </a:rPr>
              <a:t>REVIEW   </a:t>
            </a:r>
            <a:r>
              <a:rPr lang="en-US" sz="1600" b="1" dirty="0">
                <a:solidFill>
                  <a:srgbClr val="FFFFFF"/>
                </a:solidFill>
                <a:latin typeface="Calibri" pitchFamily="34" charset="0"/>
                <a:ea typeface="Calibri" pitchFamily="34" charset="-122"/>
                <a:cs typeface="Calibri" pitchFamily="34" charset="-120"/>
              </a:rPr>
              <a:t>I had ~</a:t>
            </a:r>
            <a:endParaRPr lang="en-US" sz="1050" dirty="0"/>
          </a:p>
        </p:txBody>
      </p:sp>
      <p:sp>
        <p:nvSpPr>
          <p:cNvPr id="4" name="Text 2"/>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What did you have for breakfast?</a:t>
            </a:r>
            <a:endParaRPr lang="en-US" sz="2600" dirty="0"/>
          </a:p>
        </p:txBody>
      </p:sp>
      <p:sp>
        <p:nvSpPr>
          <p:cNvPr id="5" name="Text 3"/>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AND THEN  </a:t>
            </a:r>
            <a:r>
              <a:rPr lang="en-US" sz="1700" i="1" dirty="0">
                <a:solidFill>
                  <a:srgbClr val="E4C05C"/>
                </a:solidFill>
                <a:latin typeface="Calibri" pitchFamily="34" charset="0"/>
                <a:ea typeface="Calibri" pitchFamily="34" charset="-122"/>
                <a:cs typeface="Calibri" pitchFamily="34" charset="-120"/>
              </a:rPr>
              <a:t>Was it good?</a:t>
            </a:r>
            <a:endParaRPr lang="en-US" sz="1100" dirty="0"/>
          </a:p>
        </p:txBody>
      </p:sp>
      <p:sp>
        <p:nvSpPr>
          <p:cNvPr id="6" name="Shape 4"/>
          <p:cNvSpPr/>
          <p:nvPr/>
        </p:nvSpPr>
        <p:spPr>
          <a:xfrm>
            <a:off x="548640" y="1965960"/>
            <a:ext cx="1527048" cy="420624"/>
          </a:xfrm>
          <a:prstGeom prst="roundRect">
            <a:avLst>
              <a:gd name="adj" fmla="val 50000"/>
            </a:avLst>
          </a:prstGeom>
          <a:solidFill>
            <a:srgbClr val="0C1A31"/>
          </a:solidFill>
          <a:ln w="15875">
            <a:solidFill>
              <a:srgbClr val="C9A432"/>
            </a:solidFill>
            <a:prstDash val="solid"/>
          </a:ln>
        </p:spPr>
      </p:sp>
      <p:sp>
        <p:nvSpPr>
          <p:cNvPr id="7" name="Text 5"/>
          <p:cNvSpPr txBox="1"/>
          <p:nvPr/>
        </p:nvSpPr>
        <p:spPr>
          <a:xfrm>
            <a:off x="548640" y="1965960"/>
            <a:ext cx="152704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had toast</a:t>
            </a:r>
            <a:endParaRPr lang="en-US" sz="1500" dirty="0"/>
          </a:p>
        </p:txBody>
      </p:sp>
      <p:sp>
        <p:nvSpPr>
          <p:cNvPr id="8" name="Shape 6"/>
          <p:cNvSpPr/>
          <p:nvPr/>
        </p:nvSpPr>
        <p:spPr>
          <a:xfrm>
            <a:off x="2203704" y="1965960"/>
            <a:ext cx="1645920" cy="420624"/>
          </a:xfrm>
          <a:prstGeom prst="roundRect">
            <a:avLst>
              <a:gd name="adj" fmla="val 50000"/>
            </a:avLst>
          </a:prstGeom>
          <a:solidFill>
            <a:srgbClr val="0C1A31"/>
          </a:solidFill>
          <a:ln w="15875">
            <a:solidFill>
              <a:srgbClr val="C9A432"/>
            </a:solidFill>
            <a:prstDash val="solid"/>
          </a:ln>
        </p:spPr>
      </p:sp>
      <p:sp>
        <p:nvSpPr>
          <p:cNvPr id="9" name="Text 7"/>
          <p:cNvSpPr txBox="1"/>
          <p:nvPr/>
        </p:nvSpPr>
        <p:spPr>
          <a:xfrm>
            <a:off x="2203704" y="1965960"/>
            <a:ext cx="164592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had coffee</a:t>
            </a:r>
            <a:endParaRPr lang="en-US" sz="1500" dirty="0"/>
          </a:p>
        </p:txBody>
      </p:sp>
      <p:sp>
        <p:nvSpPr>
          <p:cNvPr id="10" name="Shape 8"/>
          <p:cNvSpPr/>
          <p:nvPr/>
        </p:nvSpPr>
        <p:spPr>
          <a:xfrm>
            <a:off x="3977640" y="1965960"/>
            <a:ext cx="2478024" cy="420624"/>
          </a:xfrm>
          <a:prstGeom prst="roundRect">
            <a:avLst>
              <a:gd name="adj" fmla="val 50000"/>
            </a:avLst>
          </a:prstGeom>
          <a:solidFill>
            <a:srgbClr val="0C1A31"/>
          </a:solidFill>
          <a:ln w="15875">
            <a:solidFill>
              <a:srgbClr val="C9A432"/>
            </a:solidFill>
            <a:prstDash val="solid"/>
          </a:ln>
        </p:spPr>
      </p:sp>
      <p:sp>
        <p:nvSpPr>
          <p:cNvPr id="11" name="Text 9"/>
          <p:cNvSpPr txBox="1"/>
          <p:nvPr/>
        </p:nvSpPr>
        <p:spPr>
          <a:xfrm>
            <a:off x="3977640"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skipped breakfast</a:t>
            </a:r>
            <a:endParaRPr lang="en-US" sz="1500" dirty="0"/>
          </a:p>
        </p:txBody>
      </p:sp>
      <p:sp>
        <p:nvSpPr>
          <p:cNvPr id="12" name="Shape 10"/>
          <p:cNvSpPr/>
          <p:nvPr/>
        </p:nvSpPr>
        <p:spPr>
          <a:xfrm>
            <a:off x="6583680" y="1965960"/>
            <a:ext cx="1289304" cy="420624"/>
          </a:xfrm>
          <a:prstGeom prst="roundRect">
            <a:avLst>
              <a:gd name="adj" fmla="val 50000"/>
            </a:avLst>
          </a:prstGeom>
          <a:solidFill>
            <a:srgbClr val="0C1A31"/>
          </a:solidFill>
          <a:ln w="15875">
            <a:solidFill>
              <a:srgbClr val="C9A432"/>
            </a:solidFill>
            <a:prstDash val="solid"/>
          </a:ln>
        </p:spPr>
      </p:sp>
      <p:sp>
        <p:nvSpPr>
          <p:cNvPr id="13" name="Text 11"/>
          <p:cNvSpPr txBox="1"/>
          <p:nvPr/>
        </p:nvSpPr>
        <p:spPr>
          <a:xfrm>
            <a:off x="6583680" y="1965960"/>
            <a:ext cx="128930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at home</a:t>
            </a:r>
            <a:endParaRPr lang="en-US" sz="1500" dirty="0"/>
          </a:p>
        </p:txBody>
      </p:sp>
      <p:sp>
        <p:nvSpPr>
          <p:cNvPr id="14" name="Shape 12"/>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5" name="Text 13"/>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6" name="Text 14"/>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Actually, I want to eat </a:t>
            </a:r>
            <a:r>
              <a:rPr lang="en-US" sz="1600" dirty="0" err="1">
                <a:solidFill>
                  <a:schemeClr val="bg1"/>
                </a:solidFill>
              </a:rPr>
              <a:t>ramyeon</a:t>
            </a:r>
            <a:r>
              <a:rPr lang="en-US" sz="1600" dirty="0">
                <a:solidFill>
                  <a:schemeClr val="bg1"/>
                </a:solidFill>
              </a:rPr>
              <a:t> from last night.</a:t>
            </a:r>
          </a:p>
          <a:p>
            <a:pPr marL="0" indent="0">
              <a:lnSpc>
                <a:spcPct val="120000"/>
              </a:lnSpc>
              <a:buNone/>
            </a:pPr>
            <a:r>
              <a:rPr lang="en-US" sz="1600" dirty="0">
                <a:solidFill>
                  <a:schemeClr val="bg1"/>
                </a:solidFill>
              </a:rPr>
              <a:t>So, early this morning, I put half </a:t>
            </a:r>
            <a:r>
              <a:rPr lang="en-US" sz="1600" dirty="0" err="1">
                <a:solidFill>
                  <a:schemeClr val="bg1"/>
                </a:solidFill>
              </a:rPr>
              <a:t>ramyeon</a:t>
            </a:r>
            <a:r>
              <a:rPr lang="en-US" sz="1600" dirty="0">
                <a:solidFill>
                  <a:schemeClr val="bg1"/>
                </a:solidFill>
              </a:rPr>
              <a:t> into soybean paste soup from yesterday dinner.</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(did you put the </a:t>
            </a:r>
            <a:r>
              <a:rPr lang="en-US" sz="1600" dirty="0" err="1">
                <a:solidFill>
                  <a:schemeClr val="bg1"/>
                </a:solidFill>
              </a:rPr>
              <a:t>rameyon</a:t>
            </a:r>
            <a:r>
              <a:rPr lang="en-US" sz="1600" dirty="0">
                <a:solidFill>
                  <a:schemeClr val="bg1"/>
                </a:solidFill>
              </a:rPr>
              <a:t> sauce into soybean paste soup?)</a:t>
            </a:r>
          </a:p>
          <a:p>
            <a:pPr marL="0" indent="0">
              <a:lnSpc>
                <a:spcPct val="120000"/>
              </a:lnSpc>
              <a:buNone/>
            </a:pPr>
            <a:r>
              <a:rPr lang="en-US" sz="1600" dirty="0">
                <a:solidFill>
                  <a:schemeClr val="bg1"/>
                </a:solidFill>
              </a:rPr>
              <a:t>No. only noodles. It is my last dignity.</a:t>
            </a:r>
          </a:p>
          <a:p>
            <a:pPr marL="0" indent="0">
              <a:lnSpc>
                <a:spcPct val="120000"/>
              </a:lnSpc>
              <a:buNone/>
            </a:pPr>
            <a:r>
              <a:rPr lang="en-US" sz="1600" dirty="0">
                <a:solidFill>
                  <a:schemeClr val="bg1"/>
                </a:solidFill>
              </a:rPr>
              <a:t>That’s why I put only half noodles. But, I had chocolate ice cream. Then I got high on my blood sugar.</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(what time did you have your breakfast?)</a:t>
            </a:r>
          </a:p>
          <a:p>
            <a:pPr marL="0" indent="0">
              <a:lnSpc>
                <a:spcPct val="120000"/>
              </a:lnSpc>
              <a:buNone/>
            </a:pPr>
            <a:r>
              <a:rPr lang="en-US" sz="1600" dirty="0">
                <a:solidFill>
                  <a:schemeClr val="bg1"/>
                </a:solidFill>
              </a:rPr>
              <a:t>8:30am maybe. </a:t>
            </a:r>
          </a:p>
          <a:p>
            <a:pPr marL="0" indent="0">
              <a:lnSpc>
                <a:spcPct val="120000"/>
              </a:lnSpc>
              <a:buNone/>
            </a:pPr>
            <a:r>
              <a:rPr lang="en-US" sz="1600" dirty="0">
                <a:solidFill>
                  <a:schemeClr val="bg1"/>
                </a:solidFill>
              </a:rPr>
              <a:t>(Did you feel sleepy after that because of high blood sugar?)</a:t>
            </a:r>
          </a:p>
          <a:p>
            <a:pPr marL="0" indent="0">
              <a:lnSpc>
                <a:spcPct val="120000"/>
              </a:lnSpc>
              <a:buNone/>
            </a:pPr>
            <a:r>
              <a:rPr lang="en-US" sz="1600" dirty="0">
                <a:solidFill>
                  <a:schemeClr val="bg1"/>
                </a:solidFill>
              </a:rPr>
              <a:t>Maybe / perhaps / probably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SMALL TALK  ·  3 / 6</a:t>
            </a:r>
            <a:endParaRPr lang="en-US" sz="1200" dirty="0"/>
          </a:p>
        </p:txBody>
      </p:sp>
      <p:sp>
        <p:nvSpPr>
          <p:cNvPr id="3" name="Text 1"/>
          <p:cNvSpPr txBox="1"/>
          <p:nvPr/>
        </p:nvSpPr>
        <p:spPr>
          <a:xfrm>
            <a:off x="5486400" y="237744"/>
            <a:ext cx="6126480" cy="329184"/>
          </a:xfrm>
          <a:prstGeom prst="rect">
            <a:avLst/>
          </a:prstGeom>
          <a:noFill/>
          <a:ln/>
        </p:spPr>
        <p:txBody>
          <a:bodyPr wrap="square" lIns="0" tIns="0" rIns="0" bIns="0" rtlCol="0" anchor="ctr">
            <a:normAutofit/>
          </a:bodyPr>
          <a:lstStyle/>
          <a:p>
            <a:pPr marL="0" indent="0" algn="r">
              <a:buNone/>
            </a:pPr>
            <a:r>
              <a:rPr lang="en-US" sz="1050" b="1" kern="0" spc="200" dirty="0">
                <a:solidFill>
                  <a:srgbClr val="C9A432"/>
                </a:solidFill>
                <a:latin typeface="Calibri" pitchFamily="34" charset="0"/>
                <a:ea typeface="Calibri" pitchFamily="34" charset="-122"/>
                <a:cs typeface="Calibri" pitchFamily="34" charset="-120"/>
              </a:rPr>
              <a:t>REVIEW   </a:t>
            </a:r>
            <a:r>
              <a:rPr lang="en-US" sz="1600" b="1" dirty="0">
                <a:solidFill>
                  <a:srgbClr val="FFFFFF"/>
                </a:solidFill>
                <a:latin typeface="Calibri" pitchFamily="34" charset="0"/>
                <a:ea typeface="Calibri" pitchFamily="34" charset="-122"/>
                <a:cs typeface="Calibri" pitchFamily="34" charset="-120"/>
              </a:rPr>
              <a:t>It was ~</a:t>
            </a:r>
            <a:endParaRPr lang="en-US" sz="1050" dirty="0"/>
          </a:p>
        </p:txBody>
      </p:sp>
      <p:sp>
        <p:nvSpPr>
          <p:cNvPr id="4" name="Text 2"/>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How was your weekend?</a:t>
            </a:r>
            <a:endParaRPr lang="en-US" sz="2600" dirty="0"/>
          </a:p>
        </p:txBody>
      </p:sp>
      <p:sp>
        <p:nvSpPr>
          <p:cNvPr id="5" name="Text 3"/>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AND THEN  </a:t>
            </a:r>
            <a:r>
              <a:rPr lang="en-US" sz="1700" i="1" dirty="0">
                <a:solidFill>
                  <a:srgbClr val="E4C05C"/>
                </a:solidFill>
                <a:latin typeface="Calibri" pitchFamily="34" charset="0"/>
                <a:ea typeface="Calibri" pitchFamily="34" charset="-122"/>
                <a:cs typeface="Calibri" pitchFamily="34" charset="-120"/>
              </a:rPr>
              <a:t>What was the best part?</a:t>
            </a:r>
            <a:endParaRPr lang="en-US" sz="1100" dirty="0"/>
          </a:p>
        </p:txBody>
      </p:sp>
      <p:sp>
        <p:nvSpPr>
          <p:cNvPr id="6" name="Shape 4"/>
          <p:cNvSpPr/>
          <p:nvPr/>
        </p:nvSpPr>
        <p:spPr>
          <a:xfrm>
            <a:off x="548640" y="1965960"/>
            <a:ext cx="1883664" cy="420624"/>
          </a:xfrm>
          <a:prstGeom prst="roundRect">
            <a:avLst>
              <a:gd name="adj" fmla="val 50000"/>
            </a:avLst>
          </a:prstGeom>
          <a:solidFill>
            <a:srgbClr val="0C1A31"/>
          </a:solidFill>
          <a:ln w="15875">
            <a:solidFill>
              <a:srgbClr val="C9A432"/>
            </a:solidFill>
            <a:prstDash val="solid"/>
          </a:ln>
        </p:spPr>
      </p:sp>
      <p:sp>
        <p:nvSpPr>
          <p:cNvPr id="7" name="Text 5"/>
          <p:cNvSpPr txBox="1"/>
          <p:nvPr/>
        </p:nvSpPr>
        <p:spPr>
          <a:xfrm>
            <a:off x="548640" y="1965960"/>
            <a:ext cx="188366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was relaxing</a:t>
            </a:r>
            <a:endParaRPr lang="en-US" sz="1500" dirty="0"/>
          </a:p>
        </p:txBody>
      </p:sp>
      <p:sp>
        <p:nvSpPr>
          <p:cNvPr id="8" name="Shape 6"/>
          <p:cNvSpPr/>
          <p:nvPr/>
        </p:nvSpPr>
        <p:spPr>
          <a:xfrm>
            <a:off x="2560320" y="1965960"/>
            <a:ext cx="1408176" cy="420624"/>
          </a:xfrm>
          <a:prstGeom prst="roundRect">
            <a:avLst>
              <a:gd name="adj" fmla="val 50000"/>
            </a:avLst>
          </a:prstGeom>
          <a:solidFill>
            <a:srgbClr val="0C1A31"/>
          </a:solidFill>
          <a:ln w="15875">
            <a:solidFill>
              <a:srgbClr val="C9A432"/>
            </a:solidFill>
            <a:prstDash val="solid"/>
          </a:ln>
        </p:spPr>
      </p:sp>
      <p:sp>
        <p:nvSpPr>
          <p:cNvPr id="9" name="Text 7"/>
          <p:cNvSpPr txBox="1"/>
          <p:nvPr/>
        </p:nvSpPr>
        <p:spPr>
          <a:xfrm>
            <a:off x="2560320" y="1965960"/>
            <a:ext cx="140817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was busy</a:t>
            </a:r>
            <a:endParaRPr lang="en-US" sz="1500" dirty="0"/>
          </a:p>
        </p:txBody>
      </p:sp>
      <p:sp>
        <p:nvSpPr>
          <p:cNvPr id="10" name="Shape 8"/>
          <p:cNvSpPr/>
          <p:nvPr/>
        </p:nvSpPr>
        <p:spPr>
          <a:xfrm>
            <a:off x="4096512" y="1965960"/>
            <a:ext cx="2715768" cy="420624"/>
          </a:xfrm>
          <a:prstGeom prst="roundRect">
            <a:avLst>
              <a:gd name="adj" fmla="val 50000"/>
            </a:avLst>
          </a:prstGeom>
          <a:solidFill>
            <a:srgbClr val="0C1A31"/>
          </a:solidFill>
          <a:ln w="15875">
            <a:solidFill>
              <a:srgbClr val="C9A432"/>
            </a:solidFill>
            <a:prstDash val="solid"/>
          </a:ln>
        </p:spPr>
      </p:sp>
      <p:sp>
        <p:nvSpPr>
          <p:cNvPr id="11" name="Text 9"/>
          <p:cNvSpPr txBox="1"/>
          <p:nvPr/>
        </p:nvSpPr>
        <p:spPr>
          <a:xfrm>
            <a:off x="4096512" y="1965960"/>
            <a:ext cx="271576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was nothing special</a:t>
            </a:r>
            <a:endParaRPr lang="en-US" sz="1500" dirty="0"/>
          </a:p>
        </p:txBody>
      </p:sp>
      <p:sp>
        <p:nvSpPr>
          <p:cNvPr id="12" name="Shape 10"/>
          <p:cNvSpPr/>
          <p:nvPr/>
        </p:nvSpPr>
        <p:spPr>
          <a:xfrm>
            <a:off x="6940296" y="1965960"/>
            <a:ext cx="2715768" cy="420624"/>
          </a:xfrm>
          <a:prstGeom prst="roundRect">
            <a:avLst>
              <a:gd name="adj" fmla="val 50000"/>
            </a:avLst>
          </a:prstGeom>
          <a:solidFill>
            <a:srgbClr val="0C1A31"/>
          </a:solidFill>
          <a:ln w="15875">
            <a:solidFill>
              <a:srgbClr val="C9A432"/>
            </a:solidFill>
            <a:prstDash val="solid"/>
          </a:ln>
        </p:spPr>
      </p:sp>
      <p:sp>
        <p:nvSpPr>
          <p:cNvPr id="13" name="Text 11"/>
          <p:cNvSpPr txBox="1"/>
          <p:nvPr/>
        </p:nvSpPr>
        <p:spPr>
          <a:xfrm>
            <a:off x="6940296" y="1965960"/>
            <a:ext cx="271576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the best part was ~</a:t>
            </a:r>
            <a:endParaRPr lang="en-US" sz="1500" dirty="0"/>
          </a:p>
        </p:txBody>
      </p:sp>
      <p:sp>
        <p:nvSpPr>
          <p:cNvPr id="14" name="Shape 12"/>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5" name="Text 13"/>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6" name="Text 14"/>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It was nothing special.</a:t>
            </a:r>
          </a:p>
          <a:p>
            <a:pPr marL="0" indent="0">
              <a:lnSpc>
                <a:spcPct val="120000"/>
              </a:lnSpc>
              <a:buNone/>
            </a:pPr>
            <a:r>
              <a:rPr lang="en-US" sz="1600" dirty="0">
                <a:solidFill>
                  <a:schemeClr val="bg1"/>
                </a:solidFill>
              </a:rPr>
              <a:t>It was relaxing.</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I did nothing special.</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(what was the best part of your weekend?)</a:t>
            </a:r>
          </a:p>
          <a:p>
            <a:pPr marL="0" indent="0">
              <a:lnSpc>
                <a:spcPct val="120000"/>
              </a:lnSpc>
              <a:buNone/>
            </a:pPr>
            <a:r>
              <a:rPr lang="en-US" sz="1600" dirty="0">
                <a:solidFill>
                  <a:schemeClr val="bg1"/>
                </a:solidFill>
              </a:rPr>
              <a:t>I played screen golf and it was fun. My weekend is always same. Nothing special.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SMALL TALK  ·  4 / 6</a:t>
            </a:r>
            <a:endParaRPr lang="en-US" sz="1200" dirty="0"/>
          </a:p>
        </p:txBody>
      </p:sp>
      <p:sp>
        <p:nvSpPr>
          <p:cNvPr id="3" name="Text 1"/>
          <p:cNvSpPr txBox="1"/>
          <p:nvPr/>
        </p:nvSpPr>
        <p:spPr>
          <a:xfrm>
            <a:off x="5486400" y="237744"/>
            <a:ext cx="6126480" cy="329184"/>
          </a:xfrm>
          <a:prstGeom prst="rect">
            <a:avLst/>
          </a:prstGeom>
          <a:noFill/>
          <a:ln/>
        </p:spPr>
        <p:txBody>
          <a:bodyPr wrap="square" lIns="0" tIns="0" rIns="0" bIns="0" rtlCol="0" anchor="ctr">
            <a:normAutofit/>
          </a:bodyPr>
          <a:lstStyle/>
          <a:p>
            <a:pPr marL="0" indent="0" algn="r">
              <a:buNone/>
            </a:pPr>
            <a:r>
              <a:rPr lang="en-US" sz="1050" b="1" kern="0" spc="200" dirty="0">
                <a:solidFill>
                  <a:srgbClr val="C9A432"/>
                </a:solidFill>
                <a:latin typeface="Calibri" pitchFamily="34" charset="0"/>
                <a:ea typeface="Calibri" pitchFamily="34" charset="-122"/>
                <a:cs typeface="Calibri" pitchFamily="34" charset="-120"/>
              </a:rPr>
              <a:t>NEW   </a:t>
            </a:r>
            <a:r>
              <a:rPr lang="en-US" sz="1600" b="1" dirty="0">
                <a:solidFill>
                  <a:srgbClr val="FFFFFF"/>
                </a:solidFill>
                <a:latin typeface="Calibri" pitchFamily="34" charset="0"/>
                <a:ea typeface="Calibri" pitchFamily="34" charset="-122"/>
                <a:cs typeface="Calibri" pitchFamily="34" charset="-120"/>
              </a:rPr>
              <a:t>I usually ~</a:t>
            </a:r>
            <a:endParaRPr lang="en-US" sz="1050" dirty="0"/>
          </a:p>
        </p:txBody>
      </p:sp>
      <p:sp>
        <p:nvSpPr>
          <p:cNvPr id="4" name="Text 2"/>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What do you usually do on Monday mornings?</a:t>
            </a:r>
            <a:endParaRPr lang="en-US" sz="2600" dirty="0"/>
          </a:p>
        </p:txBody>
      </p:sp>
      <p:sp>
        <p:nvSpPr>
          <p:cNvPr id="5" name="Text 3"/>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AND THEN  </a:t>
            </a:r>
            <a:r>
              <a:rPr lang="en-US" sz="1700" i="1" dirty="0">
                <a:solidFill>
                  <a:srgbClr val="E4C05C"/>
                </a:solidFill>
                <a:latin typeface="Calibri" pitchFamily="34" charset="0"/>
                <a:ea typeface="Calibri" pitchFamily="34" charset="-122"/>
                <a:cs typeface="Calibri" pitchFamily="34" charset="-120"/>
              </a:rPr>
              <a:t>Is today different?</a:t>
            </a:r>
            <a:endParaRPr lang="en-US" sz="1100" dirty="0"/>
          </a:p>
        </p:txBody>
      </p:sp>
      <p:sp>
        <p:nvSpPr>
          <p:cNvPr id="6" name="Shape 4"/>
          <p:cNvSpPr/>
          <p:nvPr/>
        </p:nvSpPr>
        <p:spPr>
          <a:xfrm>
            <a:off x="548640" y="1965960"/>
            <a:ext cx="2834640" cy="420624"/>
          </a:xfrm>
          <a:prstGeom prst="roundRect">
            <a:avLst>
              <a:gd name="adj" fmla="val 50000"/>
            </a:avLst>
          </a:prstGeom>
          <a:solidFill>
            <a:srgbClr val="0C1A31"/>
          </a:solidFill>
          <a:ln w="15875">
            <a:solidFill>
              <a:srgbClr val="C9A432"/>
            </a:solidFill>
            <a:prstDash val="solid"/>
          </a:ln>
        </p:spPr>
      </p:sp>
      <p:sp>
        <p:nvSpPr>
          <p:cNvPr id="7" name="Text 5"/>
          <p:cNvSpPr txBox="1"/>
          <p:nvPr/>
        </p:nvSpPr>
        <p:spPr>
          <a:xfrm>
            <a:off x="548640" y="1965960"/>
            <a:ext cx="283464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usually wake up late</a:t>
            </a:r>
            <a:endParaRPr lang="en-US" sz="1500" dirty="0"/>
          </a:p>
        </p:txBody>
      </p:sp>
      <p:sp>
        <p:nvSpPr>
          <p:cNvPr id="8" name="Shape 6"/>
          <p:cNvSpPr/>
          <p:nvPr/>
        </p:nvSpPr>
        <p:spPr>
          <a:xfrm>
            <a:off x="3511296" y="1965960"/>
            <a:ext cx="2002536" cy="420624"/>
          </a:xfrm>
          <a:prstGeom prst="roundRect">
            <a:avLst>
              <a:gd name="adj" fmla="val 50000"/>
            </a:avLst>
          </a:prstGeom>
          <a:solidFill>
            <a:srgbClr val="0C1A31"/>
          </a:solidFill>
          <a:ln w="15875">
            <a:solidFill>
              <a:srgbClr val="C9A432"/>
            </a:solidFill>
            <a:prstDash val="solid"/>
          </a:ln>
        </p:spPr>
      </p:sp>
      <p:sp>
        <p:nvSpPr>
          <p:cNvPr id="9" name="Text 7"/>
          <p:cNvSpPr txBox="1"/>
          <p:nvPr/>
        </p:nvSpPr>
        <p:spPr>
          <a:xfrm>
            <a:off x="3511296" y="1965960"/>
            <a:ext cx="200253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usually clean</a:t>
            </a:r>
            <a:endParaRPr lang="en-US" sz="1500" dirty="0"/>
          </a:p>
        </p:txBody>
      </p:sp>
      <p:sp>
        <p:nvSpPr>
          <p:cNvPr id="10" name="Shape 8"/>
          <p:cNvSpPr/>
          <p:nvPr/>
        </p:nvSpPr>
        <p:spPr>
          <a:xfrm>
            <a:off x="5641848" y="1965960"/>
            <a:ext cx="2240280" cy="420624"/>
          </a:xfrm>
          <a:prstGeom prst="roundRect">
            <a:avLst>
              <a:gd name="adj" fmla="val 50000"/>
            </a:avLst>
          </a:prstGeom>
          <a:solidFill>
            <a:srgbClr val="0C1A31"/>
          </a:solidFill>
          <a:ln w="15875">
            <a:solidFill>
              <a:srgbClr val="C9A432"/>
            </a:solidFill>
            <a:prstDash val="solid"/>
          </a:ln>
        </p:spPr>
      </p:sp>
      <p:sp>
        <p:nvSpPr>
          <p:cNvPr id="11" name="Text 9"/>
          <p:cNvSpPr txBox="1"/>
          <p:nvPr/>
        </p:nvSpPr>
        <p:spPr>
          <a:xfrm>
            <a:off x="5641848" y="1965960"/>
            <a:ext cx="224028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usually go to ~</a:t>
            </a:r>
            <a:endParaRPr lang="en-US" sz="1500" dirty="0"/>
          </a:p>
        </p:txBody>
      </p:sp>
      <p:sp>
        <p:nvSpPr>
          <p:cNvPr id="12" name="Shape 10"/>
          <p:cNvSpPr/>
          <p:nvPr/>
        </p:nvSpPr>
        <p:spPr>
          <a:xfrm>
            <a:off x="8010144" y="1965960"/>
            <a:ext cx="2596896" cy="420624"/>
          </a:xfrm>
          <a:prstGeom prst="roundRect">
            <a:avLst>
              <a:gd name="adj" fmla="val 50000"/>
            </a:avLst>
          </a:prstGeom>
          <a:solidFill>
            <a:srgbClr val="0C1A31"/>
          </a:solidFill>
          <a:ln w="15875">
            <a:solidFill>
              <a:srgbClr val="C9A432"/>
            </a:solidFill>
            <a:prstDash val="solid"/>
          </a:ln>
        </p:spPr>
      </p:sp>
      <p:sp>
        <p:nvSpPr>
          <p:cNvPr id="13" name="Text 11"/>
          <p:cNvSpPr txBox="1"/>
          <p:nvPr/>
        </p:nvSpPr>
        <p:spPr>
          <a:xfrm>
            <a:off x="8010144" y="1965960"/>
            <a:ext cx="259689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today is different</a:t>
            </a:r>
            <a:endParaRPr lang="en-US" sz="1500" dirty="0"/>
          </a:p>
        </p:txBody>
      </p:sp>
      <p:sp>
        <p:nvSpPr>
          <p:cNvPr id="14" name="Shape 12"/>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5" name="Text 13"/>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6" name="Text 14"/>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I usually do~</a:t>
            </a:r>
          </a:p>
          <a:p>
            <a:pPr marL="0" indent="0">
              <a:lnSpc>
                <a:spcPct val="120000"/>
              </a:lnSpc>
              <a:buNone/>
            </a:pPr>
            <a:r>
              <a:rPr lang="en-US" sz="1600" dirty="0">
                <a:solidFill>
                  <a:schemeClr val="bg1"/>
                </a:solidFill>
              </a:rPr>
              <a:t>I usually wake up~</a:t>
            </a:r>
          </a:p>
          <a:p>
            <a:pPr marL="0" indent="0">
              <a:lnSpc>
                <a:spcPct val="120000"/>
              </a:lnSpc>
              <a:buNone/>
            </a:pPr>
            <a:r>
              <a:rPr lang="en-US" sz="1600" dirty="0">
                <a:solidFill>
                  <a:schemeClr val="bg1"/>
                </a:solidFill>
              </a:rPr>
              <a:t>I usually drink~</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I usually wake up at 7am. I usually feed my dog. And I usually go to café.</a:t>
            </a:r>
          </a:p>
          <a:p>
            <a:pPr marL="0" indent="0">
              <a:lnSpc>
                <a:spcPct val="120000"/>
              </a:lnSpc>
              <a:buNone/>
            </a:pPr>
            <a:r>
              <a:rPr lang="en-US" sz="1600" dirty="0">
                <a:solidFill>
                  <a:schemeClr val="bg1"/>
                </a:solidFill>
              </a:rPr>
              <a:t>Last, I always wash his tumbler.</a:t>
            </a:r>
          </a:p>
          <a:p>
            <a:pPr marL="0" indent="0">
              <a:lnSpc>
                <a:spcPct val="120000"/>
              </a:lnSpc>
              <a:buNone/>
            </a:pPr>
            <a:endParaRPr lang="en-US" sz="16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SMALL TALK  ·  5 / 6</a:t>
            </a:r>
            <a:endParaRPr lang="en-US" sz="1200" dirty="0"/>
          </a:p>
        </p:txBody>
      </p:sp>
      <p:sp>
        <p:nvSpPr>
          <p:cNvPr id="3" name="Text 1"/>
          <p:cNvSpPr txBox="1"/>
          <p:nvPr/>
        </p:nvSpPr>
        <p:spPr>
          <a:xfrm>
            <a:off x="5486400" y="237744"/>
            <a:ext cx="6126480" cy="329184"/>
          </a:xfrm>
          <a:prstGeom prst="rect">
            <a:avLst/>
          </a:prstGeom>
          <a:noFill/>
          <a:ln/>
        </p:spPr>
        <p:txBody>
          <a:bodyPr wrap="square" lIns="0" tIns="0" rIns="0" bIns="0" rtlCol="0" anchor="ctr">
            <a:normAutofit/>
          </a:bodyPr>
          <a:lstStyle/>
          <a:p>
            <a:pPr marL="0" indent="0" algn="r">
              <a:buNone/>
            </a:pPr>
            <a:r>
              <a:rPr lang="en-US" sz="1050" b="1" kern="0" spc="200" dirty="0">
                <a:solidFill>
                  <a:srgbClr val="C9A432"/>
                </a:solidFill>
                <a:latin typeface="Calibri" pitchFamily="34" charset="0"/>
                <a:ea typeface="Calibri" pitchFamily="34" charset="-122"/>
                <a:cs typeface="Calibri" pitchFamily="34" charset="-120"/>
              </a:rPr>
              <a:t>NEW   </a:t>
            </a:r>
            <a:r>
              <a:rPr lang="en-US" sz="1600" b="1" dirty="0">
                <a:solidFill>
                  <a:srgbClr val="FFFFFF"/>
                </a:solidFill>
                <a:latin typeface="Calibri" pitchFamily="34" charset="0"/>
                <a:ea typeface="Calibri" pitchFamily="34" charset="-122"/>
                <a:cs typeface="Calibri" pitchFamily="34" charset="-120"/>
              </a:rPr>
              <a:t>I'm thinking of ~ing</a:t>
            </a:r>
            <a:endParaRPr lang="en-US" sz="1050" dirty="0"/>
          </a:p>
        </p:txBody>
      </p:sp>
      <p:sp>
        <p:nvSpPr>
          <p:cNvPr id="4" name="Text 2"/>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Any plans for the week?</a:t>
            </a:r>
            <a:endParaRPr lang="en-US" sz="2600" dirty="0"/>
          </a:p>
        </p:txBody>
      </p:sp>
      <p:sp>
        <p:nvSpPr>
          <p:cNvPr id="5" name="Text 3"/>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AND THEN  </a:t>
            </a:r>
            <a:r>
              <a:rPr lang="en-US" sz="1700" i="1" dirty="0">
                <a:solidFill>
                  <a:srgbClr val="E4C05C"/>
                </a:solidFill>
                <a:latin typeface="Calibri" pitchFamily="34" charset="0"/>
                <a:ea typeface="Calibri" pitchFamily="34" charset="-122"/>
                <a:cs typeface="Calibri" pitchFamily="34" charset="-120"/>
              </a:rPr>
              <a:t>Have you decided?</a:t>
            </a:r>
            <a:endParaRPr lang="en-US" sz="1100" dirty="0"/>
          </a:p>
        </p:txBody>
      </p:sp>
      <p:sp>
        <p:nvSpPr>
          <p:cNvPr id="6" name="Shape 4"/>
          <p:cNvSpPr/>
          <p:nvPr/>
        </p:nvSpPr>
        <p:spPr>
          <a:xfrm>
            <a:off x="548640" y="1965960"/>
            <a:ext cx="3072384" cy="420624"/>
          </a:xfrm>
          <a:prstGeom prst="roundRect">
            <a:avLst>
              <a:gd name="adj" fmla="val 50000"/>
            </a:avLst>
          </a:prstGeom>
          <a:solidFill>
            <a:srgbClr val="0C1A31"/>
          </a:solidFill>
          <a:ln w="15875">
            <a:solidFill>
              <a:srgbClr val="C9A432"/>
            </a:solidFill>
            <a:prstDash val="solid"/>
          </a:ln>
        </p:spPr>
      </p:sp>
      <p:sp>
        <p:nvSpPr>
          <p:cNvPr id="7" name="Text 5"/>
          <p:cNvSpPr txBox="1"/>
          <p:nvPr/>
        </p:nvSpPr>
        <p:spPr>
          <a:xfrm>
            <a:off x="548640" y="1965960"/>
            <a:ext cx="307238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thinking of going to ~</a:t>
            </a:r>
            <a:endParaRPr lang="en-US" sz="1500" dirty="0"/>
          </a:p>
        </p:txBody>
      </p:sp>
      <p:sp>
        <p:nvSpPr>
          <p:cNvPr id="8" name="Shape 6"/>
          <p:cNvSpPr/>
          <p:nvPr/>
        </p:nvSpPr>
        <p:spPr>
          <a:xfrm>
            <a:off x="3749040" y="1965960"/>
            <a:ext cx="2953512" cy="420624"/>
          </a:xfrm>
          <a:prstGeom prst="roundRect">
            <a:avLst>
              <a:gd name="adj" fmla="val 50000"/>
            </a:avLst>
          </a:prstGeom>
          <a:solidFill>
            <a:srgbClr val="0C1A31"/>
          </a:solidFill>
          <a:ln w="15875">
            <a:solidFill>
              <a:srgbClr val="C9A432"/>
            </a:solidFill>
            <a:prstDash val="solid"/>
          </a:ln>
        </p:spPr>
      </p:sp>
      <p:sp>
        <p:nvSpPr>
          <p:cNvPr id="9" name="Text 7"/>
          <p:cNvSpPr txBox="1"/>
          <p:nvPr/>
        </p:nvSpPr>
        <p:spPr>
          <a:xfrm>
            <a:off x="3749040" y="1965960"/>
            <a:ext cx="295351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thinking of meeting ~</a:t>
            </a:r>
            <a:endParaRPr lang="en-US" sz="1500" dirty="0"/>
          </a:p>
        </p:txBody>
      </p:sp>
      <p:sp>
        <p:nvSpPr>
          <p:cNvPr id="10" name="Shape 8"/>
          <p:cNvSpPr/>
          <p:nvPr/>
        </p:nvSpPr>
        <p:spPr>
          <a:xfrm>
            <a:off x="6830568" y="1965960"/>
            <a:ext cx="2240280" cy="420624"/>
          </a:xfrm>
          <a:prstGeom prst="roundRect">
            <a:avLst>
              <a:gd name="adj" fmla="val 50000"/>
            </a:avLst>
          </a:prstGeom>
          <a:solidFill>
            <a:srgbClr val="0C1A31"/>
          </a:solidFill>
          <a:ln w="15875">
            <a:solidFill>
              <a:srgbClr val="C9A432"/>
            </a:solidFill>
            <a:prstDash val="solid"/>
          </a:ln>
        </p:spPr>
      </p:sp>
      <p:sp>
        <p:nvSpPr>
          <p:cNvPr id="11" name="Text 9"/>
          <p:cNvSpPr txBox="1"/>
          <p:nvPr/>
        </p:nvSpPr>
        <p:spPr>
          <a:xfrm>
            <a:off x="6830568" y="1965960"/>
            <a:ext cx="224028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not decided yet</a:t>
            </a:r>
            <a:endParaRPr lang="en-US" sz="1500" dirty="0"/>
          </a:p>
        </p:txBody>
      </p:sp>
      <p:sp>
        <p:nvSpPr>
          <p:cNvPr id="12" name="Shape 10"/>
          <p:cNvSpPr/>
          <p:nvPr/>
        </p:nvSpPr>
        <p:spPr>
          <a:xfrm>
            <a:off x="9198864" y="1965960"/>
            <a:ext cx="2121408" cy="420624"/>
          </a:xfrm>
          <a:prstGeom prst="roundRect">
            <a:avLst>
              <a:gd name="adj" fmla="val 50000"/>
            </a:avLst>
          </a:prstGeom>
          <a:solidFill>
            <a:srgbClr val="0C1A31"/>
          </a:solidFill>
          <a:ln w="15875">
            <a:solidFill>
              <a:srgbClr val="C9A432"/>
            </a:solidFill>
            <a:prstDash val="solid"/>
          </a:ln>
        </p:spPr>
      </p:sp>
      <p:sp>
        <p:nvSpPr>
          <p:cNvPr id="13" name="Text 11"/>
          <p:cNvSpPr txBox="1"/>
          <p:nvPr/>
        </p:nvSpPr>
        <p:spPr>
          <a:xfrm>
            <a:off x="9198864" y="1965960"/>
            <a:ext cx="212140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maybe Thursday</a:t>
            </a:r>
            <a:endParaRPr lang="en-US" sz="1500" dirty="0"/>
          </a:p>
        </p:txBody>
      </p:sp>
      <p:sp>
        <p:nvSpPr>
          <p:cNvPr id="14" name="Shape 12"/>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5" name="Text 13"/>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6" name="Text 14"/>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I’m thinking of ~~~~</a:t>
            </a:r>
            <a:r>
              <a:rPr lang="en-US" sz="1600" dirty="0" err="1">
                <a:solidFill>
                  <a:schemeClr val="bg1"/>
                </a:solidFill>
              </a:rPr>
              <a:t>ing</a:t>
            </a:r>
            <a:endParaRPr lang="en-US" sz="1600" dirty="0">
              <a:solidFill>
                <a:schemeClr val="bg1"/>
              </a:solidFill>
            </a:endParaRP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Not decided yet.</a:t>
            </a:r>
          </a:p>
          <a:p>
            <a:pPr marL="0" indent="0">
              <a:lnSpc>
                <a:spcPct val="120000"/>
              </a:lnSpc>
              <a:buNone/>
            </a:pPr>
            <a:r>
              <a:rPr lang="en-US" sz="1600" dirty="0">
                <a:solidFill>
                  <a:schemeClr val="bg1"/>
                </a:solidFill>
              </a:rPr>
              <a:t>But I’m thinking of studying English for myself.</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What I’m thinking, you are good househusband. </a:t>
            </a:r>
          </a:p>
          <a:p>
            <a:pPr marL="0" indent="0">
              <a:lnSpc>
                <a:spcPct val="120000"/>
              </a:lnSpc>
              <a:buNone/>
            </a:pPr>
            <a:r>
              <a:rPr lang="en-US" sz="1600" dirty="0">
                <a:solidFill>
                  <a:schemeClr val="bg1"/>
                </a:solidFill>
              </a:rPr>
              <a:t>What I’m thinking, my husband need to make more money.</a:t>
            </a:r>
          </a:p>
          <a:p>
            <a:pPr marL="0" indent="0">
              <a:lnSpc>
                <a:spcPct val="120000"/>
              </a:lnSpc>
              <a:buNone/>
            </a:pPr>
            <a:r>
              <a:rPr lang="en-US" sz="1600" dirty="0">
                <a:solidFill>
                  <a:schemeClr val="bg1"/>
                </a:solidFill>
              </a:rPr>
              <a:t>What I’m thinking, you are a good person.</a:t>
            </a:r>
          </a:p>
          <a:p>
            <a:pPr marL="0" indent="0">
              <a:lnSpc>
                <a:spcPct val="120000"/>
              </a:lnSpc>
              <a:buNone/>
            </a:pPr>
            <a:r>
              <a:rPr lang="en-US" sz="1600" dirty="0">
                <a:solidFill>
                  <a:schemeClr val="bg1"/>
                </a:solidFill>
              </a:rPr>
              <a:t>I’m thinking of planning to do for weekend.</a:t>
            </a:r>
          </a:p>
          <a:p>
            <a:pPr marL="0" indent="0">
              <a:lnSpc>
                <a:spcPct val="120000"/>
              </a:lnSpc>
              <a:buNone/>
            </a:pPr>
            <a:r>
              <a:rPr lang="en-US" sz="1600" dirty="0">
                <a:solidFill>
                  <a:schemeClr val="bg1"/>
                </a:solidFil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SMALL TALK  ·  6 / 6</a:t>
            </a:r>
            <a:endParaRPr lang="en-US" sz="1200" dirty="0"/>
          </a:p>
        </p:txBody>
      </p:sp>
      <p:sp>
        <p:nvSpPr>
          <p:cNvPr id="3" name="Text 1"/>
          <p:cNvSpPr txBox="1"/>
          <p:nvPr/>
        </p:nvSpPr>
        <p:spPr>
          <a:xfrm>
            <a:off x="5486400" y="237744"/>
            <a:ext cx="6126480" cy="329184"/>
          </a:xfrm>
          <a:prstGeom prst="rect">
            <a:avLst/>
          </a:prstGeom>
          <a:noFill/>
          <a:ln/>
        </p:spPr>
        <p:txBody>
          <a:bodyPr wrap="square" lIns="0" tIns="0" rIns="0" bIns="0" rtlCol="0" anchor="ctr">
            <a:normAutofit/>
          </a:bodyPr>
          <a:lstStyle/>
          <a:p>
            <a:pPr marL="0" indent="0" algn="r">
              <a:buNone/>
            </a:pPr>
            <a:r>
              <a:rPr lang="en-US" sz="1050" b="1" kern="0" spc="200" dirty="0">
                <a:solidFill>
                  <a:srgbClr val="C9A432"/>
                </a:solidFill>
                <a:latin typeface="Calibri" pitchFamily="34" charset="0"/>
                <a:ea typeface="Calibri" pitchFamily="34" charset="-122"/>
                <a:cs typeface="Calibri" pitchFamily="34" charset="-120"/>
              </a:rPr>
              <a:t>NEW   </a:t>
            </a:r>
            <a:r>
              <a:rPr lang="en-US" sz="1600" b="1" dirty="0">
                <a:solidFill>
                  <a:srgbClr val="FFFFFF"/>
                </a:solidFill>
                <a:latin typeface="Calibri" pitchFamily="34" charset="0"/>
                <a:ea typeface="Calibri" pitchFamily="34" charset="-122"/>
                <a:cs typeface="Calibri" pitchFamily="34" charset="-120"/>
              </a:rPr>
              <a:t>It's been a while since ~</a:t>
            </a:r>
            <a:endParaRPr lang="en-US" sz="1050" dirty="0"/>
          </a:p>
        </p:txBody>
      </p:sp>
      <p:sp>
        <p:nvSpPr>
          <p:cNvPr id="4" name="Text 2"/>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When did you last see a friend?</a:t>
            </a:r>
            <a:endParaRPr lang="en-US" sz="2600" dirty="0"/>
          </a:p>
        </p:txBody>
      </p:sp>
      <p:sp>
        <p:nvSpPr>
          <p:cNvPr id="5" name="Text 3"/>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AND THEN  </a:t>
            </a:r>
            <a:r>
              <a:rPr lang="en-US" sz="1700" i="1" dirty="0">
                <a:solidFill>
                  <a:srgbClr val="E4C05C"/>
                </a:solidFill>
                <a:latin typeface="Calibri" pitchFamily="34" charset="0"/>
                <a:ea typeface="Calibri" pitchFamily="34" charset="-122"/>
                <a:cs typeface="Calibri" pitchFamily="34" charset="-120"/>
              </a:rPr>
              <a:t>How long has it been?</a:t>
            </a:r>
            <a:endParaRPr lang="en-US" sz="1100" dirty="0"/>
          </a:p>
        </p:txBody>
      </p:sp>
      <p:sp>
        <p:nvSpPr>
          <p:cNvPr id="6" name="Shape 4"/>
          <p:cNvSpPr/>
          <p:nvPr/>
        </p:nvSpPr>
        <p:spPr>
          <a:xfrm>
            <a:off x="548640" y="1965960"/>
            <a:ext cx="2478024" cy="420624"/>
          </a:xfrm>
          <a:prstGeom prst="roundRect">
            <a:avLst>
              <a:gd name="adj" fmla="val 50000"/>
            </a:avLst>
          </a:prstGeom>
          <a:solidFill>
            <a:srgbClr val="0C1A31"/>
          </a:solidFill>
          <a:ln w="15875">
            <a:solidFill>
              <a:srgbClr val="C9A432"/>
            </a:solidFill>
            <a:prstDash val="solid"/>
          </a:ln>
        </p:spPr>
      </p:sp>
      <p:sp>
        <p:nvSpPr>
          <p:cNvPr id="7" name="Text 5"/>
          <p:cNvSpPr txBox="1"/>
          <p:nvPr/>
        </p:nvSpPr>
        <p:spPr>
          <a:xfrm>
            <a:off x="548640"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it's been a while</a:t>
            </a:r>
            <a:endParaRPr lang="en-US" sz="1500" dirty="0"/>
          </a:p>
        </p:txBody>
      </p:sp>
      <p:sp>
        <p:nvSpPr>
          <p:cNvPr id="8" name="Shape 6"/>
          <p:cNvSpPr/>
          <p:nvPr/>
        </p:nvSpPr>
        <p:spPr>
          <a:xfrm>
            <a:off x="3154680" y="1965960"/>
            <a:ext cx="2359152" cy="420624"/>
          </a:xfrm>
          <a:prstGeom prst="roundRect">
            <a:avLst>
              <a:gd name="adj" fmla="val 50000"/>
            </a:avLst>
          </a:prstGeom>
          <a:solidFill>
            <a:srgbClr val="0C1A31"/>
          </a:solidFill>
          <a:ln w="15875">
            <a:solidFill>
              <a:srgbClr val="C9A432"/>
            </a:solidFill>
            <a:prstDash val="solid"/>
          </a:ln>
        </p:spPr>
      </p:sp>
      <p:sp>
        <p:nvSpPr>
          <p:cNvPr id="9" name="Text 7"/>
          <p:cNvSpPr txBox="1"/>
          <p:nvPr/>
        </p:nvSpPr>
        <p:spPr>
          <a:xfrm>
            <a:off x="3154680" y="1965960"/>
            <a:ext cx="235915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since last month</a:t>
            </a:r>
            <a:endParaRPr lang="en-US" sz="1500" dirty="0"/>
          </a:p>
        </p:txBody>
      </p:sp>
      <p:sp>
        <p:nvSpPr>
          <p:cNvPr id="10" name="Shape 8"/>
          <p:cNvSpPr/>
          <p:nvPr/>
        </p:nvSpPr>
        <p:spPr>
          <a:xfrm>
            <a:off x="5641848" y="1965960"/>
            <a:ext cx="1883664" cy="420624"/>
          </a:xfrm>
          <a:prstGeom prst="roundRect">
            <a:avLst>
              <a:gd name="adj" fmla="val 50000"/>
            </a:avLst>
          </a:prstGeom>
          <a:solidFill>
            <a:srgbClr val="0C1A31"/>
          </a:solidFill>
          <a:ln w="15875">
            <a:solidFill>
              <a:srgbClr val="C9A432"/>
            </a:solidFill>
            <a:prstDash val="solid"/>
          </a:ln>
        </p:spPr>
      </p:sp>
      <p:sp>
        <p:nvSpPr>
          <p:cNvPr id="11" name="Text 9"/>
          <p:cNvSpPr txBox="1"/>
          <p:nvPr/>
        </p:nvSpPr>
        <p:spPr>
          <a:xfrm>
            <a:off x="5641848" y="1965960"/>
            <a:ext cx="188366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since summer</a:t>
            </a:r>
            <a:endParaRPr lang="en-US" sz="1500" dirty="0"/>
          </a:p>
        </p:txBody>
      </p:sp>
      <p:sp>
        <p:nvSpPr>
          <p:cNvPr id="12" name="Shape 10"/>
          <p:cNvSpPr/>
          <p:nvPr/>
        </p:nvSpPr>
        <p:spPr>
          <a:xfrm>
            <a:off x="7653528" y="1965960"/>
            <a:ext cx="2121408" cy="420624"/>
          </a:xfrm>
          <a:prstGeom prst="roundRect">
            <a:avLst>
              <a:gd name="adj" fmla="val 50000"/>
            </a:avLst>
          </a:prstGeom>
          <a:solidFill>
            <a:srgbClr val="0C1A31"/>
          </a:solidFill>
          <a:ln w="15875">
            <a:solidFill>
              <a:srgbClr val="C9A432"/>
            </a:solidFill>
            <a:prstDash val="solid"/>
          </a:ln>
        </p:spPr>
      </p:sp>
      <p:sp>
        <p:nvSpPr>
          <p:cNvPr id="13" name="Text 11"/>
          <p:cNvSpPr txBox="1"/>
          <p:nvPr/>
        </p:nvSpPr>
        <p:spPr>
          <a:xfrm>
            <a:off x="7653528" y="1965960"/>
            <a:ext cx="212140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we should meet</a:t>
            </a:r>
            <a:endParaRPr lang="en-US" sz="1500" dirty="0"/>
          </a:p>
        </p:txBody>
      </p:sp>
      <p:sp>
        <p:nvSpPr>
          <p:cNvPr id="14" name="Shape 12"/>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5" name="Text 13"/>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6" name="Text 14"/>
          <p:cNvSpPr txBox="1"/>
          <p:nvPr/>
        </p:nvSpPr>
        <p:spPr>
          <a:xfrm>
            <a:off x="786384"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It’s been a while since~</a:t>
            </a:r>
          </a:p>
          <a:p>
            <a:pPr marL="0" indent="0">
              <a:lnSpc>
                <a:spcPct val="120000"/>
              </a:lnSpc>
              <a:buNone/>
            </a:pPr>
            <a:r>
              <a:rPr lang="en-US" sz="1600" dirty="0">
                <a:solidFill>
                  <a:schemeClr val="bg1"/>
                </a:solidFill>
              </a:rPr>
              <a:t>I saw my friend last Wednesday.</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(How about a friend who hasn’t seen for a while?)</a:t>
            </a:r>
          </a:p>
          <a:p>
            <a:pPr marL="0" indent="0">
              <a:lnSpc>
                <a:spcPct val="120000"/>
              </a:lnSpc>
              <a:buNone/>
            </a:pPr>
            <a:r>
              <a:rPr lang="en-US" sz="1600" dirty="0">
                <a:solidFill>
                  <a:schemeClr val="bg1"/>
                </a:solidFill>
              </a:rPr>
              <a:t>I usually meet 4 friends. One friend among 4, It’s been a while since 3 months.</a:t>
            </a:r>
          </a:p>
          <a:p>
            <a:pPr marL="0" indent="0">
              <a:lnSpc>
                <a:spcPct val="120000"/>
              </a:lnSpc>
              <a:buNone/>
            </a:pPr>
            <a:endParaRPr lang="en-US" sz="1600" dirty="0">
              <a:solidFill>
                <a:schemeClr val="bg1"/>
              </a:solidFill>
            </a:endParaRPr>
          </a:p>
          <a:p>
            <a:pPr marL="0" indent="0">
              <a:lnSpc>
                <a:spcPct val="120000"/>
              </a:lnSpc>
              <a:buNone/>
            </a:pPr>
            <a:r>
              <a:rPr lang="en-US" sz="1600" dirty="0">
                <a:solidFill>
                  <a:schemeClr val="bg1"/>
                </a:solidFill>
              </a:rPr>
              <a:t>(Other 3 friends, do you meet often?)</a:t>
            </a:r>
          </a:p>
          <a:p>
            <a:pPr marL="0" indent="0">
              <a:lnSpc>
                <a:spcPct val="120000"/>
              </a:lnSpc>
              <a:buNone/>
            </a:pPr>
            <a:r>
              <a:rPr lang="en-US" sz="1600" dirty="0">
                <a:solidFill>
                  <a:schemeClr val="bg1"/>
                </a:solidFill>
              </a:rPr>
              <a:t>Yes. I usually meet those 3 friends once per month.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BOOKING A SEMINAR  ·  1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Hi, I'm calling from a pharmaceutical company. We're planning a half-day seminar for about forty people. Is a weekday morning possible?</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THEY ASK  </a:t>
            </a:r>
            <a:r>
              <a:rPr lang="en-US" sz="1700" i="1" dirty="0">
                <a:solidFill>
                  <a:srgbClr val="E4C05C"/>
                </a:solidFill>
                <a:latin typeface="Calibri" pitchFamily="34" charset="0"/>
                <a:ea typeface="Calibri" pitchFamily="34" charset="-122"/>
                <a:cs typeface="Calibri" pitchFamily="34" charset="-120"/>
              </a:rPr>
              <a:t>Which days are open?</a:t>
            </a:r>
            <a:endParaRPr lang="en-US" sz="1100" dirty="0"/>
          </a:p>
        </p:txBody>
      </p:sp>
      <p:sp>
        <p:nvSpPr>
          <p:cNvPr id="5" name="Shape 3"/>
          <p:cNvSpPr/>
          <p:nvPr/>
        </p:nvSpPr>
        <p:spPr>
          <a:xfrm>
            <a:off x="548640" y="1965960"/>
            <a:ext cx="2240280"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224028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weekday morning</a:t>
            </a:r>
            <a:endParaRPr lang="en-US" sz="1500" dirty="0"/>
          </a:p>
        </p:txBody>
      </p:sp>
      <p:sp>
        <p:nvSpPr>
          <p:cNvPr id="7" name="Shape 5"/>
          <p:cNvSpPr/>
          <p:nvPr/>
        </p:nvSpPr>
        <p:spPr>
          <a:xfrm>
            <a:off x="2916936" y="1965960"/>
            <a:ext cx="1883664"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916936" y="1965960"/>
            <a:ext cx="188366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forty people</a:t>
            </a:r>
            <a:endParaRPr lang="en-US" sz="1500" dirty="0"/>
          </a:p>
        </p:txBody>
      </p:sp>
      <p:sp>
        <p:nvSpPr>
          <p:cNvPr id="9" name="Shape 7"/>
          <p:cNvSpPr/>
          <p:nvPr/>
        </p:nvSpPr>
        <p:spPr>
          <a:xfrm>
            <a:off x="4928616" y="1965960"/>
            <a:ext cx="1764792"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4928616" y="1965960"/>
            <a:ext cx="176479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which date?</a:t>
            </a:r>
            <a:endParaRPr lang="en-US" sz="1500" dirty="0"/>
          </a:p>
        </p:txBody>
      </p:sp>
      <p:sp>
        <p:nvSpPr>
          <p:cNvPr id="11" name="Shape 9"/>
          <p:cNvSpPr/>
          <p:nvPr/>
        </p:nvSpPr>
        <p:spPr>
          <a:xfrm>
            <a:off x="6821424" y="1965960"/>
            <a:ext cx="1883664"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6821424" y="1965960"/>
            <a:ext cx="188366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let me check</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Of course.</a:t>
            </a:r>
          </a:p>
          <a:p>
            <a:pPr marL="0" indent="0">
              <a:lnSpc>
                <a:spcPct val="120000"/>
              </a:lnSpc>
              <a:buNone/>
            </a:pPr>
            <a:r>
              <a:rPr lang="en-US" sz="1600" dirty="0">
                <a:solidFill>
                  <a:schemeClr val="bg1"/>
                </a:solidFill>
              </a:rPr>
              <a:t>Do you have the date? / When is the date? / When is the event date? / Do you have any date in mind?</a:t>
            </a:r>
          </a:p>
          <a:p>
            <a:pPr marL="0" indent="0">
              <a:lnSpc>
                <a:spcPct val="120000"/>
              </a:lnSpc>
              <a:buNone/>
            </a:pPr>
            <a:r>
              <a:rPr lang="en-US" sz="1600" dirty="0">
                <a:solidFill>
                  <a:schemeClr val="bg1"/>
                </a:solidFill>
              </a:rPr>
              <a:t>(How about 2</a:t>
            </a:r>
            <a:r>
              <a:rPr lang="en-US" sz="1600" baseline="30000" dirty="0">
                <a:solidFill>
                  <a:schemeClr val="bg1"/>
                </a:solidFill>
              </a:rPr>
              <a:t>nd</a:t>
            </a:r>
            <a:r>
              <a:rPr lang="en-US" sz="1600" dirty="0">
                <a:solidFill>
                  <a:schemeClr val="bg1"/>
                </a:solidFill>
              </a:rPr>
              <a:t> week of November?)</a:t>
            </a:r>
          </a:p>
          <a:p>
            <a:pPr marL="0" indent="0">
              <a:lnSpc>
                <a:spcPct val="120000"/>
              </a:lnSpc>
              <a:buNone/>
            </a:pPr>
            <a:r>
              <a:rPr lang="en-US" sz="1600" dirty="0">
                <a:solidFill>
                  <a:schemeClr val="bg1"/>
                </a:solidFill>
              </a:rPr>
              <a:t>Let me check the schedule. One moment please.</a:t>
            </a:r>
          </a:p>
          <a:p>
            <a:pPr marL="0" indent="0">
              <a:lnSpc>
                <a:spcPct val="120000"/>
              </a:lnSpc>
              <a:buNone/>
            </a:pPr>
            <a:r>
              <a:rPr lang="en-US" sz="1600" dirty="0">
                <a:solidFill>
                  <a:schemeClr val="bg1"/>
                </a:solidFill>
              </a:rPr>
              <a:t>(Okay. Take your time)</a:t>
            </a:r>
          </a:p>
          <a:p>
            <a:pPr marL="0" indent="0">
              <a:lnSpc>
                <a:spcPct val="120000"/>
              </a:lnSpc>
              <a:buNone/>
            </a:pPr>
            <a:r>
              <a:rPr lang="en-US" sz="1600" dirty="0">
                <a:solidFill>
                  <a:schemeClr val="bg1"/>
                </a:solidFill>
              </a:rPr>
              <a:t>I checked the available. From Monday to Thursday, you can choose.</a:t>
            </a:r>
          </a:p>
          <a:p>
            <a:pPr marL="0" indent="0">
              <a:lnSpc>
                <a:spcPct val="120000"/>
              </a:lnSpc>
              <a:buNone/>
            </a:pPr>
            <a:r>
              <a:rPr lang="en-US" sz="1600" dirty="0">
                <a:solidFill>
                  <a:schemeClr val="bg1"/>
                </a:solidFill>
              </a:rPr>
              <a:t>(How about 9</a:t>
            </a:r>
            <a:r>
              <a:rPr lang="en-US" sz="1600" baseline="30000" dirty="0">
                <a:solidFill>
                  <a:schemeClr val="bg1"/>
                </a:solidFill>
              </a:rPr>
              <a:t>th</a:t>
            </a:r>
            <a:r>
              <a:rPr lang="en-US" sz="1600" dirty="0">
                <a:solidFill>
                  <a:schemeClr val="bg1"/>
                </a:solidFill>
              </a:rPr>
              <a:t> of November Monday?)</a:t>
            </a:r>
          </a:p>
          <a:p>
            <a:pPr marL="0" indent="0">
              <a:lnSpc>
                <a:spcPct val="120000"/>
              </a:lnSpc>
              <a:buNone/>
            </a:pPr>
            <a:r>
              <a:rPr lang="en-US" sz="1600" dirty="0">
                <a:solidFill>
                  <a:schemeClr val="bg1"/>
                </a:solidFill>
              </a:rPr>
              <a:t>It’s available. What time do you want to start?</a:t>
            </a:r>
          </a:p>
          <a:p>
            <a:pPr marL="0" indent="0">
              <a:lnSpc>
                <a:spcPct val="120000"/>
              </a:lnSpc>
              <a:buNone/>
            </a:pPr>
            <a:r>
              <a:rPr lang="en-US" sz="1600" dirty="0">
                <a:solidFill>
                  <a:schemeClr val="bg1"/>
                </a:solidFill>
              </a:rPr>
              <a:t>(What time can we start? Is 9am okay?)</a:t>
            </a:r>
          </a:p>
          <a:p>
            <a:pPr marL="0" indent="0">
              <a:lnSpc>
                <a:spcPct val="120000"/>
              </a:lnSpc>
              <a:buNone/>
            </a:pPr>
            <a:r>
              <a:rPr lang="en-US" sz="1600" dirty="0">
                <a:solidFill>
                  <a:schemeClr val="bg1"/>
                </a:solidFill>
              </a:rPr>
              <a:t>You can start from 8am. Our banquet manager will prepare from 7am.</a:t>
            </a:r>
          </a:p>
          <a:p>
            <a:pPr marL="0" indent="0">
              <a:lnSpc>
                <a:spcPct val="120000"/>
              </a:lnSpc>
              <a:buNone/>
            </a:pPr>
            <a:r>
              <a:rPr lang="en-US" sz="1600" dirty="0">
                <a:solidFill>
                  <a:schemeClr val="bg1"/>
                </a:solidFill>
              </a:rPr>
              <a:t>(Okay. We can okay with 9am.)</a:t>
            </a:r>
          </a:p>
          <a:p>
            <a:pPr marL="0" indent="0">
              <a:lnSpc>
                <a:spcPct val="120000"/>
              </a:lnSpc>
              <a:buNone/>
            </a:pPr>
            <a:r>
              <a:rPr lang="en-US" sz="1600" dirty="0">
                <a:solidFill>
                  <a:schemeClr val="bg1"/>
                </a:solidFill>
              </a:rPr>
              <a:t>For how long?</a:t>
            </a:r>
          </a:p>
          <a:p>
            <a:pPr marL="0" indent="0">
              <a:lnSpc>
                <a:spcPct val="120000"/>
              </a:lnSpc>
              <a:buNone/>
            </a:pPr>
            <a:r>
              <a:rPr lang="en-US" sz="1600" dirty="0">
                <a:solidFill>
                  <a:schemeClr val="bg1"/>
                </a:solidFill>
              </a:rPr>
              <a:t>(How about 5 hours?)</a:t>
            </a:r>
          </a:p>
          <a:p>
            <a:pPr marL="0" indent="0">
              <a:lnSpc>
                <a:spcPct val="120000"/>
              </a:lnSpc>
              <a:buNone/>
            </a:pPr>
            <a:r>
              <a:rPr lang="en-US" sz="1600" dirty="0">
                <a:solidFill>
                  <a:schemeClr val="bg1"/>
                </a:solidFill>
              </a:rPr>
              <a:t>Is it only event time? Or prepare time included?</a:t>
            </a:r>
          </a:p>
          <a:p>
            <a:pPr marL="0" indent="0">
              <a:lnSpc>
                <a:spcPct val="120000"/>
              </a:lnSpc>
              <a:buNone/>
            </a:pPr>
            <a:r>
              <a:rPr lang="en-US" sz="1600" dirty="0">
                <a:solidFill>
                  <a:schemeClr val="bg1"/>
                </a:solidFill>
              </a:rPr>
              <a:t>(Event time 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BOOKING A SEMINAR  ·  2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We'll need a registration desk at the entrance and a place for a banner. Is that okay?</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THEY ASK  </a:t>
            </a:r>
            <a:r>
              <a:rPr lang="en-US" sz="1700" i="1" dirty="0">
                <a:solidFill>
                  <a:srgbClr val="E4C05C"/>
                </a:solidFill>
                <a:latin typeface="Calibri" pitchFamily="34" charset="0"/>
                <a:ea typeface="Calibri" pitchFamily="34" charset="-122"/>
                <a:cs typeface="Calibri" pitchFamily="34" charset="-120"/>
              </a:rPr>
              <a:t>Can we set up the day before?</a:t>
            </a:r>
            <a:endParaRPr lang="en-US" sz="1100" dirty="0"/>
          </a:p>
        </p:txBody>
      </p:sp>
      <p:sp>
        <p:nvSpPr>
          <p:cNvPr id="5" name="Shape 3"/>
          <p:cNvSpPr/>
          <p:nvPr/>
        </p:nvSpPr>
        <p:spPr>
          <a:xfrm>
            <a:off x="548640" y="1965960"/>
            <a:ext cx="2834640"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283464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desk at the entrance</a:t>
            </a:r>
            <a:endParaRPr lang="en-US" sz="1500" dirty="0"/>
          </a:p>
        </p:txBody>
      </p:sp>
      <p:sp>
        <p:nvSpPr>
          <p:cNvPr id="7" name="Shape 5"/>
          <p:cNvSpPr/>
          <p:nvPr/>
        </p:nvSpPr>
        <p:spPr>
          <a:xfrm>
            <a:off x="3511296" y="1965960"/>
            <a:ext cx="1883664"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3511296" y="1965960"/>
            <a:ext cx="188366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banner stand</a:t>
            </a:r>
            <a:endParaRPr lang="en-US" sz="1500" dirty="0"/>
          </a:p>
        </p:txBody>
      </p:sp>
      <p:sp>
        <p:nvSpPr>
          <p:cNvPr id="9" name="Shape 7"/>
          <p:cNvSpPr/>
          <p:nvPr/>
        </p:nvSpPr>
        <p:spPr>
          <a:xfrm>
            <a:off x="5522976" y="1965960"/>
            <a:ext cx="1645920"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5522976" y="1965960"/>
            <a:ext cx="164592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day before</a:t>
            </a:r>
            <a:endParaRPr lang="en-US" sz="1500" dirty="0"/>
          </a:p>
        </p:txBody>
      </p:sp>
      <p:sp>
        <p:nvSpPr>
          <p:cNvPr id="11" name="Shape 9"/>
          <p:cNvSpPr/>
          <p:nvPr/>
        </p:nvSpPr>
        <p:spPr>
          <a:xfrm>
            <a:off x="7296912" y="1965960"/>
            <a:ext cx="2121408"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7296912" y="1965960"/>
            <a:ext cx="212140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from ~ o'clock</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That is okay.</a:t>
            </a:r>
          </a:p>
          <a:p>
            <a:pPr marL="0" indent="0">
              <a:lnSpc>
                <a:spcPct val="120000"/>
              </a:lnSpc>
              <a:buNone/>
            </a:pPr>
            <a:r>
              <a:rPr lang="en-US" sz="1600" dirty="0">
                <a:solidFill>
                  <a:schemeClr val="bg1"/>
                </a:solidFill>
              </a:rPr>
              <a:t>We can prepare.</a:t>
            </a:r>
          </a:p>
          <a:p>
            <a:pPr marL="0" indent="0">
              <a:lnSpc>
                <a:spcPct val="120000"/>
              </a:lnSpc>
              <a:buNone/>
            </a:pPr>
            <a:r>
              <a:rPr lang="en-US" sz="1600" dirty="0">
                <a:solidFill>
                  <a:schemeClr val="bg1"/>
                </a:solidFill>
              </a:rPr>
              <a:t>(You mean you can prepare the desk and a banner?)</a:t>
            </a:r>
          </a:p>
          <a:p>
            <a:pPr marL="0" indent="0">
              <a:lnSpc>
                <a:spcPct val="120000"/>
              </a:lnSpc>
              <a:buNone/>
            </a:pPr>
            <a:r>
              <a:rPr lang="en-US" sz="1600" dirty="0">
                <a:solidFill>
                  <a:schemeClr val="bg1"/>
                </a:solidFill>
              </a:rPr>
              <a:t>We can request to us or you can bring your own.</a:t>
            </a:r>
          </a:p>
          <a:p>
            <a:pPr marL="0" indent="0">
              <a:lnSpc>
                <a:spcPct val="120000"/>
              </a:lnSpc>
              <a:buNone/>
            </a:pPr>
            <a:r>
              <a:rPr lang="en-US" sz="1600" dirty="0">
                <a:solidFill>
                  <a:schemeClr val="bg1"/>
                </a:solidFill>
              </a:rPr>
              <a:t>(Can I request you for a desk? Then we will bring our own banner)</a:t>
            </a:r>
          </a:p>
          <a:p>
            <a:pPr marL="0" indent="0">
              <a:lnSpc>
                <a:spcPct val="120000"/>
              </a:lnSpc>
              <a:buNone/>
            </a:pPr>
            <a:r>
              <a:rPr lang="en-US" sz="1600" dirty="0">
                <a:solidFill>
                  <a:schemeClr val="bg1"/>
                </a:solidFill>
              </a:rPr>
              <a:t>Desk is ready at the entrance. You can use that.</a:t>
            </a:r>
          </a:p>
          <a:p>
            <a:pPr marL="0" indent="0">
              <a:lnSpc>
                <a:spcPct val="120000"/>
              </a:lnSpc>
              <a:buNone/>
            </a:pPr>
            <a:r>
              <a:rPr lang="en-US" sz="1600" dirty="0">
                <a:solidFill>
                  <a:schemeClr val="bg1"/>
                </a:solidFill>
              </a:rPr>
              <a:t>(Oh. Okay. So we will use that desk for a registration desk.)</a:t>
            </a:r>
          </a:p>
          <a:p>
            <a:pPr marL="0" indent="0">
              <a:lnSpc>
                <a:spcPct val="120000"/>
              </a:lnSpc>
              <a:buNone/>
            </a:pPr>
            <a:r>
              <a:rPr lang="en-US" sz="1600" dirty="0">
                <a:solidFill>
                  <a:schemeClr val="bg1"/>
                </a:solidFill>
              </a:rPr>
              <a:t>(Can we set-up the day before?)</a:t>
            </a:r>
          </a:p>
          <a:p>
            <a:pPr marL="0" indent="0">
              <a:lnSpc>
                <a:spcPct val="120000"/>
              </a:lnSpc>
              <a:buNone/>
            </a:pPr>
            <a:r>
              <a:rPr lang="en-US" sz="1600" dirty="0">
                <a:solidFill>
                  <a:schemeClr val="bg1"/>
                </a:solidFill>
              </a:rPr>
              <a:t>Is your event start at 9am? Right?</a:t>
            </a:r>
          </a:p>
          <a:p>
            <a:pPr marL="0" indent="0">
              <a:lnSpc>
                <a:spcPct val="120000"/>
              </a:lnSpc>
              <a:buNone/>
            </a:pPr>
            <a:r>
              <a:rPr lang="en-US" sz="1600" dirty="0">
                <a:solidFill>
                  <a:schemeClr val="bg1"/>
                </a:solidFill>
              </a:rPr>
              <a:t>(That’s correct.)</a:t>
            </a:r>
          </a:p>
          <a:p>
            <a:pPr marL="0" indent="0">
              <a:lnSpc>
                <a:spcPct val="120000"/>
              </a:lnSpc>
              <a:buNone/>
            </a:pPr>
            <a:r>
              <a:rPr lang="en-US" sz="1600" dirty="0">
                <a:solidFill>
                  <a:schemeClr val="bg1"/>
                </a:solidFill>
              </a:rPr>
              <a:t>One hour before the event, you can do the set-up. Our staffs will help you on the day. (How about one day before?)</a:t>
            </a:r>
          </a:p>
          <a:p>
            <a:pPr marL="0" indent="0">
              <a:lnSpc>
                <a:spcPct val="120000"/>
              </a:lnSpc>
              <a:buNone/>
            </a:pPr>
            <a:r>
              <a:rPr lang="en-US" sz="1600" dirty="0">
                <a:solidFill>
                  <a:schemeClr val="bg1"/>
                </a:solidFill>
              </a:rPr>
              <a:t>It’s available. But there is an extra charge. (Then no worries. We will just set-up one hour before.) Good great. You can use the event at 7am on the day. If you need to bring the equipment early, you can bring them one day before from 7pm. Please let me know.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BOOKING A SEMINAR  ·  3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Is there Wi-Fi for the guests? And enough power outlets for laptops?</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THEY ASK  </a:t>
            </a:r>
            <a:r>
              <a:rPr lang="en-US" sz="1700" i="1" dirty="0">
                <a:solidFill>
                  <a:srgbClr val="E4C05C"/>
                </a:solidFill>
                <a:latin typeface="Calibri" pitchFamily="34" charset="0"/>
                <a:ea typeface="Calibri" pitchFamily="34" charset="-122"/>
                <a:cs typeface="Calibri" pitchFamily="34" charset="-120"/>
              </a:rPr>
              <a:t>Is the Wi-Fi free?</a:t>
            </a:r>
            <a:endParaRPr lang="en-US" sz="1100" dirty="0"/>
          </a:p>
        </p:txBody>
      </p:sp>
      <p:sp>
        <p:nvSpPr>
          <p:cNvPr id="5" name="Shape 3"/>
          <p:cNvSpPr/>
          <p:nvPr/>
        </p:nvSpPr>
        <p:spPr>
          <a:xfrm>
            <a:off x="548640" y="1965960"/>
            <a:ext cx="1645920"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164592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free Wi-Fi</a:t>
            </a:r>
            <a:endParaRPr lang="en-US" sz="1500" dirty="0"/>
          </a:p>
        </p:txBody>
      </p:sp>
      <p:sp>
        <p:nvSpPr>
          <p:cNvPr id="7" name="Shape 5"/>
          <p:cNvSpPr/>
          <p:nvPr/>
        </p:nvSpPr>
        <p:spPr>
          <a:xfrm>
            <a:off x="2322576" y="1965960"/>
            <a:ext cx="1408176"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322576" y="1965960"/>
            <a:ext cx="140817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password</a:t>
            </a:r>
            <a:endParaRPr lang="en-US" sz="1500" dirty="0"/>
          </a:p>
        </p:txBody>
      </p:sp>
      <p:sp>
        <p:nvSpPr>
          <p:cNvPr id="9" name="Shape 7"/>
          <p:cNvSpPr/>
          <p:nvPr/>
        </p:nvSpPr>
        <p:spPr>
          <a:xfrm>
            <a:off x="3858768" y="1965960"/>
            <a:ext cx="3072384"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3858768" y="1965960"/>
            <a:ext cx="307238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outlets along the wall</a:t>
            </a:r>
            <a:endParaRPr lang="en-US" sz="1500" dirty="0"/>
          </a:p>
        </p:txBody>
      </p:sp>
      <p:sp>
        <p:nvSpPr>
          <p:cNvPr id="11" name="Shape 9"/>
          <p:cNvSpPr/>
          <p:nvPr/>
        </p:nvSpPr>
        <p:spPr>
          <a:xfrm>
            <a:off x="7059168" y="1965960"/>
            <a:ext cx="2240280"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7059168" y="1965960"/>
            <a:ext cx="224028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extension cords</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You can use wi-fi and enough power outlets.</a:t>
            </a:r>
          </a:p>
          <a:p>
            <a:pPr marL="0" indent="0">
              <a:lnSpc>
                <a:spcPct val="120000"/>
              </a:lnSpc>
              <a:buNone/>
            </a:pPr>
            <a:r>
              <a:rPr lang="en-US" sz="1600" dirty="0">
                <a:solidFill>
                  <a:schemeClr val="bg1"/>
                </a:solidFill>
              </a:rPr>
              <a:t>Please let me know early.</a:t>
            </a:r>
          </a:p>
          <a:p>
            <a:pPr marL="0" indent="0">
              <a:lnSpc>
                <a:spcPct val="120000"/>
              </a:lnSpc>
              <a:buNone/>
            </a:pPr>
            <a:r>
              <a:rPr lang="en-US" sz="1600" dirty="0">
                <a:solidFill>
                  <a:schemeClr val="bg1"/>
                </a:solidFill>
              </a:rPr>
              <a:t>(So everyone will bring their own laptops.)</a:t>
            </a:r>
          </a:p>
          <a:p>
            <a:pPr marL="0" indent="0">
              <a:lnSpc>
                <a:spcPct val="120000"/>
              </a:lnSpc>
              <a:buNone/>
            </a:pPr>
            <a:r>
              <a:rPr lang="en-US" sz="1600" dirty="0">
                <a:solidFill>
                  <a:schemeClr val="bg1"/>
                </a:solidFill>
              </a:rPr>
              <a:t>Let me check early. / Let me check in advance.</a:t>
            </a:r>
          </a:p>
          <a:p>
            <a:pPr marL="0" indent="0">
              <a:lnSpc>
                <a:spcPct val="120000"/>
              </a:lnSpc>
              <a:buNone/>
            </a:pPr>
            <a:r>
              <a:rPr lang="en-US" sz="1600" dirty="0">
                <a:solidFill>
                  <a:schemeClr val="bg1"/>
                </a:solidFill>
              </a:rPr>
              <a:t>(For wi-fi, is there any password?)</a:t>
            </a:r>
          </a:p>
          <a:p>
            <a:pPr marL="0" indent="0">
              <a:lnSpc>
                <a:spcPct val="120000"/>
              </a:lnSpc>
              <a:buNone/>
            </a:pPr>
            <a:r>
              <a:rPr lang="en-US" sz="1600" dirty="0">
                <a:solidFill>
                  <a:schemeClr val="bg1"/>
                </a:solidFill>
              </a:rPr>
              <a:t>There is a password for wi-fi. At the entrance, we will put the password on the pillar.</a:t>
            </a:r>
          </a:p>
          <a:p>
            <a:pPr marL="0" indent="0">
              <a:lnSpc>
                <a:spcPct val="120000"/>
              </a:lnSpc>
              <a:buNone/>
            </a:pPr>
            <a:r>
              <a:rPr lang="en-US" sz="1600" dirty="0">
                <a:solidFill>
                  <a:schemeClr val="bg1"/>
                </a:solidFill>
              </a:rPr>
              <a:t>(So can you help confirm that you can prepare the extension cords?)</a:t>
            </a:r>
          </a:p>
          <a:p>
            <a:pPr marL="0" indent="0">
              <a:lnSpc>
                <a:spcPct val="120000"/>
              </a:lnSpc>
              <a:buNone/>
            </a:pPr>
            <a:r>
              <a:rPr lang="en-US" sz="1600" dirty="0">
                <a:solidFill>
                  <a:schemeClr val="bg1"/>
                </a:solidFill>
              </a:rPr>
              <a:t>We can prepare 10 extension cords. If you need more extension cords, you can bring your own.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BOOKING A SEMINAR  ·  4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We'd like two coffee breaks instead of lunch. Can you do that?</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THEY ASK  </a:t>
            </a:r>
            <a:r>
              <a:rPr lang="en-US" sz="1700" i="1" dirty="0">
                <a:solidFill>
                  <a:srgbClr val="E4C05C"/>
                </a:solidFill>
                <a:latin typeface="Calibri" pitchFamily="34" charset="0"/>
                <a:ea typeface="Calibri" pitchFamily="34" charset="-122"/>
                <a:cs typeface="Calibri" pitchFamily="34" charset="-120"/>
              </a:rPr>
              <a:t>What's included in a coffee break?</a:t>
            </a:r>
            <a:endParaRPr lang="en-US" sz="1100" dirty="0"/>
          </a:p>
        </p:txBody>
      </p:sp>
      <p:sp>
        <p:nvSpPr>
          <p:cNvPr id="5" name="Shape 3"/>
          <p:cNvSpPr/>
          <p:nvPr/>
        </p:nvSpPr>
        <p:spPr>
          <a:xfrm>
            <a:off x="548640" y="1965960"/>
            <a:ext cx="2478024"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two coffee breaks</a:t>
            </a:r>
            <a:endParaRPr lang="en-US" sz="1500" dirty="0"/>
          </a:p>
        </p:txBody>
      </p:sp>
      <p:sp>
        <p:nvSpPr>
          <p:cNvPr id="7" name="Shape 5"/>
          <p:cNvSpPr/>
          <p:nvPr/>
        </p:nvSpPr>
        <p:spPr>
          <a:xfrm>
            <a:off x="3154680" y="1965960"/>
            <a:ext cx="2121408"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3154680" y="1965960"/>
            <a:ext cx="212140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coffee and tea</a:t>
            </a:r>
            <a:endParaRPr lang="en-US" sz="1500" dirty="0"/>
          </a:p>
        </p:txBody>
      </p:sp>
      <p:sp>
        <p:nvSpPr>
          <p:cNvPr id="9" name="Shape 7"/>
          <p:cNvSpPr/>
          <p:nvPr/>
        </p:nvSpPr>
        <p:spPr>
          <a:xfrm>
            <a:off x="5404104" y="1965960"/>
            <a:ext cx="2834640"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5404104" y="1965960"/>
            <a:ext cx="283464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cookies / sandwiches</a:t>
            </a:r>
            <a:endParaRPr lang="en-US" sz="1500" dirty="0"/>
          </a:p>
        </p:txBody>
      </p:sp>
      <p:sp>
        <p:nvSpPr>
          <p:cNvPr id="11" name="Shape 9"/>
          <p:cNvSpPr/>
          <p:nvPr/>
        </p:nvSpPr>
        <p:spPr>
          <a:xfrm>
            <a:off x="8366760" y="1965960"/>
            <a:ext cx="1645920"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8366760" y="1965960"/>
            <a:ext cx="164592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per person</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Do you want coffee break at the beginning of event and 1 more in between?</a:t>
            </a:r>
          </a:p>
          <a:p>
            <a:pPr marL="0" indent="0">
              <a:lnSpc>
                <a:spcPct val="120000"/>
              </a:lnSpc>
              <a:buNone/>
            </a:pPr>
            <a:r>
              <a:rPr lang="en-US" sz="1600" dirty="0">
                <a:solidFill>
                  <a:schemeClr val="bg1"/>
                </a:solidFill>
              </a:rPr>
              <a:t>(Yes. We want one coffee break at the beginning of event. And another one in the middle.)</a:t>
            </a:r>
          </a:p>
          <a:p>
            <a:pPr marL="0" indent="0">
              <a:lnSpc>
                <a:spcPct val="120000"/>
              </a:lnSpc>
              <a:buNone/>
            </a:pPr>
            <a:r>
              <a:rPr lang="en-US" sz="1600" dirty="0">
                <a:solidFill>
                  <a:schemeClr val="bg1"/>
                </a:solidFill>
              </a:rPr>
              <a:t>Lunch is not mandatory. You can request two coffee breaks. It’s 22,000 per person for 40 people on each coffee break.</a:t>
            </a:r>
          </a:p>
          <a:p>
            <a:pPr marL="0" indent="0">
              <a:lnSpc>
                <a:spcPct val="120000"/>
              </a:lnSpc>
              <a:buNone/>
            </a:pPr>
            <a:r>
              <a:rPr lang="en-US" sz="1600" dirty="0">
                <a:solidFill>
                  <a:schemeClr val="bg1"/>
                </a:solidFill>
              </a:rPr>
              <a:t>(Ah. Okay. Can I ask you what is included in a coffee break?)</a:t>
            </a:r>
          </a:p>
          <a:p>
            <a:pPr marL="0" indent="0">
              <a:lnSpc>
                <a:spcPct val="120000"/>
              </a:lnSpc>
              <a:buNone/>
            </a:pPr>
            <a:r>
              <a:rPr lang="en-US" sz="1600" dirty="0">
                <a:solidFill>
                  <a:schemeClr val="bg1"/>
                </a:solidFill>
              </a:rPr>
              <a:t>I will e-mail you with a quote and coffee break menu. Coffee break includes coffee and 3 cookies.</a:t>
            </a:r>
          </a:p>
          <a:p>
            <a:pPr marL="0" indent="0">
              <a:lnSpc>
                <a:spcPct val="120000"/>
              </a:lnSpc>
              <a:buNone/>
            </a:pPr>
            <a:r>
              <a:rPr lang="en-US" sz="1600" dirty="0">
                <a:solidFill>
                  <a:schemeClr val="bg1"/>
                </a:solidFill>
              </a:rPr>
              <a:t>(Okay. Thank you. Here is my email address.)</a:t>
            </a:r>
          </a:p>
          <a:p>
            <a:pPr marL="0" indent="0">
              <a:lnSpc>
                <a:spcPct val="120000"/>
              </a:lnSpc>
              <a:buNone/>
            </a:pPr>
            <a:r>
              <a:rPr lang="en-US" sz="1600" dirty="0">
                <a:solidFill>
                  <a:schemeClr val="bg1"/>
                </a:solidFill>
              </a:rPr>
              <a:t>Can I get your name, phone number and e-mail address?</a:t>
            </a:r>
          </a:p>
          <a:p>
            <a:pPr marL="0" indent="0">
              <a:lnSpc>
                <a:spcPct val="120000"/>
              </a:lnSpc>
              <a:buNone/>
            </a:pPr>
            <a:r>
              <a:rPr lang="en-US" sz="1600" dirty="0">
                <a:solidFill>
                  <a:schemeClr val="bg1"/>
                </a:solidFill>
              </a:rPr>
              <a:t>May I have your name, phone number and e-mail address?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BOOKING A SEMINAR  ·  5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Can you issue a tax invoice to the company?</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THEY ASK  </a:t>
            </a:r>
            <a:r>
              <a:rPr lang="en-US" sz="1700" i="1" dirty="0">
                <a:solidFill>
                  <a:srgbClr val="E4C05C"/>
                </a:solidFill>
                <a:latin typeface="Calibri" pitchFamily="34" charset="0"/>
                <a:ea typeface="Calibri" pitchFamily="34" charset="-122"/>
                <a:cs typeface="Calibri" pitchFamily="34" charset="-120"/>
              </a:rPr>
              <a:t>What information do you need from us?</a:t>
            </a:r>
            <a:endParaRPr lang="en-US" sz="1100" dirty="0"/>
          </a:p>
        </p:txBody>
      </p:sp>
      <p:sp>
        <p:nvSpPr>
          <p:cNvPr id="5" name="Shape 3"/>
          <p:cNvSpPr/>
          <p:nvPr/>
        </p:nvSpPr>
        <p:spPr>
          <a:xfrm>
            <a:off x="548640" y="1965960"/>
            <a:ext cx="1764792"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176479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tax invoice</a:t>
            </a:r>
            <a:endParaRPr lang="en-US" sz="1500" dirty="0"/>
          </a:p>
        </p:txBody>
      </p:sp>
      <p:sp>
        <p:nvSpPr>
          <p:cNvPr id="7" name="Shape 5"/>
          <p:cNvSpPr/>
          <p:nvPr/>
        </p:nvSpPr>
        <p:spPr>
          <a:xfrm>
            <a:off x="2441448" y="1965960"/>
            <a:ext cx="3785616"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441448" y="1965960"/>
            <a:ext cx="378561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business registration number</a:t>
            </a:r>
            <a:endParaRPr lang="en-US" sz="1500" dirty="0"/>
          </a:p>
        </p:txBody>
      </p:sp>
      <p:sp>
        <p:nvSpPr>
          <p:cNvPr id="9" name="Shape 7"/>
          <p:cNvSpPr/>
          <p:nvPr/>
        </p:nvSpPr>
        <p:spPr>
          <a:xfrm>
            <a:off x="6355080" y="1965960"/>
            <a:ext cx="2002536"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6355080" y="1965960"/>
            <a:ext cx="200253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email it to ~</a:t>
            </a:r>
            <a:endParaRPr lang="en-US" sz="1500" dirty="0"/>
          </a:p>
        </p:txBody>
      </p:sp>
      <p:sp>
        <p:nvSpPr>
          <p:cNvPr id="11" name="Shape 9"/>
          <p:cNvSpPr/>
          <p:nvPr/>
        </p:nvSpPr>
        <p:spPr>
          <a:xfrm>
            <a:off x="8485632" y="1965960"/>
            <a:ext cx="2002536"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8485632" y="1965960"/>
            <a:ext cx="200253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after payment</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r>
              <a:rPr lang="en-US" sz="1600" dirty="0">
                <a:solidFill>
                  <a:schemeClr val="bg1"/>
                </a:solidFill>
              </a:rPr>
              <a:t>Of course. I can issue a tax invoice to the company.</a:t>
            </a:r>
          </a:p>
          <a:p>
            <a:pPr marL="0" indent="0">
              <a:lnSpc>
                <a:spcPct val="120000"/>
              </a:lnSpc>
              <a:buNone/>
            </a:pPr>
            <a:r>
              <a:rPr lang="en-US" sz="1600" dirty="0">
                <a:solidFill>
                  <a:schemeClr val="bg1"/>
                </a:solidFill>
              </a:rPr>
              <a:t>Before or after the event. Whenever you want.</a:t>
            </a:r>
          </a:p>
          <a:p>
            <a:pPr marL="0" indent="0">
              <a:lnSpc>
                <a:spcPct val="120000"/>
              </a:lnSpc>
              <a:buNone/>
            </a:pPr>
            <a:r>
              <a:rPr lang="en-US" sz="1600" dirty="0">
                <a:solidFill>
                  <a:schemeClr val="bg1"/>
                </a:solidFill>
              </a:rPr>
              <a:t>(What information do you need from us?)</a:t>
            </a:r>
          </a:p>
          <a:p>
            <a:pPr marL="0" indent="0">
              <a:lnSpc>
                <a:spcPct val="120000"/>
              </a:lnSpc>
              <a:buNone/>
            </a:pPr>
            <a:r>
              <a:rPr lang="en-US" sz="1600" dirty="0">
                <a:solidFill>
                  <a:schemeClr val="bg1"/>
                </a:solidFill>
              </a:rPr>
              <a:t>I need a business registration paper. And bank copy. And e-mail address for a tax invoice.</a:t>
            </a:r>
          </a:p>
          <a:p>
            <a:pPr marL="0" indent="0">
              <a:lnSpc>
                <a:spcPct val="120000"/>
              </a:lnSpc>
              <a:buNone/>
            </a:pPr>
            <a:r>
              <a:rPr lang="en-US" sz="1600" dirty="0">
                <a:solidFill>
                  <a:schemeClr val="bg1"/>
                </a:solidFill>
              </a:rPr>
              <a:t>(Simple. I will send it over to you. Please give me your e-mail address.)</a:t>
            </a:r>
          </a:p>
          <a:p>
            <a:pPr marL="0" indent="0">
              <a:lnSpc>
                <a:spcPct val="120000"/>
              </a:lnSpc>
              <a:buNone/>
            </a:pPr>
            <a:r>
              <a:rPr lang="en-US" sz="1600" dirty="0">
                <a:solidFill>
                  <a:schemeClr val="bg1"/>
                </a:solidFill>
              </a:rPr>
              <a:t>I will text you my e-mail address.</a:t>
            </a:r>
          </a:p>
          <a:p>
            <a:pPr marL="0" indent="0">
              <a:lnSpc>
                <a:spcPct val="120000"/>
              </a:lnSpc>
              <a:buNone/>
            </a:pPr>
            <a:r>
              <a:rPr lang="en-US" sz="1600" dirty="0">
                <a:solidFill>
                  <a:schemeClr val="bg1"/>
                </a:solidFill>
              </a:rPr>
              <a:t>(perfect. Thank you)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SEMINAR DAY · A GUEST  ·  1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Hi, I'm here for the seminar — where exactly is the hall?</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 GUEST ASKS  </a:t>
            </a:r>
            <a:r>
              <a:rPr lang="en-US" sz="1700" i="1" dirty="0">
                <a:solidFill>
                  <a:srgbClr val="E4C05C"/>
                </a:solidFill>
                <a:latin typeface="Calibri" pitchFamily="34" charset="0"/>
                <a:ea typeface="Calibri" pitchFamily="34" charset="-122"/>
                <a:cs typeface="Calibri" pitchFamily="34" charset="-120"/>
              </a:rPr>
              <a:t>Which floor?</a:t>
            </a:r>
            <a:endParaRPr lang="en-US" sz="1100" dirty="0"/>
          </a:p>
        </p:txBody>
      </p:sp>
      <p:sp>
        <p:nvSpPr>
          <p:cNvPr id="5" name="Shape 3"/>
          <p:cNvSpPr/>
          <p:nvPr/>
        </p:nvSpPr>
        <p:spPr>
          <a:xfrm>
            <a:off x="548640" y="1965960"/>
            <a:ext cx="1883664"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188366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second floor</a:t>
            </a:r>
            <a:endParaRPr lang="en-US" sz="1500" dirty="0"/>
          </a:p>
        </p:txBody>
      </p:sp>
      <p:sp>
        <p:nvSpPr>
          <p:cNvPr id="7" name="Shape 5"/>
          <p:cNvSpPr/>
          <p:nvPr/>
        </p:nvSpPr>
        <p:spPr>
          <a:xfrm>
            <a:off x="2560320" y="1965960"/>
            <a:ext cx="2478024"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560320"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take the elevator</a:t>
            </a:r>
            <a:endParaRPr lang="en-US" sz="1500" dirty="0"/>
          </a:p>
        </p:txBody>
      </p:sp>
      <p:sp>
        <p:nvSpPr>
          <p:cNvPr id="9" name="Shape 7"/>
          <p:cNvSpPr/>
          <p:nvPr/>
        </p:nvSpPr>
        <p:spPr>
          <a:xfrm>
            <a:off x="5166360" y="1965960"/>
            <a:ext cx="1527048"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5166360" y="1965960"/>
            <a:ext cx="152704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turn left</a:t>
            </a:r>
            <a:endParaRPr lang="en-US" sz="1500" dirty="0"/>
          </a:p>
        </p:txBody>
      </p:sp>
      <p:sp>
        <p:nvSpPr>
          <p:cNvPr id="11" name="Shape 9"/>
          <p:cNvSpPr/>
          <p:nvPr/>
        </p:nvSpPr>
        <p:spPr>
          <a:xfrm>
            <a:off x="6821424" y="1965960"/>
            <a:ext cx="2121408"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6821424" y="1965960"/>
            <a:ext cx="212140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I'll come down</a:t>
            </a:r>
            <a:endParaRPr lang="en-US" sz="1500" dirty="0"/>
          </a:p>
        </p:txBody>
      </p:sp>
      <p:sp>
        <p:nvSpPr>
          <p:cNvPr id="13" name="Shape 11"/>
          <p:cNvSpPr/>
          <p:nvPr/>
        </p:nvSpPr>
        <p:spPr>
          <a:xfrm>
            <a:off x="548640" y="2560320"/>
            <a:ext cx="7223760"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6766560" cy="3383280"/>
          </a:xfrm>
          <a:prstGeom prst="rect">
            <a:avLst/>
          </a:prstGeom>
          <a:noFill/>
          <a:ln/>
        </p:spPr>
        <p:txBody>
          <a:bodyPr wrap="square" lIns="635" tIns="635" rIns="635" bIns="635" rtlCol="0" anchor="t"/>
          <a:lstStyle/>
          <a:p>
            <a:pPr marL="0" indent="0">
              <a:lnSpc>
                <a:spcPct val="120000"/>
              </a:lnSpc>
              <a:buNone/>
            </a:pPr>
            <a:endParaRPr lang="en-US" sz="2200" dirty="0"/>
          </a:p>
        </p:txBody>
      </p:sp>
      <p:pic>
        <p:nvPicPr>
          <p:cNvPr id="16" name="Image 0" descr="/mnt/user-data/outputs/_build/dahye21/lobby.png"/>
          <p:cNvPicPr>
            <a:picLocks noChangeAspect="1"/>
          </p:cNvPicPr>
          <p:nvPr/>
        </p:nvPicPr>
        <p:blipFill>
          <a:blip r:embed="rId3"/>
          <a:srcRect/>
          <a:stretch/>
        </p:blipFill>
        <p:spPr>
          <a:xfrm>
            <a:off x="7955280" y="2560320"/>
            <a:ext cx="3685032" cy="3886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SEMINAR DAY · A GUEST  ·  2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I'm coming from the station. What's the easiest way to get there?</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 GUEST ASKS  </a:t>
            </a:r>
            <a:r>
              <a:rPr lang="en-US" sz="1700" i="1" dirty="0">
                <a:solidFill>
                  <a:srgbClr val="E4C05C"/>
                </a:solidFill>
                <a:latin typeface="Calibri" pitchFamily="34" charset="0"/>
                <a:ea typeface="Calibri" pitchFamily="34" charset="-122"/>
                <a:cs typeface="Calibri" pitchFamily="34" charset="-120"/>
              </a:rPr>
              <a:t>How long does it take on foot?</a:t>
            </a:r>
            <a:endParaRPr lang="en-US" sz="1100" dirty="0"/>
          </a:p>
        </p:txBody>
      </p:sp>
      <p:sp>
        <p:nvSpPr>
          <p:cNvPr id="5" name="Shape 3"/>
          <p:cNvSpPr/>
          <p:nvPr/>
        </p:nvSpPr>
        <p:spPr>
          <a:xfrm>
            <a:off x="548640" y="1965960"/>
            <a:ext cx="1170432"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1170432"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exit 3</a:t>
            </a:r>
            <a:endParaRPr lang="en-US" sz="1500" dirty="0"/>
          </a:p>
        </p:txBody>
      </p:sp>
      <p:sp>
        <p:nvSpPr>
          <p:cNvPr id="7" name="Shape 5"/>
          <p:cNvSpPr/>
          <p:nvPr/>
        </p:nvSpPr>
        <p:spPr>
          <a:xfrm>
            <a:off x="1847088" y="1965960"/>
            <a:ext cx="3429000"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1847088" y="1965960"/>
            <a:ext cx="342900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straight for five minutes</a:t>
            </a:r>
            <a:endParaRPr lang="en-US" sz="1500" dirty="0"/>
          </a:p>
        </p:txBody>
      </p:sp>
      <p:sp>
        <p:nvSpPr>
          <p:cNvPr id="9" name="Shape 7"/>
          <p:cNvSpPr/>
          <p:nvPr/>
        </p:nvSpPr>
        <p:spPr>
          <a:xfrm>
            <a:off x="5404104" y="1965960"/>
            <a:ext cx="2002536"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5404104" y="1965960"/>
            <a:ext cx="200253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on your right</a:t>
            </a:r>
            <a:endParaRPr lang="en-US" sz="1500" dirty="0"/>
          </a:p>
        </p:txBody>
      </p:sp>
      <p:sp>
        <p:nvSpPr>
          <p:cNvPr id="11" name="Shape 9"/>
          <p:cNvSpPr/>
          <p:nvPr/>
        </p:nvSpPr>
        <p:spPr>
          <a:xfrm>
            <a:off x="7534656" y="1965960"/>
            <a:ext cx="3429000"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7534656" y="1965960"/>
            <a:ext cx="342900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about ten minutes on foot</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SEMINAR DAY · A GUEST  ·  3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Is lunch provided, or should I eat before I come?</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 GUEST ASKS  </a:t>
            </a:r>
            <a:r>
              <a:rPr lang="en-US" sz="1700" i="1" dirty="0">
                <a:solidFill>
                  <a:srgbClr val="E4C05C"/>
                </a:solidFill>
                <a:latin typeface="Calibri" pitchFamily="34" charset="0"/>
                <a:ea typeface="Calibri" pitchFamily="34" charset="-122"/>
                <a:cs typeface="Calibri" pitchFamily="34" charset="-120"/>
              </a:rPr>
              <a:t>What time is the break?</a:t>
            </a:r>
            <a:endParaRPr lang="en-US" sz="1100" dirty="0"/>
          </a:p>
        </p:txBody>
      </p:sp>
      <p:sp>
        <p:nvSpPr>
          <p:cNvPr id="5" name="Shape 3"/>
          <p:cNvSpPr/>
          <p:nvPr/>
        </p:nvSpPr>
        <p:spPr>
          <a:xfrm>
            <a:off x="548640" y="1965960"/>
            <a:ext cx="2121408"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212140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no lunch today</a:t>
            </a:r>
            <a:endParaRPr lang="en-US" sz="1500" dirty="0"/>
          </a:p>
        </p:txBody>
      </p:sp>
      <p:sp>
        <p:nvSpPr>
          <p:cNvPr id="7" name="Shape 5"/>
          <p:cNvSpPr/>
          <p:nvPr/>
        </p:nvSpPr>
        <p:spPr>
          <a:xfrm>
            <a:off x="2798064" y="1965960"/>
            <a:ext cx="2478024"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798064"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two coffee breaks</a:t>
            </a:r>
            <a:endParaRPr lang="en-US" sz="1500" dirty="0"/>
          </a:p>
        </p:txBody>
      </p:sp>
      <p:sp>
        <p:nvSpPr>
          <p:cNvPr id="9" name="Shape 7"/>
          <p:cNvSpPr/>
          <p:nvPr/>
        </p:nvSpPr>
        <p:spPr>
          <a:xfrm>
            <a:off x="5404104" y="1965960"/>
            <a:ext cx="2715768"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5404104" y="1965960"/>
            <a:ext cx="271576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sandwiches at 10:30</a:t>
            </a:r>
            <a:endParaRPr lang="en-US" sz="1500" dirty="0"/>
          </a:p>
        </p:txBody>
      </p:sp>
      <p:sp>
        <p:nvSpPr>
          <p:cNvPr id="11" name="Shape 9"/>
          <p:cNvSpPr/>
          <p:nvPr/>
        </p:nvSpPr>
        <p:spPr>
          <a:xfrm>
            <a:off x="8247888" y="1965960"/>
            <a:ext cx="2596896"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8247888" y="1965960"/>
            <a:ext cx="259689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restaurants nearby</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SEMINAR DAY · A GUEST  ·  4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I have a suitcase with me. Can I leave it somewhere?</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 GUEST ASKS  </a:t>
            </a:r>
            <a:r>
              <a:rPr lang="en-US" sz="1700" i="1" dirty="0">
                <a:solidFill>
                  <a:srgbClr val="E4C05C"/>
                </a:solidFill>
                <a:latin typeface="Calibri" pitchFamily="34" charset="0"/>
                <a:ea typeface="Calibri" pitchFamily="34" charset="-122"/>
                <a:cs typeface="Calibri" pitchFamily="34" charset="-120"/>
              </a:rPr>
              <a:t>Is it safe? Can I pick it up at five?</a:t>
            </a:r>
            <a:endParaRPr lang="en-US" sz="1100" dirty="0"/>
          </a:p>
        </p:txBody>
      </p:sp>
      <p:sp>
        <p:nvSpPr>
          <p:cNvPr id="5" name="Shape 3"/>
          <p:cNvSpPr/>
          <p:nvPr/>
        </p:nvSpPr>
        <p:spPr>
          <a:xfrm>
            <a:off x="548640" y="1965960"/>
            <a:ext cx="1527048"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152704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of course</a:t>
            </a:r>
            <a:endParaRPr lang="en-US" sz="1500" dirty="0"/>
          </a:p>
        </p:txBody>
      </p:sp>
      <p:sp>
        <p:nvSpPr>
          <p:cNvPr id="7" name="Shape 5"/>
          <p:cNvSpPr/>
          <p:nvPr/>
        </p:nvSpPr>
        <p:spPr>
          <a:xfrm>
            <a:off x="2203704" y="1965960"/>
            <a:ext cx="2478024"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203704"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at the front desk</a:t>
            </a:r>
            <a:endParaRPr lang="en-US" sz="1500" dirty="0"/>
          </a:p>
        </p:txBody>
      </p:sp>
      <p:sp>
        <p:nvSpPr>
          <p:cNvPr id="9" name="Shape 7"/>
          <p:cNvSpPr/>
          <p:nvPr/>
        </p:nvSpPr>
        <p:spPr>
          <a:xfrm>
            <a:off x="4809744" y="1965960"/>
            <a:ext cx="2596896"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4809744" y="1965960"/>
            <a:ext cx="259689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we'll keep it safe</a:t>
            </a:r>
            <a:endParaRPr lang="en-US" sz="1500" dirty="0"/>
          </a:p>
        </p:txBody>
      </p:sp>
      <p:sp>
        <p:nvSpPr>
          <p:cNvPr id="11" name="Shape 9"/>
          <p:cNvSpPr/>
          <p:nvPr/>
        </p:nvSpPr>
        <p:spPr>
          <a:xfrm>
            <a:off x="7534656" y="1965960"/>
            <a:ext cx="2240280"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7534656" y="1965960"/>
            <a:ext cx="224028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until ~ o'clock</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ON THE PHONE · SEMINAR DAY · A GUEST  ·  5 / 5</a:t>
            </a:r>
            <a:endParaRPr lang="en-US" sz="1200" dirty="0"/>
          </a:p>
        </p:txBody>
      </p:sp>
      <p:sp>
        <p:nvSpPr>
          <p:cNvPr id="3" name="Text 1"/>
          <p:cNvSpPr txBox="1"/>
          <p:nvPr/>
        </p:nvSpPr>
        <p:spPr>
          <a:xfrm>
            <a:off x="548640" y="566928"/>
            <a:ext cx="11064240" cy="868680"/>
          </a:xfrm>
          <a:prstGeom prst="rect">
            <a:avLst/>
          </a:prstGeom>
          <a:noFill/>
          <a:ln/>
        </p:spPr>
        <p:txBody>
          <a:bodyPr wrap="square" lIns="0" tIns="0" rIns="0" bIns="0" rtlCol="0" anchor="t">
            <a:normAutofit/>
          </a:bodyPr>
          <a:lstStyle/>
          <a:p>
            <a:pPr marL="0" indent="0">
              <a:buNone/>
            </a:pPr>
            <a:r>
              <a:rPr lang="en-US" sz="2600" b="1" dirty="0">
                <a:solidFill>
                  <a:srgbClr val="FFFFFF"/>
                </a:solidFill>
                <a:latin typeface="Georgia" pitchFamily="34" charset="0"/>
                <a:ea typeface="Georgia" pitchFamily="34" charset="-122"/>
                <a:cs typeface="Georgia" pitchFamily="34" charset="-120"/>
              </a:rPr>
              <a:t>I'm running about twenty minutes late. Can I still get in?</a:t>
            </a:r>
            <a:endParaRPr lang="en-US" sz="2600" dirty="0"/>
          </a:p>
        </p:txBody>
      </p:sp>
      <p:sp>
        <p:nvSpPr>
          <p:cNvPr id="4" name="Text 2"/>
          <p:cNvSpPr txBox="1"/>
          <p:nvPr/>
        </p:nvSpPr>
        <p:spPr>
          <a:xfrm>
            <a:off x="548640" y="1481328"/>
            <a:ext cx="11064240" cy="365760"/>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THE GUEST ASKS  </a:t>
            </a:r>
            <a:r>
              <a:rPr lang="en-US" sz="1700" i="1" dirty="0">
                <a:solidFill>
                  <a:srgbClr val="E4C05C"/>
                </a:solidFill>
                <a:latin typeface="Calibri" pitchFamily="34" charset="0"/>
                <a:ea typeface="Calibri" pitchFamily="34" charset="-122"/>
                <a:cs typeface="Calibri" pitchFamily="34" charset="-120"/>
              </a:rPr>
              <a:t>Who do I ask for at the door?</a:t>
            </a:r>
            <a:endParaRPr lang="en-US" sz="1100" dirty="0"/>
          </a:p>
        </p:txBody>
      </p:sp>
      <p:sp>
        <p:nvSpPr>
          <p:cNvPr id="5" name="Shape 3"/>
          <p:cNvSpPr/>
          <p:nvPr/>
        </p:nvSpPr>
        <p:spPr>
          <a:xfrm>
            <a:off x="548640" y="1965960"/>
            <a:ext cx="1645920" cy="420624"/>
          </a:xfrm>
          <a:prstGeom prst="roundRect">
            <a:avLst>
              <a:gd name="adj" fmla="val 50000"/>
            </a:avLst>
          </a:prstGeom>
          <a:solidFill>
            <a:srgbClr val="0C1A31"/>
          </a:solidFill>
          <a:ln w="15875">
            <a:solidFill>
              <a:srgbClr val="C9A432"/>
            </a:solidFill>
            <a:prstDash val="solid"/>
          </a:ln>
        </p:spPr>
      </p:sp>
      <p:sp>
        <p:nvSpPr>
          <p:cNvPr id="6" name="Text 4"/>
          <p:cNvSpPr txBox="1"/>
          <p:nvPr/>
        </p:nvSpPr>
        <p:spPr>
          <a:xfrm>
            <a:off x="548640" y="1965960"/>
            <a:ext cx="1645920"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no problem</a:t>
            </a:r>
            <a:endParaRPr lang="en-US" sz="1500" dirty="0"/>
          </a:p>
        </p:txBody>
      </p:sp>
      <p:sp>
        <p:nvSpPr>
          <p:cNvPr id="7" name="Shape 5"/>
          <p:cNvSpPr/>
          <p:nvPr/>
        </p:nvSpPr>
        <p:spPr>
          <a:xfrm>
            <a:off x="2322576" y="1965960"/>
            <a:ext cx="1527048"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2322576" y="1965960"/>
            <a:ext cx="1527048"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back door</a:t>
            </a:r>
            <a:endParaRPr lang="en-US" sz="1500" dirty="0"/>
          </a:p>
        </p:txBody>
      </p:sp>
      <p:sp>
        <p:nvSpPr>
          <p:cNvPr id="9" name="Shape 7"/>
          <p:cNvSpPr/>
          <p:nvPr/>
        </p:nvSpPr>
        <p:spPr>
          <a:xfrm>
            <a:off x="3977640" y="1965960"/>
            <a:ext cx="2002536"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3977640" y="1965960"/>
            <a:ext cx="2002536"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ask for Dahye</a:t>
            </a:r>
            <a:endParaRPr lang="en-US" sz="1500" dirty="0"/>
          </a:p>
        </p:txBody>
      </p:sp>
      <p:sp>
        <p:nvSpPr>
          <p:cNvPr id="11" name="Shape 9"/>
          <p:cNvSpPr/>
          <p:nvPr/>
        </p:nvSpPr>
        <p:spPr>
          <a:xfrm>
            <a:off x="6108192" y="1965960"/>
            <a:ext cx="2478024"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6108192" y="1965960"/>
            <a:ext cx="2478024" cy="420624"/>
          </a:xfrm>
          <a:prstGeom prst="rect">
            <a:avLst/>
          </a:prstGeom>
          <a:noFill/>
          <a:ln/>
        </p:spPr>
        <p:txBody>
          <a:bodyPr wrap="square" lIns="0" tIns="0" rIns="0" bIns="0" rtlCol="0" anchor="ctr">
            <a:normAutofit/>
          </a:bodyPr>
          <a:lstStyle/>
          <a:p>
            <a:pPr marL="0" indent="0" algn="ctr">
              <a:buNone/>
            </a:pPr>
            <a:r>
              <a:rPr lang="en-US" sz="1500" b="1" dirty="0">
                <a:solidFill>
                  <a:srgbClr val="E4C05C"/>
                </a:solidFill>
                <a:latin typeface="Calibri" pitchFamily="34" charset="0"/>
                <a:ea typeface="Calibri" pitchFamily="34" charset="-122"/>
                <a:cs typeface="Calibri" pitchFamily="34" charset="-120"/>
              </a:rPr>
              <a:t>I'll wait for you</a:t>
            </a:r>
            <a:endParaRPr lang="en-US" sz="1500" dirty="0"/>
          </a:p>
        </p:txBody>
      </p:sp>
      <p:sp>
        <p:nvSpPr>
          <p:cNvPr id="13" name="Shape 11"/>
          <p:cNvSpPr/>
          <p:nvPr/>
        </p:nvSpPr>
        <p:spPr>
          <a:xfrm>
            <a:off x="548640" y="2560320"/>
            <a:ext cx="11091672" cy="3886200"/>
          </a:xfrm>
          <a:prstGeom prst="roundRect">
            <a:avLst>
              <a:gd name="adj" fmla="val 1882"/>
            </a:avLst>
          </a:prstGeom>
          <a:solidFill>
            <a:srgbClr val="1B2E4A"/>
          </a:solidFill>
          <a:ln w="12700">
            <a:solidFill>
              <a:srgbClr val="223756"/>
            </a:solidFill>
            <a:prstDash val="solid"/>
          </a:ln>
        </p:spPr>
      </p:sp>
      <p:sp>
        <p:nvSpPr>
          <p:cNvPr id="14" name="Text 12"/>
          <p:cNvSpPr txBox="1"/>
          <p:nvPr/>
        </p:nvSpPr>
        <p:spPr>
          <a:xfrm>
            <a:off x="777240" y="2651760"/>
            <a:ext cx="36576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SAYS</a:t>
            </a:r>
            <a:endParaRPr lang="en-US" sz="1100" dirty="0"/>
          </a:p>
        </p:txBody>
      </p:sp>
      <p:sp>
        <p:nvSpPr>
          <p:cNvPr id="15" name="Text 13"/>
          <p:cNvSpPr txBox="1"/>
          <p:nvPr/>
        </p:nvSpPr>
        <p:spPr>
          <a:xfrm>
            <a:off x="777240" y="2944368"/>
            <a:ext cx="10634472" cy="3383280"/>
          </a:xfrm>
          <a:prstGeom prst="rect">
            <a:avLst/>
          </a:prstGeom>
          <a:noFill/>
          <a:ln/>
        </p:spPr>
        <p:txBody>
          <a:bodyPr wrap="square" lIns="635" tIns="635" rIns="635" bIns="635" rtlCol="0" anchor="t"/>
          <a:lstStyle/>
          <a:p>
            <a:pPr marL="0" indent="0">
              <a:lnSpc>
                <a:spcPct val="120000"/>
              </a:lnSpc>
              <a:buNone/>
            </a:pP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03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9144000" cy="256032"/>
          </a:xfrm>
          <a:prstGeom prst="rect">
            <a:avLst/>
          </a:prstGeom>
          <a:noFill/>
          <a:ln/>
        </p:spPr>
        <p:txBody>
          <a:bodyPr wrap="square" lIns="0" tIns="0" rIns="0" bIns="0" rtlCol="0" anchor="ctr">
            <a:normAutofit/>
          </a:bodyPr>
          <a:lstStyle/>
          <a:p>
            <a:pPr marL="0" indent="0">
              <a:buNone/>
            </a:pPr>
            <a:r>
              <a:rPr lang="en-US" sz="1200" b="1" kern="0" spc="300" dirty="0">
                <a:solidFill>
                  <a:srgbClr val="C9A432"/>
                </a:solidFill>
                <a:latin typeface="Calibri" pitchFamily="34" charset="0"/>
                <a:ea typeface="Calibri" pitchFamily="34" charset="-122"/>
                <a:cs typeface="Calibri" pitchFamily="34" charset="-120"/>
              </a:rPr>
              <a:t>BY EMAIL  ·  THE DAY BEFORE</a:t>
            </a:r>
            <a:endParaRPr lang="en-US" sz="1200" dirty="0"/>
          </a:p>
        </p:txBody>
      </p:sp>
      <p:sp>
        <p:nvSpPr>
          <p:cNvPr id="3" name="Shape 1"/>
          <p:cNvSpPr/>
          <p:nvPr/>
        </p:nvSpPr>
        <p:spPr>
          <a:xfrm>
            <a:off x="548640" y="640080"/>
            <a:ext cx="5120640" cy="5806440"/>
          </a:xfrm>
          <a:prstGeom prst="roundRect">
            <a:avLst>
              <a:gd name="adj" fmla="val 1429"/>
            </a:avLst>
          </a:prstGeom>
          <a:solidFill>
            <a:srgbClr val="F4F1EA"/>
          </a:solidFill>
          <a:ln w="12700">
            <a:solidFill>
              <a:srgbClr val="D8D2C4"/>
            </a:solidFill>
            <a:prstDash val="solid"/>
          </a:ln>
        </p:spPr>
      </p:sp>
      <p:sp>
        <p:nvSpPr>
          <p:cNvPr id="4" name="Text 2"/>
          <p:cNvSpPr txBox="1"/>
          <p:nvPr/>
        </p:nvSpPr>
        <p:spPr>
          <a:xfrm>
            <a:off x="777240" y="777240"/>
            <a:ext cx="4663440" cy="548640"/>
          </a:xfrm>
          <a:prstGeom prst="rect">
            <a:avLst/>
          </a:prstGeom>
          <a:noFill/>
          <a:ln/>
        </p:spPr>
        <p:txBody>
          <a:bodyPr wrap="square" lIns="0" tIns="0" rIns="0" bIns="0" rtlCol="0" anchor="t">
            <a:normAutofit/>
          </a:bodyPr>
          <a:lstStyle/>
          <a:p>
            <a:pPr marL="0" indent="0">
              <a:buNone/>
            </a:pPr>
            <a:r>
              <a:rPr lang="en-US" sz="1100" dirty="0">
                <a:solidFill>
                  <a:srgbClr val="777777"/>
                </a:solidFill>
                <a:latin typeface="Calibri" pitchFamily="34" charset="0"/>
                <a:ea typeface="Calibri" pitchFamily="34" charset="-122"/>
                <a:cs typeface="Calibri" pitchFamily="34" charset="-120"/>
              </a:rPr>
              <a:t>From: </a:t>
            </a:r>
            <a:r>
              <a:rPr lang="en-US" sz="1100" b="1" dirty="0">
                <a:solidFill>
                  <a:srgbClr val="222222"/>
                </a:solidFill>
                <a:latin typeface="Calibri" pitchFamily="34" charset="0"/>
                <a:ea typeface="Calibri" pitchFamily="34" charset="-122"/>
                <a:cs typeface="Calibri" pitchFamily="34" charset="-120"/>
              </a:rPr>
              <a:t>Soyeon Kim, HK Pharma</a:t>
            </a:r>
            <a:endParaRPr lang="en-US" sz="1100" dirty="0"/>
          </a:p>
          <a:p>
            <a:pPr marL="0" indent="0">
              <a:buNone/>
            </a:pPr>
            <a:r>
              <a:rPr lang="en-US" sz="1100" dirty="0">
                <a:solidFill>
                  <a:srgbClr val="777777"/>
                </a:solidFill>
                <a:latin typeface="Calibri" pitchFamily="34" charset="0"/>
                <a:ea typeface="Calibri" pitchFamily="34" charset="-122"/>
                <a:cs typeface="Calibri" pitchFamily="34" charset="-120"/>
              </a:rPr>
              <a:t>Subject: </a:t>
            </a:r>
            <a:r>
              <a:rPr lang="en-US" sz="1100" b="1" dirty="0">
                <a:solidFill>
                  <a:srgbClr val="222222"/>
                </a:solidFill>
                <a:latin typeface="Calibri" pitchFamily="34" charset="0"/>
                <a:ea typeface="Calibri" pitchFamily="34" charset="-122"/>
                <a:cs typeface="Calibri" pitchFamily="34" charset="-120"/>
              </a:rPr>
              <a:t>Tomorrow's seminar – three small things</a:t>
            </a:r>
            <a:endParaRPr lang="en-US" sz="1100" dirty="0"/>
          </a:p>
        </p:txBody>
      </p:sp>
      <p:sp>
        <p:nvSpPr>
          <p:cNvPr id="5" name="Shape 3"/>
          <p:cNvSpPr/>
          <p:nvPr/>
        </p:nvSpPr>
        <p:spPr>
          <a:xfrm>
            <a:off x="777240" y="1371600"/>
            <a:ext cx="4663440" cy="0"/>
          </a:xfrm>
          <a:prstGeom prst="line">
            <a:avLst/>
          </a:prstGeom>
          <a:noFill/>
          <a:ln w="12700">
            <a:solidFill>
              <a:srgbClr val="D8D2C4"/>
            </a:solidFill>
            <a:prstDash val="solid"/>
          </a:ln>
        </p:spPr>
      </p:sp>
      <p:sp>
        <p:nvSpPr>
          <p:cNvPr id="6" name="Text 4"/>
          <p:cNvSpPr txBox="1"/>
          <p:nvPr/>
        </p:nvSpPr>
        <p:spPr>
          <a:xfrm>
            <a:off x="777240" y="1463040"/>
            <a:ext cx="4663440" cy="4846320"/>
          </a:xfrm>
          <a:prstGeom prst="rect">
            <a:avLst/>
          </a:prstGeom>
          <a:noFill/>
          <a:ln/>
        </p:spPr>
        <p:txBody>
          <a:bodyPr wrap="square" lIns="0" tIns="0" rIns="0" bIns="0" rtlCol="0" anchor="t">
            <a:normAutofit/>
          </a:bodyPr>
          <a:lstStyle/>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Dear Dahye,</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Thank you for all your help so far.</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Three small things before tomorrow:</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1. We now have 46 people, not 40. Is that okay for the coffee breaks?</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2. One of our speakers is driving. Could you keep one parking space for her?</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3. I've attached our business registration for the tax invoice.</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See you tomorrow at 8:30.</a:t>
            </a:r>
            <a:endParaRPr lang="en-US" sz="1400" dirty="0"/>
          </a:p>
          <a:p>
            <a:pPr marL="0" indent="0">
              <a:lnSpc>
                <a:spcPct val="125000"/>
              </a:lnSpc>
              <a:buNone/>
            </a:pP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Best,</a:t>
            </a:r>
            <a:endParaRPr lang="en-US" sz="1400" dirty="0"/>
          </a:p>
          <a:p>
            <a:pPr marL="0" indent="0">
              <a:lnSpc>
                <a:spcPct val="125000"/>
              </a:lnSpc>
              <a:buNone/>
            </a:pPr>
            <a:r>
              <a:rPr lang="en-US" sz="1400" dirty="0">
                <a:solidFill>
                  <a:srgbClr val="222222"/>
                </a:solidFill>
                <a:latin typeface="Calibri" pitchFamily="34" charset="0"/>
                <a:ea typeface="Calibri" pitchFamily="34" charset="-122"/>
                <a:cs typeface="Calibri" pitchFamily="34" charset="-120"/>
              </a:rPr>
              <a:t>Soyeon</a:t>
            </a:r>
            <a:endParaRPr lang="en-US" sz="1400" dirty="0"/>
          </a:p>
        </p:txBody>
      </p:sp>
      <p:sp>
        <p:nvSpPr>
          <p:cNvPr id="7" name="Shape 5"/>
          <p:cNvSpPr/>
          <p:nvPr/>
        </p:nvSpPr>
        <p:spPr>
          <a:xfrm>
            <a:off x="5943600" y="658368"/>
            <a:ext cx="982980" cy="420624"/>
          </a:xfrm>
          <a:prstGeom prst="roundRect">
            <a:avLst>
              <a:gd name="adj" fmla="val 50000"/>
            </a:avLst>
          </a:prstGeom>
          <a:solidFill>
            <a:srgbClr val="0C1A31"/>
          </a:solidFill>
          <a:ln w="15875">
            <a:solidFill>
              <a:srgbClr val="C9A432"/>
            </a:solidFill>
            <a:prstDash val="solid"/>
          </a:ln>
        </p:spPr>
      </p:sp>
      <p:sp>
        <p:nvSpPr>
          <p:cNvPr id="8" name="Text 6"/>
          <p:cNvSpPr txBox="1"/>
          <p:nvPr/>
        </p:nvSpPr>
        <p:spPr>
          <a:xfrm>
            <a:off x="5943600" y="658368"/>
            <a:ext cx="982980" cy="420624"/>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greet</a:t>
            </a:r>
            <a:endParaRPr lang="en-US" sz="1300" dirty="0"/>
          </a:p>
        </p:txBody>
      </p:sp>
      <p:sp>
        <p:nvSpPr>
          <p:cNvPr id="9" name="Shape 7"/>
          <p:cNvSpPr/>
          <p:nvPr/>
        </p:nvSpPr>
        <p:spPr>
          <a:xfrm>
            <a:off x="7054596" y="658368"/>
            <a:ext cx="982980" cy="420624"/>
          </a:xfrm>
          <a:prstGeom prst="roundRect">
            <a:avLst>
              <a:gd name="adj" fmla="val 50000"/>
            </a:avLst>
          </a:prstGeom>
          <a:solidFill>
            <a:srgbClr val="0C1A31"/>
          </a:solidFill>
          <a:ln w="15875">
            <a:solidFill>
              <a:srgbClr val="C9A432"/>
            </a:solidFill>
            <a:prstDash val="solid"/>
          </a:ln>
        </p:spPr>
      </p:sp>
      <p:sp>
        <p:nvSpPr>
          <p:cNvPr id="10" name="Text 8"/>
          <p:cNvSpPr txBox="1"/>
          <p:nvPr/>
        </p:nvSpPr>
        <p:spPr>
          <a:xfrm>
            <a:off x="7054596" y="658368"/>
            <a:ext cx="982980" cy="420624"/>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thank</a:t>
            </a:r>
            <a:endParaRPr lang="en-US" sz="1300" dirty="0"/>
          </a:p>
        </p:txBody>
      </p:sp>
      <p:sp>
        <p:nvSpPr>
          <p:cNvPr id="11" name="Shape 9"/>
          <p:cNvSpPr/>
          <p:nvPr/>
        </p:nvSpPr>
        <p:spPr>
          <a:xfrm>
            <a:off x="8165592" y="658368"/>
            <a:ext cx="1193292" cy="420624"/>
          </a:xfrm>
          <a:prstGeom prst="roundRect">
            <a:avLst>
              <a:gd name="adj" fmla="val 50000"/>
            </a:avLst>
          </a:prstGeom>
          <a:solidFill>
            <a:srgbClr val="0C1A31"/>
          </a:solidFill>
          <a:ln w="15875">
            <a:solidFill>
              <a:srgbClr val="C9A432"/>
            </a:solidFill>
            <a:prstDash val="solid"/>
          </a:ln>
        </p:spPr>
      </p:sp>
      <p:sp>
        <p:nvSpPr>
          <p:cNvPr id="12" name="Text 10"/>
          <p:cNvSpPr txBox="1"/>
          <p:nvPr/>
        </p:nvSpPr>
        <p:spPr>
          <a:xfrm>
            <a:off x="8165592" y="658368"/>
            <a:ext cx="1193292" cy="420624"/>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46: yes</a:t>
            </a:r>
            <a:endParaRPr lang="en-US" sz="1300" dirty="0"/>
          </a:p>
        </p:txBody>
      </p:sp>
      <p:sp>
        <p:nvSpPr>
          <p:cNvPr id="13" name="Shape 11"/>
          <p:cNvSpPr/>
          <p:nvPr/>
        </p:nvSpPr>
        <p:spPr>
          <a:xfrm>
            <a:off x="5943600" y="1133856"/>
            <a:ext cx="2560320" cy="420624"/>
          </a:xfrm>
          <a:prstGeom prst="roundRect">
            <a:avLst>
              <a:gd name="adj" fmla="val 50000"/>
            </a:avLst>
          </a:prstGeom>
          <a:solidFill>
            <a:srgbClr val="0C1A31"/>
          </a:solidFill>
          <a:ln w="15875">
            <a:solidFill>
              <a:srgbClr val="C9A432"/>
            </a:solidFill>
            <a:prstDash val="solid"/>
          </a:ln>
        </p:spPr>
      </p:sp>
      <p:sp>
        <p:nvSpPr>
          <p:cNvPr id="14" name="Text 12"/>
          <p:cNvSpPr txBox="1"/>
          <p:nvPr/>
        </p:nvSpPr>
        <p:spPr>
          <a:xfrm>
            <a:off x="5943600" y="1133856"/>
            <a:ext cx="2560320" cy="420624"/>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parking: yes + where</a:t>
            </a:r>
            <a:endParaRPr lang="en-US" sz="1300" dirty="0"/>
          </a:p>
        </p:txBody>
      </p:sp>
      <p:sp>
        <p:nvSpPr>
          <p:cNvPr id="15" name="Shape 13"/>
          <p:cNvSpPr/>
          <p:nvPr/>
        </p:nvSpPr>
        <p:spPr>
          <a:xfrm>
            <a:off x="8631936" y="1133856"/>
            <a:ext cx="2244852" cy="420624"/>
          </a:xfrm>
          <a:prstGeom prst="roundRect">
            <a:avLst>
              <a:gd name="adj" fmla="val 50000"/>
            </a:avLst>
          </a:prstGeom>
          <a:solidFill>
            <a:srgbClr val="0C1A31"/>
          </a:solidFill>
          <a:ln w="15875">
            <a:solidFill>
              <a:srgbClr val="C9A432"/>
            </a:solidFill>
            <a:prstDash val="solid"/>
          </a:ln>
        </p:spPr>
      </p:sp>
      <p:sp>
        <p:nvSpPr>
          <p:cNvPr id="16" name="Text 14"/>
          <p:cNvSpPr txBox="1"/>
          <p:nvPr/>
        </p:nvSpPr>
        <p:spPr>
          <a:xfrm>
            <a:off x="8631936" y="1133856"/>
            <a:ext cx="2244852" cy="420624"/>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invoice: received</a:t>
            </a:r>
            <a:endParaRPr lang="en-US" sz="1300" dirty="0"/>
          </a:p>
        </p:txBody>
      </p:sp>
      <p:sp>
        <p:nvSpPr>
          <p:cNvPr id="17" name="Shape 15"/>
          <p:cNvSpPr/>
          <p:nvPr/>
        </p:nvSpPr>
        <p:spPr>
          <a:xfrm>
            <a:off x="5943600" y="1609344"/>
            <a:ext cx="2034540" cy="420624"/>
          </a:xfrm>
          <a:prstGeom prst="roundRect">
            <a:avLst>
              <a:gd name="adj" fmla="val 50000"/>
            </a:avLst>
          </a:prstGeom>
          <a:solidFill>
            <a:srgbClr val="0C1A31"/>
          </a:solidFill>
          <a:ln w="15875">
            <a:solidFill>
              <a:srgbClr val="C9A432"/>
            </a:solidFill>
            <a:prstDash val="solid"/>
          </a:ln>
        </p:spPr>
      </p:sp>
      <p:sp>
        <p:nvSpPr>
          <p:cNvPr id="18" name="Text 16"/>
          <p:cNvSpPr txBox="1"/>
          <p:nvPr/>
        </p:nvSpPr>
        <p:spPr>
          <a:xfrm>
            <a:off x="5943600" y="1609344"/>
            <a:ext cx="2034540" cy="420624"/>
          </a:xfrm>
          <a:prstGeom prst="rect">
            <a:avLst/>
          </a:prstGeom>
          <a:noFill/>
          <a:ln/>
        </p:spPr>
        <p:txBody>
          <a:bodyPr wrap="square" lIns="0" tIns="0" rIns="0" bIns="0" rtlCol="0" anchor="ctr">
            <a:normAutofit/>
          </a:bodyPr>
          <a:lstStyle/>
          <a:p>
            <a:pPr marL="0" indent="0" algn="ctr">
              <a:buNone/>
            </a:pPr>
            <a:r>
              <a:rPr lang="en-US" sz="1300" b="1" dirty="0">
                <a:solidFill>
                  <a:srgbClr val="E4C05C"/>
                </a:solidFill>
                <a:latin typeface="Calibri" pitchFamily="34" charset="0"/>
                <a:ea typeface="Calibri" pitchFamily="34" charset="-122"/>
                <a:cs typeface="Calibri" pitchFamily="34" charset="-120"/>
              </a:rPr>
              <a:t>see you at 8:30</a:t>
            </a:r>
            <a:endParaRPr lang="en-US" sz="1300" dirty="0"/>
          </a:p>
        </p:txBody>
      </p:sp>
      <p:sp>
        <p:nvSpPr>
          <p:cNvPr id="19" name="Shape 17"/>
          <p:cNvSpPr/>
          <p:nvPr/>
        </p:nvSpPr>
        <p:spPr>
          <a:xfrm>
            <a:off x="5943600" y="1691640"/>
            <a:ext cx="5696712" cy="4754880"/>
          </a:xfrm>
          <a:prstGeom prst="roundRect">
            <a:avLst>
              <a:gd name="adj" fmla="val 1538"/>
            </a:avLst>
          </a:prstGeom>
          <a:solidFill>
            <a:srgbClr val="1B2E4A"/>
          </a:solidFill>
          <a:ln w="12700">
            <a:solidFill>
              <a:srgbClr val="223756"/>
            </a:solidFill>
            <a:prstDash val="solid"/>
          </a:ln>
        </p:spPr>
      </p:sp>
      <p:sp>
        <p:nvSpPr>
          <p:cNvPr id="20" name="Text 18"/>
          <p:cNvSpPr txBox="1"/>
          <p:nvPr/>
        </p:nvSpPr>
        <p:spPr>
          <a:xfrm>
            <a:off x="6172200" y="1783080"/>
            <a:ext cx="5029200" cy="237744"/>
          </a:xfrm>
          <a:prstGeom prst="rect">
            <a:avLst/>
          </a:prstGeom>
          <a:noFill/>
          <a:ln/>
        </p:spPr>
        <p:txBody>
          <a:bodyPr wrap="square" lIns="0" tIns="0" rIns="0" bIns="0" rtlCol="0" anchor="ctr">
            <a:normAutofit/>
          </a:bodyPr>
          <a:lstStyle/>
          <a:p>
            <a:pPr marL="0" indent="0">
              <a:buNone/>
            </a:pPr>
            <a:r>
              <a:rPr lang="en-US" sz="1100" b="1" kern="0" spc="200" dirty="0">
                <a:solidFill>
                  <a:srgbClr val="C9A432"/>
                </a:solidFill>
                <a:latin typeface="Calibri" pitchFamily="34" charset="0"/>
                <a:ea typeface="Calibri" pitchFamily="34" charset="-122"/>
                <a:cs typeface="Calibri" pitchFamily="34" charset="-120"/>
              </a:rPr>
              <a:t>DAHYE WRITES BACK  ·  the same five lines</a:t>
            </a:r>
            <a:endParaRPr lang="en-US" sz="1100" dirty="0"/>
          </a:p>
        </p:txBody>
      </p:sp>
      <p:sp>
        <p:nvSpPr>
          <p:cNvPr id="21" name="Text 19"/>
          <p:cNvSpPr txBox="1"/>
          <p:nvPr/>
        </p:nvSpPr>
        <p:spPr>
          <a:xfrm>
            <a:off x="6172200" y="2075688"/>
            <a:ext cx="5257800" cy="4251960"/>
          </a:xfrm>
          <a:prstGeom prst="rect">
            <a:avLst/>
          </a:prstGeom>
          <a:noFill/>
          <a:ln/>
        </p:spPr>
        <p:txBody>
          <a:bodyPr wrap="square" lIns="635" tIns="635" rIns="635" bIns="635" rtlCol="0" anchor="t"/>
          <a:lstStyle/>
          <a:p>
            <a:pPr marL="0" indent="0">
              <a:lnSpc>
                <a:spcPct val="120000"/>
              </a:lnSpc>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1917</Words>
  <Application>Microsoft Office PowerPoint</Application>
  <PresentationFormat>와이드스크린</PresentationFormat>
  <Paragraphs>280</Paragraphs>
  <Slides>18</Slides>
  <Notes>18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18</vt:i4>
      </vt:variant>
    </vt:vector>
  </HeadingPairs>
  <TitlesOfParts>
    <vt:vector size="23" baseType="lpstr">
      <vt:lpstr>맑은 고딕</vt:lpstr>
      <vt:lpstr>Arial</vt:lpstr>
      <vt:lpstr>Calibri</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Kim</cp:lastModifiedBy>
  <cp:revision>6</cp:revision>
  <dcterms:created xsi:type="dcterms:W3CDTF">2026-10-12T00:08:36Z</dcterms:created>
  <dcterms:modified xsi:type="dcterms:W3CDTF">2026-10-12T03:17:34Z</dcterms:modified>
</cp:coreProperties>
</file>