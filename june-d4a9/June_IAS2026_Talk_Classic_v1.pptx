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8" r:id="rId8"/>
    <p:sldId id="269" r:id="rId9"/>
    <p:sldId id="270" r:id="rId10"/>
    <p:sldId id="271" r:id="rId11"/>
    <p:sldId id="272" r:id="rId12"/>
    <p:sldId id="273" r:id="rId7"/>
    <p:sldId id="274" r:id="rId6"/>
    <p:sldId id="275" r:id="rId5"/>
    <p:sldId id="276" r:id="rId4"/>
    <p:sldId id="277" r:id="rId3"/>
    <p:sldId id="278" r:id="rId2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0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2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73F2E-898F-4524-8495-A4E332362F97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113C-A7E4-4C61-B24F-9E75764A06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441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0:00–0:30. 원제 그대로. 세 줄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0:30–1:30. 40% → CAI. 균형 결손, 착지에서 두드러짐. 원위·근위 결손 모두. 착지 운동학 변화.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1:30–2:15. 두 접근 모두 균형 개선. 착지 전이 미확인. 직접 비교 없음. 목적.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2:15–3:00. Randomized three-group pretest–posttest. 30 participants, IAC criteria, stratified by sex, 10 per group. 12 supervised sessions, 30 min, 3×/week, 4 weeks. Control: no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3:00–3:30. 원고 Training Intervention 절이 비어 있음 — June이 채워야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3:30–4:15. 사전·사후 동일 절차.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4:15–4:30. 짧게.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4:30–5:00. 균형 지표 무변화. 직접 인정.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5:00–6:15. IC p = 0.016, ηp² = 0.26; peak p = 0.004, ηp² = 0.34. FCG &gt; TCG reduction. FCG vs CG p = 0.053 at peak. TCG vs CG n.s. Ankle, knee, hip: no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6:15–6:45. Figure 1·2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6:45–7:30.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7:30–8:30. 원고 Discussion 비어 있음 — June 해석과 대조.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8:30–8:50.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8:50–9:45.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마지막장 — 연락처만 바꾸면 됩니다.</a:t>
            </a: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454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"/>
          <p:cNvSpPr txBox="1"/>
          <p:nvPr/>
        </p:nvSpPr>
        <p:spPr>
          <a:xfrm>
            <a:off x="877824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34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77824" y="1865376"/>
            <a:ext cx="7251192" cy="21031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F3EEE6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Presentation Title
Goes Right Here</a:t>
            </a:r>
          </a:p>
        </p:txBody>
      </p:sp>
      <p:sp>
        <p:nvSpPr>
          <p:cNvPr id="13" name="Gold Bar"/>
          <p:cNvSpPr/>
          <p:nvPr/>
        </p:nvSpPr>
        <p:spPr>
          <a:xfrm>
            <a:off x="896112" y="5120640"/>
            <a:ext cx="868680" cy="20117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ame"/>
          <p:cNvSpPr>
            <a:spLocks noGrp="1"/>
          </p:cNvSpPr>
          <p:nvPr>
            <p:ph type="body" idx="1"/>
          </p:nvPr>
        </p:nvSpPr>
        <p:spPr>
          <a:xfrm>
            <a:off x="896112" y="5340096"/>
            <a:ext cx="7315200" cy="29260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3EEE6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Name, PhD</a:t>
            </a:r>
          </a:p>
        </p:txBody>
      </p:sp>
      <p:sp>
        <p:nvSpPr>
          <p:cNvPr id="15" name="Affiliation"/>
          <p:cNvSpPr>
            <a:spLocks noGrp="1"/>
          </p:cNvSpPr>
          <p:nvPr>
            <p:ph type="body" idx="2"/>
          </p:nvPr>
        </p:nvSpPr>
        <p:spPr>
          <a:xfrm>
            <a:off x="896112" y="5824728"/>
            <a:ext cx="5632704" cy="2743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Department, Yonsei University, South Korea</a:t>
            </a:r>
          </a:p>
        </p:txBody>
      </p:sp>
      <p:pic>
        <p:nvPicPr>
          <p:cNvPr id="16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237744"/>
            <a:ext cx="960120" cy="9418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(Logo Band)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er"/>
          <p:cNvSpPr txBox="1"/>
          <p:nvPr/>
        </p:nvSpPr>
        <p:spPr>
          <a:xfrm>
            <a:off x="877824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34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877824" y="1316736"/>
            <a:ext cx="7251192" cy="21031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solidFill>
                  <a:srgbClr val="F3EEE6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Presentation Title
Goes Right Here</a:t>
            </a:r>
          </a:p>
        </p:txBody>
      </p:sp>
      <p:sp>
        <p:nvSpPr>
          <p:cNvPr id="19" name="Gold Bar"/>
          <p:cNvSpPr/>
          <p:nvPr/>
        </p:nvSpPr>
        <p:spPr>
          <a:xfrm>
            <a:off x="896112" y="3767328"/>
            <a:ext cx="868680" cy="20117"/>
          </a:xfrm>
          <a:prstGeom prst="rect">
            <a:avLst/>
          </a:prstGeom>
          <a:solidFill>
            <a:srgbClr val="C7A66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ame"/>
          <p:cNvSpPr>
            <a:spLocks noGrp="1"/>
          </p:cNvSpPr>
          <p:nvPr>
            <p:ph type="body" idx="1"/>
          </p:nvPr>
        </p:nvSpPr>
        <p:spPr>
          <a:xfrm>
            <a:off x="896112" y="3986784"/>
            <a:ext cx="7315200" cy="29260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3EEE6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Name, PhD</a:t>
            </a:r>
          </a:p>
        </p:txBody>
      </p:sp>
      <p:sp>
        <p:nvSpPr>
          <p:cNvPr id="21" name="Affiliation"/>
          <p:cNvSpPr>
            <a:spLocks noGrp="1"/>
          </p:cNvSpPr>
          <p:nvPr>
            <p:ph type="body" idx="2"/>
          </p:nvPr>
        </p:nvSpPr>
        <p:spPr>
          <a:xfrm>
            <a:off x="896112" y="4471416"/>
            <a:ext cx="5632704" cy="2743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Department, Yonsei University, South Korea</a:t>
            </a:r>
          </a:p>
        </p:txBody>
      </p:sp>
      <p:sp>
        <p:nvSpPr>
          <p:cNvPr id="22" name="Band"/>
          <p:cNvSpPr/>
          <p:nvPr/>
        </p:nvSpPr>
        <p:spPr>
          <a:xfrm>
            <a:off x="0" y="5413248"/>
            <a:ext cx="12191695" cy="1444752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3" name="Logo I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5596128"/>
            <a:ext cx="1024128" cy="1078992"/>
          </a:xfrm>
          <a:prstGeom prst="rect">
            <a:avLst/>
          </a:prstGeom>
        </p:spPr>
      </p:pic>
      <p:pic>
        <p:nvPicPr>
          <p:cNvPr id="24" name="Logo Yonse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5596128"/>
            <a:ext cx="1078992" cy="10789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Ank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0"/>
            <a:ext cx="7159752" cy="4773168"/>
          </a:xfrm>
          <a:prstGeom prst="rect">
            <a:avLst/>
          </a:prstGeom>
        </p:spPr>
      </p:pic>
      <p:sp>
        <p:nvSpPr>
          <p:cNvPr id="26" name="Number"/>
          <p:cNvSpPr>
            <a:spLocks noGrp="1"/>
          </p:cNvSpPr>
          <p:nvPr>
            <p:ph type="body" idx="1"/>
          </p:nvPr>
        </p:nvSpPr>
        <p:spPr>
          <a:xfrm>
            <a:off x="960120" y="1783080"/>
            <a:ext cx="2743200" cy="169164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1000" b="1">
                <a:solidFill>
                  <a:srgbClr val="C7A667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01</a:t>
            </a:r>
          </a:p>
        </p:txBody>
      </p:sp>
      <p:sp>
        <p:nvSpPr>
          <p:cNvPr id="27" name="Title"/>
          <p:cNvSpPr>
            <a:spLocks noGrp="1"/>
          </p:cNvSpPr>
          <p:nvPr>
            <p:ph type="title"/>
          </p:nvPr>
        </p:nvSpPr>
        <p:spPr>
          <a:xfrm>
            <a:off x="960120" y="3529584"/>
            <a:ext cx="8686800" cy="8686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F3EEE6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Section Title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Header"/>
          <p:cNvSpPr txBox="1"/>
          <p:nvPr/>
        </p:nvSpPr>
        <p:spPr>
          <a:xfrm>
            <a:off x="640080" y="320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1" spc="15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cxnSp>
        <p:nvCxnSpPr>
          <p:cNvPr id="29" name="Header Line"/>
          <p:cNvCxnSpPr/>
          <p:nvPr/>
        </p:nvCxnSpPr>
        <p:spPr>
          <a:xfrm>
            <a:off x="640080" y="1298448"/>
            <a:ext cx="10911535" cy="0"/>
          </a:xfrm>
          <a:prstGeom prst="line">
            <a:avLst/>
          </a:prstGeom>
          <a:ln w="15875">
            <a:solidFill>
              <a:srgbClr val="C7A667"/>
            </a:solidFill>
          </a:ln>
        </p:spPr>
      </p:cxnSp>
      <p:cxnSp>
        <p:nvCxnSpPr>
          <p:cNvPr id="30" name="Footer Line"/>
          <p:cNvCxnSpPr/>
          <p:nvPr/>
        </p:nvCxnSpPr>
        <p:spPr>
          <a:xfrm>
            <a:off x="640080" y="6126480"/>
            <a:ext cx="10149840" cy="0"/>
          </a:xfrm>
          <a:prstGeom prst="line">
            <a:avLst/>
          </a:prstGeom>
          <a:ln w="9525">
            <a:solidFill>
              <a:srgbClr val="0B1B35"/>
            </a:solidFill>
          </a:ln>
        </p:spPr>
      </p:cxnSp>
      <p:sp>
        <p:nvSpPr>
          <p:cNvPr id="31" name="Footer"/>
          <p:cNvSpPr txBox="1"/>
          <p:nvPr/>
        </p:nvSpPr>
        <p:spPr>
          <a:xfrm>
            <a:off x="640080" y="62362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0" spc="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IAS 2026  ·  The 11th International Ankle Symposium  ·  Yonsei University, Seoul</a:t>
            </a:r>
          </a:p>
        </p:txBody>
      </p:sp>
      <p:sp>
        <p:nvSpPr>
          <p:cNvPr id="32" name="Slide Number"/>
          <p:cNvSpPr txBox="1"/>
          <p:nvPr/>
        </p:nvSpPr>
        <p:spPr>
          <a:xfrm>
            <a:off x="9875520" y="6236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88323653-ab36-47ba-952c-66914679e844}" type="slidenum">
              <a:rPr lang="en-US" sz="900" b="1" spc="0" dirty="0">
                <a:solidFill>
                  <a:srgbClr val="0B1B35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pic>
        <p:nvPicPr>
          <p:cNvPr id="33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641" y="6089904"/>
            <a:ext cx="480974" cy="502920"/>
          </a:xfrm>
          <a:prstGeom prst="rect">
            <a:avLst/>
          </a:prstGeom>
        </p:spPr>
      </p:pic>
      <p:sp>
        <p:nvSpPr>
          <p:cNvPr id="34" name="Title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6400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rgbClr val="0B1B35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35" name="Body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10908792" cy="434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1000"/>
              </a:spcAft>
              <a:buNone/>
              <a:defRPr sz="16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Body text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ig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Header"/>
          <p:cNvSpPr txBox="1"/>
          <p:nvPr/>
        </p:nvSpPr>
        <p:spPr>
          <a:xfrm>
            <a:off x="640080" y="320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1" spc="15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cxnSp>
        <p:nvCxnSpPr>
          <p:cNvPr id="37" name="Header Line"/>
          <p:cNvCxnSpPr/>
          <p:nvPr/>
        </p:nvCxnSpPr>
        <p:spPr>
          <a:xfrm>
            <a:off x="640080" y="1298448"/>
            <a:ext cx="10911535" cy="0"/>
          </a:xfrm>
          <a:prstGeom prst="line">
            <a:avLst/>
          </a:prstGeom>
          <a:ln w="15875">
            <a:solidFill>
              <a:srgbClr val="C7A667"/>
            </a:solidFill>
          </a:ln>
        </p:spPr>
      </p:cxnSp>
      <p:cxnSp>
        <p:nvCxnSpPr>
          <p:cNvPr id="38" name="Footer Line"/>
          <p:cNvCxnSpPr/>
          <p:nvPr/>
        </p:nvCxnSpPr>
        <p:spPr>
          <a:xfrm>
            <a:off x="640080" y="6126480"/>
            <a:ext cx="10149840" cy="0"/>
          </a:xfrm>
          <a:prstGeom prst="line">
            <a:avLst/>
          </a:prstGeom>
          <a:ln w="9525">
            <a:solidFill>
              <a:srgbClr val="0B1B35"/>
            </a:solidFill>
          </a:ln>
        </p:spPr>
      </p:cxnSp>
      <p:sp>
        <p:nvSpPr>
          <p:cNvPr id="39" name="Footer"/>
          <p:cNvSpPr txBox="1"/>
          <p:nvPr/>
        </p:nvSpPr>
        <p:spPr>
          <a:xfrm>
            <a:off x="640080" y="62362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0" spc="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IAS 2026  ·  The 11th International Ankle Symposium  ·  Yonsei University, Seoul</a:t>
            </a:r>
          </a:p>
        </p:txBody>
      </p:sp>
      <p:sp>
        <p:nvSpPr>
          <p:cNvPr id="40" name="Slide Number"/>
          <p:cNvSpPr txBox="1"/>
          <p:nvPr/>
        </p:nvSpPr>
        <p:spPr>
          <a:xfrm>
            <a:off x="9875520" y="6236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818ac498-8e5b-4860-abbb-4cba5a0a0195}" type="slidenum">
              <a:rPr lang="en-US" sz="900" b="1" spc="0" dirty="0">
                <a:solidFill>
                  <a:srgbClr val="0B1B35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pic>
        <p:nvPicPr>
          <p:cNvPr id="4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641" y="6089904"/>
            <a:ext cx="480974" cy="502920"/>
          </a:xfrm>
          <a:prstGeom prst="rect">
            <a:avLst/>
          </a:prstGeom>
        </p:spPr>
      </p:pic>
      <p:sp>
        <p:nvSpPr>
          <p:cNvPr id="42" name="Title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6400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rgbClr val="0B1B35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43" name="Body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6766560" cy="4343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1000"/>
              </a:spcAft>
              <a:buNone/>
              <a:defRPr sz="16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Body text</a:t>
            </a:r>
          </a:p>
        </p:txBody>
      </p:sp>
      <p:sp>
        <p:nvSpPr>
          <p:cNvPr id="44" name="Figure"/>
          <p:cNvSpPr>
            <a:spLocks noGrp="1"/>
          </p:cNvSpPr>
          <p:nvPr>
            <p:ph type="pic" sz="quarter" idx="2"/>
          </p:nvPr>
        </p:nvSpPr>
        <p:spPr>
          <a:xfrm>
            <a:off x="7772400" y="1600200"/>
            <a:ext cx="3776472" cy="4206240"/>
          </a:xfrm>
          <a:prstGeom prst="rect">
            <a:avLst/>
          </a:prstGeom>
          <a:solidFill>
            <a:srgbClr val="F3EEE6"/>
          </a:solidFill>
          <a:ln w="9525">
            <a:solidFill>
              <a:srgbClr val="C7A667"/>
            </a:solidFill>
          </a:ln>
        </p:spPr>
        <p:txBody>
          <a:bodyPr anchor="ctr"/>
          <a:lstStyle>
            <a:lvl1pPr algn="ctr">
              <a:buNone/>
              <a:defRPr sz="1400" b="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Figure / Graph</a:t>
            </a:r>
          </a:p>
        </p:txBody>
      </p:sp>
      <p:sp>
        <p:nvSpPr>
          <p:cNvPr id="45" name="Caption"/>
          <p:cNvSpPr>
            <a:spLocks noGrp="1"/>
          </p:cNvSpPr>
          <p:nvPr>
            <p:ph type="body" idx="3"/>
          </p:nvPr>
        </p:nvSpPr>
        <p:spPr>
          <a:xfrm>
            <a:off x="7772400" y="5852160"/>
            <a:ext cx="3776472" cy="228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6B6B6B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Figure 1. Caption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eader"/>
          <p:cNvSpPr txBox="1"/>
          <p:nvPr/>
        </p:nvSpPr>
        <p:spPr>
          <a:xfrm>
            <a:off x="640080" y="3200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1" spc="150" dirty="0">
                <a:solidFill>
                  <a:srgbClr val="C7A667"/>
                </a:solidFill>
                <a:latin typeface="Calibri"/>
                <a:ea typeface="Calibri"/>
                <a:cs typeface="Calibri"/>
              </a:rPr>
              <a:t>THE 11TH INTERNATIONAL ANKLE SYMPOSIUM</a:t>
            </a:r>
          </a:p>
        </p:txBody>
      </p:sp>
      <p:cxnSp>
        <p:nvCxnSpPr>
          <p:cNvPr id="47" name="Header Line"/>
          <p:cNvCxnSpPr/>
          <p:nvPr/>
        </p:nvCxnSpPr>
        <p:spPr>
          <a:xfrm>
            <a:off x="640080" y="1298448"/>
            <a:ext cx="10911535" cy="0"/>
          </a:xfrm>
          <a:prstGeom prst="line">
            <a:avLst/>
          </a:prstGeom>
          <a:ln w="15875">
            <a:solidFill>
              <a:srgbClr val="C7A667"/>
            </a:solidFill>
          </a:ln>
        </p:spPr>
      </p:cxnSp>
      <p:cxnSp>
        <p:nvCxnSpPr>
          <p:cNvPr id="48" name="Footer Line"/>
          <p:cNvCxnSpPr/>
          <p:nvPr/>
        </p:nvCxnSpPr>
        <p:spPr>
          <a:xfrm>
            <a:off x="640080" y="6126480"/>
            <a:ext cx="10149840" cy="0"/>
          </a:xfrm>
          <a:prstGeom prst="line">
            <a:avLst/>
          </a:prstGeom>
          <a:ln w="9525">
            <a:solidFill>
              <a:srgbClr val="0B1B35"/>
            </a:solidFill>
          </a:ln>
        </p:spPr>
      </p:cxnSp>
      <p:sp>
        <p:nvSpPr>
          <p:cNvPr id="49" name="Footer"/>
          <p:cNvSpPr txBox="1"/>
          <p:nvPr/>
        </p:nvSpPr>
        <p:spPr>
          <a:xfrm>
            <a:off x="640080" y="62362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00" b="0" spc="0" dirty="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IAS 2026  ·  The 11th International Ankle Symposium  ·  Yonsei University, Seoul</a:t>
            </a:r>
          </a:p>
        </p:txBody>
      </p:sp>
      <p:sp>
        <p:nvSpPr>
          <p:cNvPr id="50" name="Slide Number"/>
          <p:cNvSpPr txBox="1"/>
          <p:nvPr/>
        </p:nvSpPr>
        <p:spPr>
          <a:xfrm>
            <a:off x="9875520" y="623620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fld id="{15bd88c3-0a51-4089-b693-064c28bfa791}" type="slidenum">
              <a:rPr lang="en-US" sz="900" b="1" spc="0" dirty="0">
                <a:solidFill>
                  <a:srgbClr val="0B1B35"/>
                </a:solidFill>
                <a:latin typeface="Calibri"/>
                <a:ea typeface="Calibri"/>
                <a:cs typeface="Calibri"/>
              </a:rPr>
              <a:t>‹#›</a:t>
            </a:fld>
          </a:p>
        </p:txBody>
      </p:sp>
      <p:pic>
        <p:nvPicPr>
          <p:cNvPr id="5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0641" y="6089904"/>
            <a:ext cx="480974" cy="502920"/>
          </a:xfrm>
          <a:prstGeom prst="rect">
            <a:avLst/>
          </a:prstGeom>
        </p:spPr>
      </p:pic>
      <p:sp>
        <p:nvSpPr>
          <p:cNvPr id="52" name="Title"/>
          <p:cNvSpPr>
            <a:spLocks noGrp="1"/>
          </p:cNvSpPr>
          <p:nvPr>
            <p:ph type="title"/>
          </p:nvPr>
        </p:nvSpPr>
        <p:spPr>
          <a:xfrm>
            <a:off x="640080" y="566928"/>
            <a:ext cx="10881360" cy="64008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600" b="1">
                <a:solidFill>
                  <a:srgbClr val="0B1B35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3" name="Left Heading"/>
          <p:cNvSpPr>
            <a:spLocks noGrp="1"/>
          </p:cNvSpPr>
          <p:nvPr>
            <p:ph type="body" idx="1"/>
          </p:nvPr>
        </p:nvSpPr>
        <p:spPr>
          <a:xfrm>
            <a:off x="640080" y="1600200"/>
            <a:ext cx="5175504" cy="36576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C7A667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Left heading</a:t>
            </a:r>
          </a:p>
        </p:txBody>
      </p:sp>
      <p:cxnSp>
        <p:nvCxnSpPr>
          <p:cNvPr id="54" name="Left Line"/>
          <p:cNvCxnSpPr/>
          <p:nvPr/>
        </p:nvCxnSpPr>
        <p:spPr>
          <a:xfrm>
            <a:off x="640080" y="2011680"/>
            <a:ext cx="5175504" cy="0"/>
          </a:xfrm>
          <a:prstGeom prst="line">
            <a:avLst/>
          </a:prstGeom>
          <a:ln w="6350">
            <a:solidFill>
              <a:srgbClr val="0B1B35"/>
            </a:solidFill>
          </a:ln>
        </p:spPr>
      </p:cxnSp>
      <p:sp>
        <p:nvSpPr>
          <p:cNvPr id="55" name="Left Body"/>
          <p:cNvSpPr>
            <a:spLocks noGrp="1"/>
          </p:cNvSpPr>
          <p:nvPr>
            <p:ph type="body" idx="2"/>
          </p:nvPr>
        </p:nvSpPr>
        <p:spPr>
          <a:xfrm>
            <a:off x="640080" y="2194560"/>
            <a:ext cx="5175504" cy="374904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·"/>
              <a:defRPr sz="15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Point</a:t>
            </a:r>
          </a:p>
        </p:txBody>
      </p:sp>
      <p:sp>
        <p:nvSpPr>
          <p:cNvPr id="56" name="Right Heading"/>
          <p:cNvSpPr>
            <a:spLocks noGrp="1"/>
          </p:cNvSpPr>
          <p:nvPr>
            <p:ph type="body" idx="3"/>
          </p:nvPr>
        </p:nvSpPr>
        <p:spPr>
          <a:xfrm>
            <a:off x="6373368" y="1600200"/>
            <a:ext cx="5175504" cy="36576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C7A667"/>
                </a:solidFill>
                <a:latin typeface="Cambria"/>
                <a:ea typeface="Cambria"/>
                <a:cs typeface="Cambria"/>
              </a:defRPr>
            </a:lvl1pPr>
          </a:lstStyle>
          <a:p>
            <a:r>
              <a:rPr lang="en-US"/>
              <a:t>Right heading</a:t>
            </a:r>
          </a:p>
        </p:txBody>
      </p:sp>
      <p:cxnSp>
        <p:nvCxnSpPr>
          <p:cNvPr id="57" name="Right Line"/>
          <p:cNvCxnSpPr/>
          <p:nvPr/>
        </p:nvCxnSpPr>
        <p:spPr>
          <a:xfrm>
            <a:off x="6373368" y="2011680"/>
            <a:ext cx="5175504" cy="0"/>
          </a:xfrm>
          <a:prstGeom prst="line">
            <a:avLst/>
          </a:prstGeom>
          <a:ln w="6350">
            <a:solidFill>
              <a:srgbClr val="0B1B35"/>
            </a:solidFill>
          </a:ln>
        </p:spPr>
      </p:cxnSp>
      <p:sp>
        <p:nvSpPr>
          <p:cNvPr id="58" name="Right Body"/>
          <p:cNvSpPr>
            <a:spLocks noGrp="1"/>
          </p:cNvSpPr>
          <p:nvPr>
            <p:ph type="body" idx="4"/>
          </p:nvPr>
        </p:nvSpPr>
        <p:spPr>
          <a:xfrm>
            <a:off x="6373368" y="2194560"/>
            <a:ext cx="5175504" cy="374904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28600" indent="-228600" algn="l">
              <a:spcBef>
                <a:spcPts val="0"/>
              </a:spcBef>
              <a:spcAft>
                <a:spcPts val="800"/>
              </a:spcAft>
              <a:buFont typeface="Arial"/>
              <a:buChar char="·"/>
              <a:defRPr sz="1500" b="0">
                <a:solidFill>
                  <a:srgbClr val="0B1B3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Point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63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L2"/>
    <p:sldLayoutId id="2147483664" r:id="rIdL3"/>
    <p:sldLayoutId id="2147483665" r:id="rIdL4"/>
    <p:sldLayoutId id="2147483666" r:id="rIdL5"/>
    <p:sldLayoutId id="2147483667" r:id="rIdL6"/>
    <p:sldLayoutId id="2147483668" r:id="rIdL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9.jpe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sz="3000"/>
              <a:t>Effects of Foot Core and Trunk Core Training on Postural Control Strategies in Individuals with Chronic Ankle Instability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Jiyoon Lee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</a:pPr>
            <a:r>
              <a:t>Department of Physical Education, Yonsei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Chronic ankle instability and postural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Up to 40% of first-time lateral ankle sprains progress to chronic ankle instability (CAI).</a:t>
            </a:r>
          </a:p>
          <a:p>
            <a:pPr marL="0" indent="0">
              <a:buNone/>
              <a:spcAft>
                <a:spcPts val="800"/>
              </a:spcAft>
            </a:pPr>
            <a:r>
              <a:t>The hallmark deficit is postural control — most evident during dynamic tasks such as jump landing.</a:t>
            </a:r>
          </a:p>
          <a:p>
            <a:pPr marL="0" indent="0">
              <a:buNone/>
              <a:spcAft>
                <a:spcPts val="800"/>
              </a:spcAft>
            </a:pPr>
            <a:r>
              <a:t>Deficits exist at both ends of the kinetic chain: the intrinsic foot muscles (distal) and the deep trunk stabilizers (proximal).</a:t>
            </a:r>
          </a:p>
          <a:p>
            <a:pPr marL="0" indent="0">
              <a:buNone/>
              <a:spcAft>
                <a:spcPts val="800"/>
              </a:spcAft>
            </a:pPr>
            <a:r>
              <a:t>Individuals with CAI also show altered ankle, knee, hip and trunk kinematics during landing.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Two approaches, one open question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Foot core training (bottom-up) and trunk core training (top-down) both improve postural control in CAI.</a:t>
            </a:r>
          </a:p>
          <a:p>
            <a:pPr marL="0" indent="0">
              <a:buNone/>
              <a:spcAft>
                <a:spcPts val="800"/>
              </a:spcAft>
            </a:pPr>
            <a:r>
              <a:t>Whether either transfers to a dynamic landing task is unknown.</a:t>
            </a:r>
          </a:p>
          <a:p>
            <a:pPr marL="0" indent="0">
              <a:buNone/>
              <a:spcAft>
                <a:spcPts val="800"/>
              </a:spcAft>
            </a:pPr>
            <a:r>
              <a:t>The two approaches have not been compared directly.</a:t>
            </a:r>
          </a:p>
          <a:p>
            <a:pPr marL="0" indent="0">
              <a:buNone/>
              <a:spcAft>
                <a:spcPts val="800"/>
              </a:spcAft>
            </a:pPr>
          </a:p>
          <a:p>
            <a:pPr marL="0" indent="0">
              <a:buNone/>
              <a:spcAft>
                <a:spcPts val="800"/>
              </a:spcAft>
            </a:pPr>
            <a:r>
              <a:t>Purpose — to compare foot core training, trunk core training and a control condition on static and dynamic postural control, and on lower-limb and trunk kinematics, during single-leg landing in individuals with CAI.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Methods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Study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3172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30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mbria"/>
              </a:rPr>
              <a:t>with CAI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60320" y="2926080"/>
            <a:ext cx="640080" cy="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200400" y="2514600"/>
            <a:ext cx="1463040" cy="82296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0">
                <a:solidFill>
                  <a:srgbClr val="0B1B35"/>
                </a:solidFill>
                <a:latin typeface="Calibri"/>
              </a:rPr>
              <a:t>stratified</a:t>
            </a:r>
          </a:p>
          <a:p>
            <a:pPr algn="ctr"/>
            <a:r>
              <a:rPr sz="1200" b="0">
                <a:solidFill>
                  <a:srgbClr val="0B1B35"/>
                </a:solidFill>
                <a:latin typeface="Calibri"/>
              </a:rPr>
              <a:t>by sex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4663440" y="2240280"/>
            <a:ext cx="731520" cy="68580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394960" y="182880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B35"/>
                </a:solidFill>
                <a:latin typeface="Calibri"/>
              </a:rPr>
              <a:t>Foot core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 = 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2926080"/>
            <a:ext cx="731520" cy="54864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94960" y="306324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0B1B35"/>
                </a:solidFill>
                <a:latin typeface="Calibri"/>
              </a:rPr>
              <a:t>Trunk core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 = 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926080"/>
            <a:ext cx="731520" cy="1783080"/>
          </a:xfrm>
          <a:prstGeom prst="line">
            <a:avLst/>
          </a:prstGeom>
          <a:ln w="19050">
            <a:solidFill>
              <a:srgbClr val="0B1B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4297680"/>
            <a:ext cx="2103120" cy="8229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0B1B35"/>
                </a:solidFill>
                <a:latin typeface="Calibri"/>
              </a:rPr>
              <a:t>Control</a:t>
            </a:r>
          </a:p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n =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8288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3EEE6"/>
          </a:solidFill>
          <a:ln w="12700">
            <a:solidFill>
              <a:srgbClr val="C7A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0B1B35"/>
                </a:solidFill>
                <a:latin typeface="Cambria"/>
              </a:rPr>
              <a:t>12 sessions</a:t>
            </a:r>
          </a:p>
          <a:p>
            <a:pPr algn="ctr"/>
            <a:r>
              <a:rPr sz="1300" b="0">
                <a:solidFill>
                  <a:srgbClr val="0B1B35"/>
                </a:solidFill>
                <a:latin typeface="Cambria"/>
              </a:rPr>
              <a:t>30 min · 3 × week · 4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297680"/>
            <a:ext cx="3657600" cy="8229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6B6B6B"/>
                </a:solidFill>
                <a:latin typeface="Calibri"/>
              </a:rPr>
              <a:t>no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Randomized three-group pretest–posttest design  ·  International Ankle Consortium criteria  ·  IdFAI ≥ 11, FAAM-ADL &lt; 90%, FAAM-Sport &lt; 80%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Training programs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Foot core training (FCG)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[Exercise 1]</a:t>
            </a:r>
          </a:p>
          <a:p>
            <a:pPr marL="0" indent="0">
              <a:buNone/>
              <a:spcAft>
                <a:spcPts val="800"/>
              </a:spcAft>
            </a:pPr>
            <a:r>
              <a:t>[Exercise 2]</a:t>
            </a:r>
          </a:p>
          <a:p>
            <a:pPr marL="0" indent="0">
              <a:buNone/>
              <a:spcAft>
                <a:spcPts val="800"/>
              </a:spcAft>
            </a:pPr>
            <a:r>
              <a:t>[Progression]</a:t>
            </a:r>
          </a:p>
          <a:p>
            <a:pPr marL="0" indent="0">
              <a:buNone/>
              <a:spcAft>
                <a:spcPts val="800"/>
              </a:spcAft>
            </a:pPr>
          </a:p>
          <a:p>
            <a:pPr marL="0" indent="0">
              <a:buNone/>
              <a:spcAft>
                <a:spcPts val="800"/>
              </a:spcAft>
            </a:pPr>
            <a:r>
              <a:t>12 sessions · 30 min · 3 × week · 4 weeks · supervised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Trunk core training (TCG)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[Exercise 1]</a:t>
            </a:r>
          </a:p>
          <a:p>
            <a:pPr marL="0" indent="0">
              <a:buNone/>
              <a:spcAft>
                <a:spcPts val="800"/>
              </a:spcAft>
            </a:pPr>
            <a:r>
              <a:t>[Exercise 2]</a:t>
            </a:r>
          </a:p>
          <a:p>
            <a:pPr marL="0" indent="0">
              <a:buNone/>
              <a:spcAft>
                <a:spcPts val="800"/>
              </a:spcAft>
            </a:pPr>
            <a:r>
              <a:t>[Progression]</a:t>
            </a:r>
          </a:p>
          <a:p>
            <a:pPr marL="0" indent="0">
              <a:buNone/>
              <a:spcAft>
                <a:spcPts val="800"/>
              </a:spcAft>
            </a:pPr>
          </a:p>
          <a:p>
            <a:pPr marL="0" indent="0">
              <a:buNone/>
              <a:spcAft>
                <a:spcPts val="800"/>
              </a:spcAft>
            </a:pPr>
            <a:r>
              <a:t>12 sessions · 30 min · 3 × week · 4 weeks · supervised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Procedures and measures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Static postural control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Single-leg stance, involved limb, 10 s</a:t>
            </a:r>
          </a:p>
          <a:p>
            <a:pPr marL="0" indent="0">
              <a:buNone/>
              <a:spcAft>
                <a:spcPts val="800"/>
              </a:spcAft>
            </a:pPr>
            <a:r>
              <a:t>Eyes open and eyes closed, 3 trials each</a:t>
            </a:r>
          </a:p>
          <a:p>
            <a:pPr marL="0" indent="0">
              <a:buNone/>
              <a:spcAft>
                <a:spcPts val="800"/>
              </a:spcAft>
            </a:pPr>
            <a:r>
              <a:t>COP mean velocity (total, ML, AP)</a:t>
            </a:r>
          </a:p>
          <a:p>
            <a:pPr marL="0" indent="0">
              <a:buNone/>
              <a:spcAft>
                <a:spcPts val="800"/>
              </a:spcAft>
            </a:pPr>
            <a:r>
              <a:t>95% ellipse area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Dynamic postural control and kinematics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Single-leg jump landing over a 30-cm hurdle from 40% body height</a:t>
            </a:r>
          </a:p>
          <a:p>
            <a:pPr marL="0" indent="0">
              <a:buNone/>
              <a:spcAft>
                <a:spcPts val="800"/>
              </a:spcAft>
            </a:pPr>
            <a:r>
              <a:t>Dynamic postural stability index (DPSI), first 3 s after contact</a:t>
            </a:r>
          </a:p>
          <a:p>
            <a:pPr marL="0" indent="0">
              <a:buNone/>
              <a:spcAft>
                <a:spcPts val="800"/>
              </a:spcAft>
            </a:pPr>
            <a:r>
              <a:t>3D kinematics of ankle, knee, hip and trunk (35 markers, 200 Hz)</a:t>
            </a:r>
          </a:p>
          <a:p>
            <a:pPr marL="0" indent="0">
              <a:buNone/>
              <a:spcAft>
                <a:spcPts val="800"/>
              </a:spcAft>
            </a:pPr>
            <a:r>
              <a:t>Angle at initial contact and peak within 200 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Statistical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Two-way mixed ANOVA — time (pre, post) × group (FCG, TCG, CG) — for discrete outcomes.</a:t>
            </a:r>
          </a:p>
          <a:p>
            <a:pPr marL="0" indent="0">
              <a:buNone/>
              <a:spcAft>
                <a:spcPts val="800"/>
              </a:spcAft>
            </a:pPr>
            <a:r>
              <a:t>Significant interactions followed by one-way ANOVA on change scores with Bonferroni-adjusted pairwise comparisons.</a:t>
            </a:r>
          </a:p>
          <a:p>
            <a:pPr marL="0" indent="0">
              <a:buNone/>
              <a:spcAft>
                <a:spcPts val="800"/>
              </a:spcAft>
            </a:pPr>
            <a:r>
              <a:t>Statistical parametric mapping (SPM) for continuous kinematics across the first 200 ms after initial contact; pairwise SPM t-tests at p &lt; 0.0167.</a:t>
            </a:r>
          </a:p>
          <a:p>
            <a:pPr marL="0" indent="0">
              <a:buNone/>
              <a:spcAft>
                <a:spcPts val="800"/>
              </a:spcAft>
            </a:pPr>
            <a:r>
              <a:t>Effect sizes as partial η²; α = 0.05.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Postural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No baseline differences among groups in sex, age, height, weight, IdFAI or FAAM scores.</a:t>
            </a:r>
          </a:p>
          <a:p>
            <a:pPr marL="0" indent="0">
              <a:buNone/>
              <a:spcAft>
                <a:spcPts val="800"/>
              </a:spcAft>
            </a:pPr>
            <a:r>
              <a:t>No significant time-by-group interaction for any static or dynamic postural control outcome (all p &gt; 0.05).</a:t>
            </a:r>
          </a:p>
          <a:p>
            <a:pPr marL="0" indent="0">
              <a:buNone/>
              <a:spcAft>
                <a:spcPts val="800"/>
              </a:spcAft>
            </a:pPr>
            <a:r>
              <a:t>Main effect of time only for 95% ellipse area, eyes closed (p = 0.046).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 sz="quarter"/>
          </p:nvPr>
        </p:nvSpPr>
        <p:spPr/>
        <p:txBody>
          <a:bodyPr/>
          <a:p>
            <a:pPr marL="0" indent="0">
              <a:buNone/>
            </a:pP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Table 2. Postural control outcomes, pre and post (to be inserted).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Trunk transverse-plane angle: time-by-group interaction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94560" y="4572000"/>
            <a:ext cx="7132320" cy="0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417445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51685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-15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31870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66110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-10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46294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80534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-5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19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4959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75144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09384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89569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23809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03994" y="4572000"/>
            <a:ext cx="0" cy="73152"/>
          </a:xfrm>
          <a:prstGeom prst="line">
            <a:avLst/>
          </a:prstGeom>
          <a:ln w="12700">
            <a:solidFill>
              <a:srgbClr val="0B1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38234" y="46817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19" y="2103120"/>
            <a:ext cx="0" cy="2468880"/>
          </a:xfrm>
          <a:prstGeom prst="line">
            <a:avLst/>
          </a:prstGeom>
          <a:ln w="12700">
            <a:solidFill>
              <a:srgbClr val="6B6B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94560" y="4983480"/>
            <a:ext cx="7132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FCG − TCG, change in trunk rotation (°)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148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1B35"/>
                </a:solidFill>
                <a:latin typeface="Calibri"/>
              </a:rPr>
              <a:t>Initial contact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1582" y="2377440"/>
            <a:ext cx="2447277" cy="0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61582" y="2267712"/>
            <a:ext cx="0" cy="219456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08859" y="2267712"/>
            <a:ext cx="0" cy="219456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mond 23"/>
          <p:cNvSpPr/>
          <p:nvPr/>
        </p:nvSpPr>
        <p:spPr>
          <a:xfrm>
            <a:off x="4157205" y="2249424"/>
            <a:ext cx="256032" cy="256032"/>
          </a:xfrm>
          <a:prstGeom prst="diamond">
            <a:avLst/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1031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 = 0.014</a:t>
            </a:r>
          </a:p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[-12.11, -1.13]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0B1B35"/>
                </a:solidFill>
                <a:latin typeface="Calibri"/>
              </a:rPr>
              <a:t>Peak ≤ 200 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99912" y="3474720"/>
            <a:ext cx="2705824" cy="0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499912" y="3364991"/>
            <a:ext cx="0" cy="219457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05736" y="3364991"/>
            <a:ext cx="0" cy="219457"/>
          </a:xfrm>
          <a:prstGeom prst="line">
            <a:avLst/>
          </a:prstGeom>
          <a:ln w="38100">
            <a:solidFill>
              <a:srgbClr val="C7A6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iamond 29"/>
          <p:cNvSpPr/>
          <p:nvPr/>
        </p:nvSpPr>
        <p:spPr>
          <a:xfrm>
            <a:off x="3724808" y="3346703"/>
            <a:ext cx="256032" cy="256032"/>
          </a:xfrm>
          <a:prstGeom prst="diamond">
            <a:avLst/>
          </a:prstGeom>
          <a:solidFill>
            <a:srgbClr val="0B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32004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 = 0.004</a:t>
            </a:r>
          </a:p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[-14.63, -2.49]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1691640"/>
            <a:ext cx="71323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7A667"/>
                </a:solidFill>
                <a:latin typeface="Calibri"/>
              </a:rPr>
              <a:t>◀ foot core reduced rotation more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interaction  IC p = 0.016, ηp² = 0.26 · peak p = 0.004, ηp² = 0.34   ·   FCG vs CG at peak p = 0.053   ·   TCG vs CG n.s.   ·   ankle, knee, hip: no interaction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Statistical parametric mapping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Significant time-by-group interaction across the entire 0–200 ms interval (p = 0.010).</a:t>
            </a:r>
          </a:p>
          <a:p>
            <a:pPr marL="0" indent="0">
              <a:buNone/>
              <a:spcAft>
                <a:spcPts val="800"/>
              </a:spcAft>
            </a:pPr>
            <a:r>
              <a:t>Greater reduction in trunk rotation in FCG than TCG from 25% to 100% of the interval (p = 0.010).</a:t>
            </a:r>
          </a:p>
          <a:p>
            <a:pPr marL="0" indent="0">
              <a:buNone/>
              <a:spcAft>
                <a:spcPts val="800"/>
              </a:spcAft>
            </a:pPr>
            <a:r>
              <a:t>Greater reduction in FCG than CG from 80% to 100% (p = 0.015).</a:t>
            </a:r>
          </a:p>
          <a:p>
            <a:pPr marL="0" indent="0">
              <a:buNone/>
              <a:spcAft>
                <a:spcPts val="800"/>
              </a:spcAft>
            </a:pPr>
            <a:r>
              <a:t>No difference between TCG and CG.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 sz="quarter"/>
          </p:nvPr>
        </p:nvSpPr>
        <p:spPr/>
        <p:txBody>
          <a:bodyPr/>
          <a:p>
            <a:pPr marL="0" indent="0">
              <a:buNone/>
            </a:pP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Figures 1–2. SPM interaction and pairwise change waveforms (to be inserted).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Main finding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Four weeks of foot core training reduced transverse-plane trunk rotation during single-leg landing — more than trunk core training over the same period.</a:t>
            </a:r>
          </a:p>
          <a:p>
            <a:pPr marL="0" indent="0">
              <a:buNone/>
              <a:spcAft>
                <a:spcPts val="800"/>
              </a:spcAft>
            </a:pPr>
            <a:r>
              <a:t>Neither program changed static or dynamic postural control scores.</a:t>
            </a:r>
          </a:p>
          <a:p>
            <a:pPr marL="0" indent="0">
              <a:buNone/>
              <a:spcAft>
                <a:spcPts val="800"/>
              </a:spcAft>
            </a:pPr>
            <a:r>
              <a:t>The change appeared in the movement strategy, not in the summary balance measures.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Interpretation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Why the foot changed the trunk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The foot is the first segment to contact the ground; the trunk is the last to settle.</a:t>
            </a:r>
          </a:p>
          <a:p>
            <a:pPr marL="0" indent="0">
              <a:buNone/>
              <a:spcAft>
                <a:spcPts val="800"/>
              </a:spcAft>
            </a:pPr>
            <a:r>
              <a:t>Improved control at initial contact may reduce the correction required upstream.</a:t>
            </a:r>
          </a:p>
          <a:p>
            <a:pPr marL="0" indent="0">
              <a:buNone/>
              <a:spcAft>
                <a:spcPts val="800"/>
              </a:spcAft>
            </a:pPr>
            <a:r>
              <a:t>Trunk stabilization in isolation may not transfer to a fast, single-leg landing.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Why balance scores did not change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Four weeks may be sufficient to shift a movement pattern but not a summary measure such as COP velocity.</a:t>
            </a:r>
          </a:p>
          <a:p>
            <a:pPr marL="0" indent="0">
              <a:buNone/>
              <a:spcAft>
                <a:spcPts val="800"/>
              </a:spcAft>
            </a:pPr>
            <a:r>
              <a:t>Individuals with CAI may compensate to maintain stance while the underlying strategy differs.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Sample size: 30 participants, 10 per group.</a:t>
            </a:r>
          </a:p>
          <a:p>
            <a:pPr marL="0" indent="0">
              <a:buNone/>
              <a:spcAft>
                <a:spcPts val="800"/>
              </a:spcAft>
            </a:pPr>
            <a:r>
              <a:t>Intervention length: four weeks, no follow-up assessment.</a:t>
            </a:r>
          </a:p>
          <a:p>
            <a:pPr marL="0" indent="0">
              <a:buNone/>
              <a:spcAft>
                <a:spcPts val="800"/>
              </a:spcAft>
            </a:pPr>
            <a:r>
              <a:t>Persistence of the kinematic change and its relation to giving-way episodes remain unknown.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  <a:spcAft>
                <a:spcPts val="600"/>
              </a:spcAft>
            </a:pPr>
            <a:r>
              <a:t>Conclusion and practical implications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spcAft>
                <a:spcPts val="800"/>
              </a:spcAft>
            </a:pPr>
            <a:r>
              <a:t>Four weeks of foot core training reduced trunk rotation during landing in individuals with CAI; trunk core training did not.</a:t>
            </a:r>
          </a:p>
          <a:p>
            <a:pPr marL="0" indent="0">
              <a:buNone/>
              <a:spcAft>
                <a:spcPts val="800"/>
              </a:spcAft>
            </a:pPr>
            <a:r>
              <a:t>Foot core training may be a useful component for modifying altered landing patterns in CAI rehabilitation.</a:t>
            </a:r>
          </a:p>
          <a:p>
            <a:pPr marL="0" indent="0">
              <a:buNone/>
              <a:spcAft>
                <a:spcPts val="800"/>
              </a:spcAft>
            </a:pPr>
            <a:r>
              <a:t>It is low-load, brief and supervised — twelve sessions of thirty minutes — and can be added alongside existing balance and strength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-2353739" y="1564436"/>
            <a:ext cx="121916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3EEE6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330629" y="2925063"/>
            <a:ext cx="822960" cy="20117"/>
          </a:xfrm>
          <a:prstGeom prst="rect">
            <a:avLst/>
          </a:prstGeom>
          <a:solidFill>
            <a:srgbClr val="C7A66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682750" y="3757373"/>
            <a:ext cx="4140200" cy="741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Jiyoon Lee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[email]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416726" y="4451482"/>
            <a:ext cx="49523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C7A66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Physical Education, Yonsei University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C7A667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E87221-6904-407E-80E6-03628274C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309" y="-30873"/>
            <a:ext cx="7014230" cy="46761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A4BD14B-2F78-B497-0FED-1A25A0A33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9423" y="5312475"/>
            <a:ext cx="1243191" cy="1225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182</Words>
  <Application>Microsoft Office PowerPoint</Application>
  <PresentationFormat>와이드스크린</PresentationFormat>
  <Paragraphs>40</Paragraphs>
  <Slides>12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지윤 이</dc:creator>
  <cp:lastModifiedBy>지윤 이</cp:lastModifiedBy>
  <cp:revision>6</cp:revision>
  <dcterms:created xsi:type="dcterms:W3CDTF">2026-09-21T06:54:02Z</dcterms:created>
  <dcterms:modified xsi:type="dcterms:W3CDTF">2026-09-21T07:05:14Z</dcterms:modified>
</cp:coreProperties>
</file>