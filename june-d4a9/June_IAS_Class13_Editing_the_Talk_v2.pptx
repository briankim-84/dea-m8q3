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2131A262-9CF2-4007-BB86-F8E0F0375BCE}"/>
    <pc:docChg chg="undo custSel modSld">
      <pc:chgData name="Brian Kim" userId="bfb6c6aebdabc740" providerId="LiveId" clId="{2131A262-9CF2-4007-BB86-F8E0F0375BCE}" dt="2026-10-04T05:44:32.396" v="2726" actId="20577"/>
      <pc:docMkLst>
        <pc:docMk/>
      </pc:docMkLst>
      <pc:sldChg chg="modSp mod">
        <pc:chgData name="Brian Kim" userId="bfb6c6aebdabc740" providerId="LiveId" clId="{2131A262-9CF2-4007-BB86-F8E0F0375BCE}" dt="2026-10-04T04:26:17.376" v="503" actId="5793"/>
        <pc:sldMkLst>
          <pc:docMk/>
          <pc:sldMk cId="0" sldId="258"/>
        </pc:sldMkLst>
        <pc:spChg chg="mod">
          <ac:chgData name="Brian Kim" userId="bfb6c6aebdabc740" providerId="LiveId" clId="{2131A262-9CF2-4007-BB86-F8E0F0375BCE}" dt="2026-10-04T04:26:17.376" v="503" actId="5793"/>
          <ac:spMkLst>
            <pc:docMk/>
            <pc:sldMk cId="0" sldId="258"/>
            <ac:spMk id="36" creationId="{00000000-0000-0000-0000-000000000000}"/>
          </ac:spMkLst>
        </pc:spChg>
      </pc:sldChg>
      <pc:sldChg chg="modSp mod">
        <pc:chgData name="Brian Kim" userId="bfb6c6aebdabc740" providerId="LiveId" clId="{2131A262-9CF2-4007-BB86-F8E0F0375BCE}" dt="2026-10-04T04:30:31.059" v="1027" actId="20577"/>
        <pc:sldMkLst>
          <pc:docMk/>
          <pc:sldMk cId="0" sldId="259"/>
        </pc:sldMkLst>
        <pc:spChg chg="mod">
          <ac:chgData name="Brian Kim" userId="bfb6c6aebdabc740" providerId="LiveId" clId="{2131A262-9CF2-4007-BB86-F8E0F0375BCE}" dt="2026-10-04T04:30:31.059" v="1027" actId="20577"/>
          <ac:spMkLst>
            <pc:docMk/>
            <pc:sldMk cId="0" sldId="259"/>
            <ac:spMk id="36" creationId="{00000000-0000-0000-0000-000000000000}"/>
          </ac:spMkLst>
        </pc:spChg>
      </pc:sldChg>
      <pc:sldChg chg="modSp mod">
        <pc:chgData name="Brian Kim" userId="bfb6c6aebdabc740" providerId="LiveId" clId="{2131A262-9CF2-4007-BB86-F8E0F0375BCE}" dt="2026-10-04T04:35:09.364" v="1370" actId="20577"/>
        <pc:sldMkLst>
          <pc:docMk/>
          <pc:sldMk cId="0" sldId="261"/>
        </pc:sldMkLst>
        <pc:spChg chg="mod">
          <ac:chgData name="Brian Kim" userId="bfb6c6aebdabc740" providerId="LiveId" clId="{2131A262-9CF2-4007-BB86-F8E0F0375BCE}" dt="2026-10-04T04:35:09.364" v="1370" actId="20577"/>
          <ac:spMkLst>
            <pc:docMk/>
            <pc:sldMk cId="0" sldId="261"/>
            <ac:spMk id="38" creationId="{00000000-0000-0000-0000-000000000000}"/>
          </ac:spMkLst>
        </pc:spChg>
      </pc:sldChg>
      <pc:sldChg chg="addSp delSp modSp mod">
        <pc:chgData name="Brian Kim" userId="bfb6c6aebdabc740" providerId="LiveId" clId="{2131A262-9CF2-4007-BB86-F8E0F0375BCE}" dt="2026-10-04T04:42:12.279" v="1549" actId="20577"/>
        <pc:sldMkLst>
          <pc:docMk/>
          <pc:sldMk cId="0" sldId="262"/>
        </pc:sldMkLst>
        <pc:spChg chg="add del mod">
          <ac:chgData name="Brian Kim" userId="bfb6c6aebdabc740" providerId="LiveId" clId="{2131A262-9CF2-4007-BB86-F8E0F0375BCE}" dt="2026-10-04T04:42:12.279" v="1549" actId="20577"/>
          <ac:spMkLst>
            <pc:docMk/>
            <pc:sldMk cId="0" sldId="262"/>
            <ac:spMk id="36" creationId="{00000000-0000-0000-0000-000000000000}"/>
          </ac:spMkLst>
        </pc:spChg>
      </pc:sldChg>
      <pc:sldChg chg="modSp mod">
        <pc:chgData name="Brian Kim" userId="bfb6c6aebdabc740" providerId="LiveId" clId="{2131A262-9CF2-4007-BB86-F8E0F0375BCE}" dt="2026-10-04T04:47:45.270" v="1900" actId="20577"/>
        <pc:sldMkLst>
          <pc:docMk/>
          <pc:sldMk cId="0" sldId="264"/>
        </pc:sldMkLst>
        <pc:spChg chg="mod">
          <ac:chgData name="Brian Kim" userId="bfb6c6aebdabc740" providerId="LiveId" clId="{2131A262-9CF2-4007-BB86-F8E0F0375BCE}" dt="2026-10-04T04:47:45.270" v="1900" actId="20577"/>
          <ac:spMkLst>
            <pc:docMk/>
            <pc:sldMk cId="0" sldId="264"/>
            <ac:spMk id="36" creationId="{00000000-0000-0000-0000-000000000000}"/>
          </ac:spMkLst>
        </pc:spChg>
      </pc:sldChg>
      <pc:sldChg chg="modSp mod">
        <pc:chgData name="Brian Kim" userId="bfb6c6aebdabc740" providerId="LiveId" clId="{2131A262-9CF2-4007-BB86-F8E0F0375BCE}" dt="2026-10-04T05:12:22.315" v="2071" actId="20577"/>
        <pc:sldMkLst>
          <pc:docMk/>
          <pc:sldMk cId="0" sldId="265"/>
        </pc:sldMkLst>
        <pc:spChg chg="mod">
          <ac:chgData name="Brian Kim" userId="bfb6c6aebdabc740" providerId="LiveId" clId="{2131A262-9CF2-4007-BB86-F8E0F0375BCE}" dt="2026-10-04T05:12:22.315" v="2071" actId="20577"/>
          <ac:spMkLst>
            <pc:docMk/>
            <pc:sldMk cId="0" sldId="265"/>
            <ac:spMk id="36" creationId="{00000000-0000-0000-0000-000000000000}"/>
          </ac:spMkLst>
        </pc:spChg>
      </pc:sldChg>
      <pc:sldChg chg="modSp mod">
        <pc:chgData name="Brian Kim" userId="bfb6c6aebdabc740" providerId="LiveId" clId="{2131A262-9CF2-4007-BB86-F8E0F0375BCE}" dt="2026-10-04T05:25:53.733" v="2619" actId="20577"/>
        <pc:sldMkLst>
          <pc:docMk/>
          <pc:sldMk cId="0" sldId="266"/>
        </pc:sldMkLst>
        <pc:spChg chg="mod">
          <ac:chgData name="Brian Kim" userId="bfb6c6aebdabc740" providerId="LiveId" clId="{2131A262-9CF2-4007-BB86-F8E0F0375BCE}" dt="2026-10-04T05:25:53.733" v="2619" actId="20577"/>
          <ac:spMkLst>
            <pc:docMk/>
            <pc:sldMk cId="0" sldId="266"/>
            <ac:spMk id="38" creationId="{00000000-0000-0000-0000-000000000000}"/>
          </ac:spMkLst>
        </pc:spChg>
      </pc:sldChg>
      <pc:sldChg chg="modSp mod">
        <pc:chgData name="Brian Kim" userId="bfb6c6aebdabc740" providerId="LiveId" clId="{2131A262-9CF2-4007-BB86-F8E0F0375BCE}" dt="2026-10-04T05:34:54.641" v="2638" actId="20577"/>
        <pc:sldMkLst>
          <pc:docMk/>
          <pc:sldMk cId="0" sldId="267"/>
        </pc:sldMkLst>
        <pc:spChg chg="mod">
          <ac:chgData name="Brian Kim" userId="bfb6c6aebdabc740" providerId="LiveId" clId="{2131A262-9CF2-4007-BB86-F8E0F0375BCE}" dt="2026-10-04T05:34:54.641" v="2638" actId="20577"/>
          <ac:spMkLst>
            <pc:docMk/>
            <pc:sldMk cId="0" sldId="267"/>
            <ac:spMk id="36" creationId="{00000000-0000-0000-0000-000000000000}"/>
          </ac:spMkLst>
        </pc:spChg>
      </pc:sldChg>
      <pc:sldChg chg="modSp mod">
        <pc:chgData name="Brian Kim" userId="bfb6c6aebdabc740" providerId="LiveId" clId="{2131A262-9CF2-4007-BB86-F8E0F0375BCE}" dt="2026-10-04T05:44:32.396" v="2726" actId="20577"/>
        <pc:sldMkLst>
          <pc:docMk/>
          <pc:sldMk cId="0" sldId="270"/>
        </pc:sldMkLst>
        <pc:spChg chg="mod">
          <ac:chgData name="Brian Kim" userId="bfb6c6aebdabc740" providerId="LiveId" clId="{2131A262-9CF2-4007-BB86-F8E0F0375BCE}" dt="2026-10-04T05:44:32.396" v="2726" actId="20577"/>
          <ac:spMkLst>
            <pc:docMk/>
            <pc:sldMk cId="0" sldId="270"/>
            <ac:spMk id="3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973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· IAS 2026 · CLASS 13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Editing the Talk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minutes. The whole paper. Twelve decisions nobody has made yet — we make them today.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june13/img/intr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0B1628">
              <a:alpha val="82000"/>
            </a:srgbClr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8920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should an ankle room care about the core?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E4C05C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20116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the talk open — the first sentence?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E4C0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number — 40% of first sprains become chronic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E4C0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moment — landing is where it goes wrong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5008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E4C0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puzzle — an ankle problem, but the answer may sit above the ankle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1179576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61104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40% → CAI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19656" y="4261104"/>
            <a:ext cx="2143354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819656" y="4261104"/>
            <a:ext cx="2143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deficits most visible in landing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54450" y="4261104"/>
            <a:ext cx="2483510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54450" y="4261104"/>
            <a:ext cx="24835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stability for distal mobility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70916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BRIAN, HONESTLY   </a:t>
            </a:r>
            <a:r>
              <a:rPr lang="en-US" sz="13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would make you look up from your phone?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102352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175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449824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 prefers C as the core message. I focused on connection between ankle and something beyond the ankle. So the C shall be the key focus from this paper. From </a:t>
            </a:r>
            <a:r>
              <a:rPr lang="en-US" altLang="ko-KR" dirty="0">
                <a:solidFill>
                  <a:schemeClr val="bg1"/>
                </a:solidFill>
              </a:rPr>
              <a:t>my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perspective, I would say C is the most important message of my paper.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E4C05C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20116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gap, in one sentence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E4C0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compared foot core and trunk core training directly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E4C0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know if balance gains show up when you actually land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5008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E4C0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— but which one comes first?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2653589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61104"/>
            <a:ext cx="2653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 and TCT each improve postural control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3669" y="4261104"/>
            <a:ext cx="2029968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93669" y="426110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carry-over to landing: unknown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15077" y="4261104"/>
            <a:ext cx="2483510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15077" y="4261104"/>
            <a:ext cx="24835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vs top-down: rarely compared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70916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BRIAN, HONESTLY   </a:t>
            </a:r>
            <a:r>
              <a:rPr lang="en-US" sz="13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June says only one of these, which one do you remember?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102352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175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449824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What explains the best about the gap is A. There are a lot of studies based on B. As far as I am aware, I haven’t seen studies those figuring out how to improve the postural control and landing kinematics after these two trainings.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june13/img/method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0B1628">
              <a:alpha val="82000"/>
            </a:srgbClr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8920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Thirty people, three groups, four weeks, one landing.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E4C05C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20116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numbers survive the 60-second Methods slide?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7FB3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7FB3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30 / 3 groups / 4 weeks / 12 sessions — nothing else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7FB3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7FB3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above + what the landing task looks like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5008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7FB3D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7FB3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above + the 200-ms window, because the result lives there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2937053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61104"/>
            <a:ext cx="29370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participants · 10/group · stratified by sex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77133" y="4261104"/>
            <a:ext cx="2086661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77133" y="4261104"/>
            <a:ext cx="20866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3×/week · 12 sessions · ~30 min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55234" y="4261104"/>
            <a:ext cx="3220517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55234" y="4261104"/>
            <a:ext cx="32205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hurdle 30 cm · from 40% height · single-leg landing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681728"/>
            <a:ext cx="2766974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4681728"/>
            <a:ext cx="27669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Vicon 35 markers · IC &gt; 20 N · first 200 ms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12978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BRIAN, HONESTLY   </a:t>
            </a:r>
            <a:r>
              <a:rPr lang="en-US" sz="13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number did you forget first?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522976"/>
            <a:ext cx="11091672" cy="996696"/>
          </a:xfrm>
          <a:prstGeom prst="roundRect">
            <a:avLst>
              <a:gd name="adj" fmla="val 7339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596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870448"/>
            <a:ext cx="1060704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Should be showing C. B is very common dynamic task in our field. I don’t need to spend any time for B. I would just mention in one sentence. There are two periods </a:t>
            </a:r>
            <a:r>
              <a:rPr lang="en-US" dirty="0">
                <a:solidFill>
                  <a:schemeClr val="bg1"/>
                </a:solidFill>
              </a:rPr>
              <a:t>which are IC and with 200-ms after IC.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E4C05C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20116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we show two training programs on one slide?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7FB3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7FB3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columns, five exercise names each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7FB3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7FB3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columns, two names each + one photo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5008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7FB3D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7FB3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line: foot muscles vs deep trunk muscles — same dose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1973275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61104"/>
            <a:ext cx="19732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FCG: short-foot, towel curls…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13355" y="4261104"/>
            <a:ext cx="1689811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13355" y="4261104"/>
            <a:ext cx="16898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TCG: drawing-in, planks…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94606" y="4261104"/>
            <a:ext cx="2029968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94606" y="426110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progressive · CG: nothing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70916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BRIAN, HONESTLY   </a:t>
            </a:r>
            <a:r>
              <a:rPr lang="en-US" sz="13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clinician want the exercise names, or the idea?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102352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175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449824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 prefer A. I want to include table 2 onto the slide. This is the most easiest way to explain the training programs to audiences. 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june13/img/result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0B1628">
              <a:alpha val="82000"/>
            </a:srgbClr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8920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didn't change. The trunk did.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E4C05C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20116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Order: lead with what didn't change, or with what did?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first — 'Balance didn't change… but something else did'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first — 'Foot core training changed the trunk', then the nulls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5008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side, one slide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2313432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61104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interaction: any balance outcome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53512" y="4261104"/>
            <a:ext cx="2256739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953512" y="4261104"/>
            <a:ext cx="22567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interaction: ankle · knee · hip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1691" y="4261104"/>
            <a:ext cx="2937053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01691" y="4261104"/>
            <a:ext cx="29370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interaction: IC p = .016 · peak p = .004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70916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BRIAN, HONESTLY   </a:t>
            </a:r>
            <a:r>
              <a:rPr lang="en-US" sz="13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order keeps you listening?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102352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175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449824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Postural control index result first. That is the main outcome from the program. Even though I couldn’t see the significant differences on the result.  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E4C05C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20116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we say the null results without sounding like a failure?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'Balance measures were not sensitive to four weeks of training'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'All three groups changed similarly in balance — training didn't add to it'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5008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ankle itself didn't move differently. The trunk did.'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2710282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61104"/>
            <a:ext cx="27102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effect only: EC ellipse area p = .046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50362" y="4261104"/>
            <a:ext cx="2823667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50362" y="4261104"/>
            <a:ext cx="28236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changed: ankle &amp; hip rotation at IC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5469" y="4261104"/>
            <a:ext cx="2653589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5469" y="4261104"/>
            <a:ext cx="2653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training-specific below the trunk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70916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BRIAN, HONESTLY   </a:t>
            </a:r>
            <a:r>
              <a:rPr lang="en-US" sz="13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any of these sound like an excuse?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102352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175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449824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would be the right way. Four weeks of training is insufficient to improve the postural control index.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E4C05C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20116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trunk finding — how precisely do we state it?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'Foot core training reduced trunk rotation' — simple, slightly over-claims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'…reduced trunk rotation compared with trunk core training' — exact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5008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'Rotation went down with foot core and up with trunk core' — both directions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2540203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61104"/>
            <a:ext cx="25402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IC: FCG −2.59° · TCG +4.04° · CG +1.40°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80283" y="4261104"/>
            <a:ext cx="2710282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80283" y="4261104"/>
            <a:ext cx="27102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FCG vs TCG p = .014 (IC) · p = .004 (peak)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82005" y="4261104"/>
            <a:ext cx="2653589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82005" y="4261104"/>
            <a:ext cx="2653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FCG vs CG p = .224 (IC) · p = .053 (peak)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727034" y="4261104"/>
            <a:ext cx="1689811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27034" y="4261104"/>
            <a:ext cx="16898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 vs CG: no difference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70916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BRIAN, HONESTLY   </a:t>
            </a:r>
            <a:r>
              <a:rPr lang="en-US" sz="13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reviewer hears option A, what do they ask?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102352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175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449824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C is not correct. </a:t>
            </a:r>
            <a:r>
              <a:rPr lang="en-US" dirty="0">
                <a:solidFill>
                  <a:schemeClr val="bg1"/>
                </a:solidFill>
              </a:rPr>
              <a:t>B is better one to choose. However, I would need to interpret and state that foot core training group reduced trunk rotation compare to TCG. TCG didn’t reduce trunk rotation compare to CG.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30 participants are quite limited.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E4C05C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20116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Figures: one or both, and what do we point at?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only — the shape tells the story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only — it shows who differs from whom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5008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twenty seconds each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2937053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61104"/>
            <a:ext cx="29370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SPM interaction across 0–100%, p = .010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77133" y="4261104"/>
            <a:ext cx="2880360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77133" y="426110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FCG vs TCG 25–100% · FCG vs CG 80–100%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48933" y="4261104"/>
            <a:ext cx="2653589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48933" y="4261104"/>
            <a:ext cx="2653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clinicians · projector · 10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70916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BRIAN, HONESTLY   </a:t>
            </a:r>
            <a:r>
              <a:rPr lang="en-US" sz="13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both. Which one did you understand without June explaining?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102352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175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449824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Need them both.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trunk transverse-plane angle + SPM interaction (p = 0.010)</a:t>
            </a:r>
            <a:endParaRPr lang="en-US" sz="2200" dirty="0"/>
          </a:p>
        </p:txBody>
      </p:sp>
      <p:pic>
        <p:nvPicPr>
          <p:cNvPr id="4" name="Image 0" descr="/home/claude/w36/june_fi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7315200" cy="499964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143000"/>
            <a:ext cx="3502152" cy="4999647"/>
          </a:xfrm>
          <a:prstGeom prst="roundRect">
            <a:avLst>
              <a:gd name="adj" fmla="val 2089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527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AT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572768"/>
            <a:ext cx="3108960" cy="4451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Dashed = pre, solid = post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FCG solid sits lower than dashed — rotation went down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TCG moves the other way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Shaded: significant across the whole 0–100%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Say: 'the whole landing window, not one moment'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Post-hoc change waveforms (post minus pre)</a:t>
            </a:r>
            <a:endParaRPr lang="en-US" sz="2200" dirty="0"/>
          </a:p>
        </p:txBody>
      </p:sp>
      <p:pic>
        <p:nvPicPr>
          <p:cNvPr id="4" name="Image 0" descr="/home/claude/w36/june_fi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7315200" cy="418293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143000"/>
            <a:ext cx="3502152" cy="4182937"/>
          </a:xfrm>
          <a:prstGeom prst="roundRect">
            <a:avLst>
              <a:gd name="adj" fmla="val 2089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2527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AT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572768"/>
            <a:ext cx="3108960" cy="363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Negative = toward contralateral rotation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FCG vs TCG: shaded 25% → 100%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FCG vs CG: shaded only at the end, 80% → 100%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TCG vs CG: nothing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Say the two shaded panels, skip the third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E4C05C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20116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SPM in twenty seconds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explain it — just say 'across the whole landing window'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'ANOVA looks at two moments; SPM looks at the whole curve'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5008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08A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method — show the shaded region and let it speak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2086661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61104"/>
            <a:ext cx="20866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single points (IC, peak)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26741" y="4261104"/>
            <a:ext cx="1633118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26741" y="4261104"/>
            <a:ext cx="16331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SPM: whole 200-ms curve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51299" y="4261104"/>
            <a:ext cx="1179576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51299" y="4261104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they agree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70916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BRIAN, HONESTLY   </a:t>
            </a:r>
            <a:r>
              <a:rPr lang="en-US" sz="13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hearing it once, can you say what SPM does?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102352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175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449824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Little bit of B and C. 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june13/img/discussio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0B1628">
              <a:alpha val="82000"/>
            </a:srgbClr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B4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8920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written yet. We decide the claim today.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E4C05C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20116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B4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would foot training change the trunk — and how hard do we claim it?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B48EA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B48E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'A stable foot gives the trunk less to correct'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B48EA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B48E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— 'One possibility is that…' mechanism as hypothesis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5008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B48EA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B48E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Honest-first — say what we didn't see (no ankle/knee/hip change), then the hypothesis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2483510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61104"/>
            <a:ext cx="24835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core = base of the chain (McKeon)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23590" y="4261104"/>
            <a:ext cx="2086661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23590" y="4261104"/>
            <a:ext cx="20866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at ankle · knee · hip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1691" y="4261104"/>
            <a:ext cx="1973275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01691" y="4261104"/>
            <a:ext cx="19732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vs TCG; vs CG p = .053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70916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BRIAN, HONESTLY   </a:t>
            </a:r>
            <a:r>
              <a:rPr lang="en-US" sz="13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would you believe from a stranger?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102352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175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449824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E4C05C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20116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B4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Limitations: one up front, the rest in your pocket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B48EA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B48E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'Four weeks, ten per group — a signal, not a verdict'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B48EA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B48E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 sham control, so attention could play a role'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5008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B48EA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B48E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 saw the trunk change but not the path to it'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1576426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61104"/>
            <a:ext cx="1576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· no follow-up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16506" y="4261104"/>
            <a:ext cx="1236269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216506" y="4261104"/>
            <a:ext cx="1236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 per group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44214" y="4261104"/>
            <a:ext cx="1406347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44214" y="4261104"/>
            <a:ext cx="14063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did nothing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42002" y="4261104"/>
            <a:ext cx="2596896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42002" y="4261104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landing · one height · one direction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70916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BRIAN, HONESTLY   </a:t>
            </a:r>
            <a:r>
              <a:rPr lang="en-US" sz="13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limitation would you have raised yourself?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102352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175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449824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june13/img/conclusio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0B1628">
              <a:alpha val="82000"/>
            </a:srgbClr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8920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a clinician try on Monday?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29260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E4C05C"/>
          </a:solidFill>
          <a:ln w="635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01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20116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last line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7FC8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'Add foot core work to CAI rehab — it may change how patients land'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7FC8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you only have four weeks, start at the foot'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5008" y="164592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B2E4A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7FC8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228600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'Balance tests may miss what the trunk is doing — look at landing'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3220517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61104"/>
            <a:ext cx="32205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abstract: FCT reduced trunk rotation during landing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60597" y="4261104"/>
            <a:ext cx="2880360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60597" y="426110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abstract: may modify altered landing patterns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32397" y="4261104"/>
            <a:ext cx="2540203" cy="347472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32397" y="4261104"/>
            <a:ext cx="25402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implications: not written yet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70916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BRIAN, HONESTLY   </a:t>
            </a:r>
            <a:r>
              <a:rPr lang="en-US" sz="13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would you repeat to a colleague tomorrow?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102352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175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449824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 ·  READ IT THROUGH, TIME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decided, in order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B2E4A"/>
          </a:solidFill>
          <a:ln w="12700">
            <a:solidFill>
              <a:srgbClr val="E4C0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521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OPENING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371600"/>
            <a:ext cx="5120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B2E4A"/>
          </a:solidFill>
          <a:ln w="12700">
            <a:solidFill>
              <a:srgbClr val="E4C0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1521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GAP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371600"/>
            <a:ext cx="5120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B2E4A"/>
          </a:solidFill>
          <a:ln w="12700">
            <a:solidFill>
              <a:srgbClr val="7FB3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208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METHODS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96596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B2E4A"/>
          </a:solidFill>
          <a:ln w="12700">
            <a:solidFill>
              <a:srgbClr val="7FB3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20208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PROGRAMS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RESULTS ORDER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108960"/>
            <a:ext cx="5120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283464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NULLS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108960"/>
            <a:ext cx="5120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TRUNK FINDING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370332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FIGURE(S)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B2E4A"/>
          </a:solidFill>
          <a:ln w="12700">
            <a:solidFill>
              <a:srgbClr val="F08A5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626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SPM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72200" y="457200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B2E4A"/>
          </a:solidFill>
          <a:ln w="12700">
            <a:solidFill>
              <a:srgbClr val="B48EA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55080" y="4626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4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MECHANISM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44068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B2E4A"/>
          </a:solidFill>
          <a:ln w="12700">
            <a:solidFill>
              <a:srgbClr val="B48EA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4955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4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LIMITATION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5715000"/>
            <a:ext cx="5120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72200" y="544068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B2E4A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55080" y="54955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LAST LINE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5715000"/>
            <a:ext cx="5120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1728</Words>
  <Application>Microsoft Office PowerPoint</Application>
  <PresentationFormat>와이드스크린</PresentationFormat>
  <Paragraphs>258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8</cp:revision>
  <dcterms:created xsi:type="dcterms:W3CDTF">2026-10-03T23:26:05Z</dcterms:created>
  <dcterms:modified xsi:type="dcterms:W3CDTF">2026-10-04T05:45:16Z</dcterms:modified>
</cp:coreProperties>
</file>