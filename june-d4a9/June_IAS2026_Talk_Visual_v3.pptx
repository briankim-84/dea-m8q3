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8" r:id="rId8"/>
    <p:sldId id="269" r:id="rId9"/>
    <p:sldId id="270" r:id="rId10"/>
    <p:sldId id="271" r:id="rId11"/>
    <p:sldId id="272" r:id="rId12"/>
    <p:sldId id="273" r:id="rId7"/>
    <p:sldId id="274" r:id="rId6"/>
    <p:sldId id="275" r:id="rId5"/>
    <p:sldId id="276" r:id="rId4"/>
    <p:sldId id="277" r:id="rId3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0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9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73F2E-898F-4524-8495-A4E332362F9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113C-A7E4-4C61-B24F-9E75764A06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44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0:00–0:30. 짧은 제목은 제안. 초록 제출 제목과 같아야 하면 원제("Effects of Foot Core and Trunk Core Training on Postural Control Strategies in Individuals with Chronic Ankle Instability")로 교체. 공저자: Jihoon Gwark, Youngchang Lim, Kyeongtak Song.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0:30–1:00. Up to 40% of first-time sprains become CAI. The complaint is giving way, especially at landing.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1:00–2:15. Both improve balance in CAI. Nobody has compared them on landing.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2:15–3:15. Randomized, IAC criteria, stratified by sex, 12 supervised sessions. [훈련 내용 한 줄 — June 확인 후 그룹 상자 아래에]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3:15–4:15. Two-leg take-off over a 30-cm hurdle, land on the involved limb, hold 10 s. From the landing: DPSI and 3D kinematics; IC and peak within 200 ms; SPM over the whole window. Static: 10-s single-leg stance, COP.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4:15–5:00. Here I'll be direct: nothing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5:00–6:15. Significant interaction at IC and peak. FCG reduced trunk rotation more than TCG. FCG vs CG at peak p = 0.053; TCG vs CG n.s.; ankle, knee, hip: no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6:15–6:45. SPM: interaction across the entire 0–200 ms (p = 0.010). FCG &lt; TCG from 25%; FCG &lt; CG from 80%. → 이 자리에 원고 Figure 1·2.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6:45–8:45. Foot hits first, trunk settles last. Better initial contact → less to correct upstream. Trunk training alone didn't transfer. Balance: four weeks shifts a strategy, not a summary score.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8:45–9:45. Add a foot core component early — alongside, not instead of.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마지막장 — 연락처만 바꾸면 됩니다.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45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"/>
          <p:cNvSpPr txBox="1"/>
          <p:nvPr/>
        </p:nvSpPr>
        <p:spPr>
          <a:xfrm>
            <a:off x="877824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34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77824" y="1865376"/>
            <a:ext cx="7251192" cy="21031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F3EEE6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Presentation Title
Goes Right Here</a:t>
            </a:r>
          </a:p>
        </p:txBody>
      </p:sp>
      <p:sp>
        <p:nvSpPr>
          <p:cNvPr id="13" name="Gold Bar"/>
          <p:cNvSpPr/>
          <p:nvPr/>
        </p:nvSpPr>
        <p:spPr>
          <a:xfrm>
            <a:off x="896112" y="5120640"/>
            <a:ext cx="868680" cy="20117"/>
          </a:xfrm>
          <a:prstGeom prst="rect">
            <a:avLst/>
          </a:prstGeom>
          <a:solidFill>
            <a:srgbClr val="C7A66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ame"/>
          <p:cNvSpPr>
            <a:spLocks noGrp="1"/>
          </p:cNvSpPr>
          <p:nvPr>
            <p:ph type="body" idx="1"/>
          </p:nvPr>
        </p:nvSpPr>
        <p:spPr>
          <a:xfrm>
            <a:off x="896112" y="5340096"/>
            <a:ext cx="7315200" cy="29260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3EEE6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Name, PhD</a:t>
            </a:r>
          </a:p>
        </p:txBody>
      </p:sp>
      <p:sp>
        <p:nvSpPr>
          <p:cNvPr id="15" name="Affiliation"/>
          <p:cNvSpPr>
            <a:spLocks noGrp="1"/>
          </p:cNvSpPr>
          <p:nvPr>
            <p:ph type="body" idx="2"/>
          </p:nvPr>
        </p:nvSpPr>
        <p:spPr>
          <a:xfrm>
            <a:off x="896112" y="5824728"/>
            <a:ext cx="5632704" cy="2743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Department, Yonsei University, South Korea</a:t>
            </a:r>
          </a:p>
        </p:txBody>
      </p:sp>
      <p:pic>
        <p:nvPicPr>
          <p:cNvPr id="16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237744"/>
            <a:ext cx="960120" cy="9418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Logo Band)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ader"/>
          <p:cNvSpPr txBox="1"/>
          <p:nvPr/>
        </p:nvSpPr>
        <p:spPr>
          <a:xfrm>
            <a:off x="877824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34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877824" y="1316736"/>
            <a:ext cx="7251192" cy="21031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F3EEE6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Presentation Title
Goes Right Here</a:t>
            </a:r>
          </a:p>
        </p:txBody>
      </p:sp>
      <p:sp>
        <p:nvSpPr>
          <p:cNvPr id="19" name="Gold Bar"/>
          <p:cNvSpPr/>
          <p:nvPr/>
        </p:nvSpPr>
        <p:spPr>
          <a:xfrm>
            <a:off x="896112" y="3767328"/>
            <a:ext cx="868680" cy="20117"/>
          </a:xfrm>
          <a:prstGeom prst="rect">
            <a:avLst/>
          </a:prstGeom>
          <a:solidFill>
            <a:srgbClr val="C7A66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Name"/>
          <p:cNvSpPr>
            <a:spLocks noGrp="1"/>
          </p:cNvSpPr>
          <p:nvPr>
            <p:ph type="body" idx="1"/>
          </p:nvPr>
        </p:nvSpPr>
        <p:spPr>
          <a:xfrm>
            <a:off x="896112" y="3986784"/>
            <a:ext cx="7315200" cy="29260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3EEE6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Name, PhD</a:t>
            </a:r>
          </a:p>
        </p:txBody>
      </p:sp>
      <p:sp>
        <p:nvSpPr>
          <p:cNvPr id="21" name="Affiliation"/>
          <p:cNvSpPr>
            <a:spLocks noGrp="1"/>
          </p:cNvSpPr>
          <p:nvPr>
            <p:ph type="body" idx="2"/>
          </p:nvPr>
        </p:nvSpPr>
        <p:spPr>
          <a:xfrm>
            <a:off x="896112" y="4471416"/>
            <a:ext cx="5632704" cy="2743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Department, Yonsei University, South Korea</a:t>
            </a:r>
          </a:p>
        </p:txBody>
      </p:sp>
      <p:sp>
        <p:nvSpPr>
          <p:cNvPr id="22" name="Band"/>
          <p:cNvSpPr/>
          <p:nvPr/>
        </p:nvSpPr>
        <p:spPr>
          <a:xfrm>
            <a:off x="0" y="5413248"/>
            <a:ext cx="12191695" cy="1444752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3" name="Logo I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5596128"/>
            <a:ext cx="1024128" cy="1078992"/>
          </a:xfrm>
          <a:prstGeom prst="rect">
            <a:avLst/>
          </a:prstGeom>
        </p:spPr>
      </p:pic>
      <p:pic>
        <p:nvPicPr>
          <p:cNvPr id="24" name="Logo Yonse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5596128"/>
            <a:ext cx="1078992" cy="10789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Ank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0"/>
            <a:ext cx="7159752" cy="4773168"/>
          </a:xfrm>
          <a:prstGeom prst="rect">
            <a:avLst/>
          </a:prstGeom>
        </p:spPr>
      </p:pic>
      <p:sp>
        <p:nvSpPr>
          <p:cNvPr id="26" name="Number"/>
          <p:cNvSpPr>
            <a:spLocks noGrp="1"/>
          </p:cNvSpPr>
          <p:nvPr>
            <p:ph type="body" idx="1"/>
          </p:nvPr>
        </p:nvSpPr>
        <p:spPr>
          <a:xfrm>
            <a:off x="960120" y="1783080"/>
            <a:ext cx="2743200" cy="169164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0" b="1">
                <a:solidFill>
                  <a:srgbClr val="C7A667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27" name="Title"/>
          <p:cNvSpPr>
            <a:spLocks noGrp="1"/>
          </p:cNvSpPr>
          <p:nvPr>
            <p:ph type="title"/>
          </p:nvPr>
        </p:nvSpPr>
        <p:spPr>
          <a:xfrm>
            <a:off x="960120" y="3529584"/>
            <a:ext cx="8686800" cy="8686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rgbClr val="F3EEE6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Section 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Header"/>
          <p:cNvSpPr txBox="1"/>
          <p:nvPr/>
        </p:nvSpPr>
        <p:spPr>
          <a:xfrm>
            <a:off x="640080" y="320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1" spc="15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cxnSp>
        <p:nvCxnSpPr>
          <p:cNvPr id="29" name="Header Line"/>
          <p:cNvCxnSpPr/>
          <p:nvPr/>
        </p:nvCxnSpPr>
        <p:spPr>
          <a:xfrm>
            <a:off x="640080" y="1298448"/>
            <a:ext cx="10911535" cy="0"/>
          </a:xfrm>
          <a:prstGeom prst="line">
            <a:avLst/>
          </a:prstGeom>
          <a:ln w="15875">
            <a:solidFill>
              <a:srgbClr val="C7A667"/>
            </a:solidFill>
          </a:ln>
        </p:spPr>
      </p:cxnSp>
      <p:cxnSp>
        <p:nvCxnSpPr>
          <p:cNvPr id="30" name="Footer Line"/>
          <p:cNvCxnSpPr/>
          <p:nvPr/>
        </p:nvCxnSpPr>
        <p:spPr>
          <a:xfrm>
            <a:off x="640080" y="6126480"/>
            <a:ext cx="10149840" cy="0"/>
          </a:xfrm>
          <a:prstGeom prst="line">
            <a:avLst/>
          </a:prstGeom>
          <a:ln w="9525">
            <a:solidFill>
              <a:srgbClr val="0B1B35"/>
            </a:solidFill>
          </a:ln>
        </p:spPr>
      </p:cxnSp>
      <p:sp>
        <p:nvSpPr>
          <p:cNvPr id="31" name="Footer"/>
          <p:cNvSpPr txBox="1"/>
          <p:nvPr/>
        </p:nvSpPr>
        <p:spPr>
          <a:xfrm>
            <a:off x="640080" y="62362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 b="0" spc="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IAS 2026  ·  The 11th International Ankle Symposium  ·  Yonsei University, Seoul</a:t>
            </a:r>
          </a:p>
        </p:txBody>
      </p:sp>
      <p:sp>
        <p:nvSpPr>
          <p:cNvPr id="32" name="Slide Number"/>
          <p:cNvSpPr txBox="1"/>
          <p:nvPr/>
        </p:nvSpPr>
        <p:spPr>
          <a:xfrm>
            <a:off x="9875520" y="6236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88323653-ab36-47ba-952c-66914679e844}" type="slidenum">
              <a:rPr lang="en-US" sz="900" b="1" spc="0" dirty="0">
                <a:solidFill>
                  <a:srgbClr val="0B1B35"/>
                </a:solidFill>
                <a:latin typeface="Calibri"/>
                <a:ea typeface="Calibri"/>
                <a:cs typeface="Calibri"/>
              </a:rPr>
              <a:t>‹#›</a:t>
            </a:fld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641" y="6089904"/>
            <a:ext cx="480974" cy="502920"/>
          </a:xfrm>
          <a:prstGeom prst="rect">
            <a:avLst/>
          </a:prstGeom>
        </p:spPr>
      </p:pic>
      <p:sp>
        <p:nvSpPr>
          <p:cNvPr id="34" name="Title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6400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rgbClr val="0B1B35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35" name="Body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10908792" cy="434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1000"/>
              </a:spcAft>
              <a:buNone/>
              <a:defRPr sz="16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Body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ig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eader"/>
          <p:cNvSpPr txBox="1"/>
          <p:nvPr/>
        </p:nvSpPr>
        <p:spPr>
          <a:xfrm>
            <a:off x="640080" y="320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1" spc="15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cxnSp>
        <p:nvCxnSpPr>
          <p:cNvPr id="37" name="Header Line"/>
          <p:cNvCxnSpPr/>
          <p:nvPr/>
        </p:nvCxnSpPr>
        <p:spPr>
          <a:xfrm>
            <a:off x="640080" y="1298448"/>
            <a:ext cx="10911535" cy="0"/>
          </a:xfrm>
          <a:prstGeom prst="line">
            <a:avLst/>
          </a:prstGeom>
          <a:ln w="15875">
            <a:solidFill>
              <a:srgbClr val="C7A667"/>
            </a:solidFill>
          </a:ln>
        </p:spPr>
      </p:cxnSp>
      <p:cxnSp>
        <p:nvCxnSpPr>
          <p:cNvPr id="38" name="Footer Line"/>
          <p:cNvCxnSpPr/>
          <p:nvPr/>
        </p:nvCxnSpPr>
        <p:spPr>
          <a:xfrm>
            <a:off x="640080" y="6126480"/>
            <a:ext cx="10149840" cy="0"/>
          </a:xfrm>
          <a:prstGeom prst="line">
            <a:avLst/>
          </a:prstGeom>
          <a:ln w="9525">
            <a:solidFill>
              <a:srgbClr val="0B1B35"/>
            </a:solidFill>
          </a:ln>
        </p:spPr>
      </p:cxnSp>
      <p:sp>
        <p:nvSpPr>
          <p:cNvPr id="39" name="Footer"/>
          <p:cNvSpPr txBox="1"/>
          <p:nvPr/>
        </p:nvSpPr>
        <p:spPr>
          <a:xfrm>
            <a:off x="640080" y="62362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 b="0" spc="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IAS 2026  ·  The 11th International Ankle Symposium  ·  Yonsei University, Seoul</a:t>
            </a:r>
          </a:p>
        </p:txBody>
      </p:sp>
      <p:sp>
        <p:nvSpPr>
          <p:cNvPr id="40" name="Slide Number"/>
          <p:cNvSpPr txBox="1"/>
          <p:nvPr/>
        </p:nvSpPr>
        <p:spPr>
          <a:xfrm>
            <a:off x="9875520" y="6236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818ac498-8e5b-4860-abbb-4cba5a0a0195}" type="slidenum">
              <a:rPr lang="en-US" sz="900" b="1" spc="0" dirty="0">
                <a:solidFill>
                  <a:srgbClr val="0B1B35"/>
                </a:solidFill>
                <a:latin typeface="Calibri"/>
                <a:ea typeface="Calibri"/>
                <a:cs typeface="Calibri"/>
              </a:rPr>
              <a:t>‹#›</a:t>
            </a:fld>
          </a:p>
        </p:txBody>
      </p:sp>
      <p:pic>
        <p:nvPicPr>
          <p:cNvPr id="4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641" y="6089904"/>
            <a:ext cx="480974" cy="502920"/>
          </a:xfrm>
          <a:prstGeom prst="rect">
            <a:avLst/>
          </a:prstGeom>
        </p:spPr>
      </p:pic>
      <p:sp>
        <p:nvSpPr>
          <p:cNvPr id="42" name="Title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6400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rgbClr val="0B1B35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3" name="Body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6766560" cy="434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1000"/>
              </a:spcAft>
              <a:buNone/>
              <a:defRPr sz="16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Body text</a:t>
            </a:r>
          </a:p>
        </p:txBody>
      </p:sp>
      <p:sp>
        <p:nvSpPr>
          <p:cNvPr id="44" name="Figure"/>
          <p:cNvSpPr>
            <a:spLocks noGrp="1"/>
          </p:cNvSpPr>
          <p:nvPr>
            <p:ph type="pic" sz="quarter" idx="2"/>
          </p:nvPr>
        </p:nvSpPr>
        <p:spPr>
          <a:xfrm>
            <a:off x="7772400" y="1600200"/>
            <a:ext cx="3776472" cy="4206240"/>
          </a:xfrm>
          <a:prstGeom prst="rect">
            <a:avLst/>
          </a:prstGeom>
          <a:solidFill>
            <a:srgbClr val="F3EEE6"/>
          </a:solidFill>
          <a:ln w="9525">
            <a:solidFill>
              <a:srgbClr val="C7A667"/>
            </a:solidFill>
          </a:ln>
        </p:spPr>
        <p:txBody>
          <a:bodyPr anchor="ctr"/>
          <a:lstStyle>
            <a:lvl1pPr algn="ctr">
              <a:buNone/>
              <a:defRPr sz="1400" b="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Figure / Graph</a:t>
            </a:r>
          </a:p>
        </p:txBody>
      </p:sp>
      <p:sp>
        <p:nvSpPr>
          <p:cNvPr id="45" name="Caption"/>
          <p:cNvSpPr>
            <a:spLocks noGrp="1"/>
          </p:cNvSpPr>
          <p:nvPr>
            <p:ph type="body" idx="3"/>
          </p:nvPr>
        </p:nvSpPr>
        <p:spPr>
          <a:xfrm>
            <a:off x="7772400" y="5852160"/>
            <a:ext cx="3776472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Figure 1. Caption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Header"/>
          <p:cNvSpPr txBox="1"/>
          <p:nvPr/>
        </p:nvSpPr>
        <p:spPr>
          <a:xfrm>
            <a:off x="640080" y="320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1" spc="15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cxnSp>
        <p:nvCxnSpPr>
          <p:cNvPr id="47" name="Header Line"/>
          <p:cNvCxnSpPr/>
          <p:nvPr/>
        </p:nvCxnSpPr>
        <p:spPr>
          <a:xfrm>
            <a:off x="640080" y="1298448"/>
            <a:ext cx="10911535" cy="0"/>
          </a:xfrm>
          <a:prstGeom prst="line">
            <a:avLst/>
          </a:prstGeom>
          <a:ln w="15875">
            <a:solidFill>
              <a:srgbClr val="C7A667"/>
            </a:solidFill>
          </a:ln>
        </p:spPr>
      </p:cxnSp>
      <p:cxnSp>
        <p:nvCxnSpPr>
          <p:cNvPr id="48" name="Footer Line"/>
          <p:cNvCxnSpPr/>
          <p:nvPr/>
        </p:nvCxnSpPr>
        <p:spPr>
          <a:xfrm>
            <a:off x="640080" y="6126480"/>
            <a:ext cx="10149840" cy="0"/>
          </a:xfrm>
          <a:prstGeom prst="line">
            <a:avLst/>
          </a:prstGeom>
          <a:ln w="9525">
            <a:solidFill>
              <a:srgbClr val="0B1B35"/>
            </a:solidFill>
          </a:ln>
        </p:spPr>
      </p:cxnSp>
      <p:sp>
        <p:nvSpPr>
          <p:cNvPr id="49" name="Footer"/>
          <p:cNvSpPr txBox="1"/>
          <p:nvPr/>
        </p:nvSpPr>
        <p:spPr>
          <a:xfrm>
            <a:off x="640080" y="62362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 b="0" spc="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IAS 2026  ·  The 11th International Ankle Symposium  ·  Yonsei University, Seoul</a:t>
            </a:r>
          </a:p>
        </p:txBody>
      </p:sp>
      <p:sp>
        <p:nvSpPr>
          <p:cNvPr id="50" name="Slide Number"/>
          <p:cNvSpPr txBox="1"/>
          <p:nvPr/>
        </p:nvSpPr>
        <p:spPr>
          <a:xfrm>
            <a:off x="9875520" y="6236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15bd88c3-0a51-4089-b693-064c28bfa791}" type="slidenum">
              <a:rPr lang="en-US" sz="900" b="1" spc="0" dirty="0">
                <a:solidFill>
                  <a:srgbClr val="0B1B35"/>
                </a:solidFill>
                <a:latin typeface="Calibri"/>
                <a:ea typeface="Calibri"/>
                <a:cs typeface="Calibri"/>
              </a:rPr>
              <a:t>‹#›</a:t>
            </a:fld>
          </a:p>
        </p:txBody>
      </p:sp>
      <p:pic>
        <p:nvPicPr>
          <p:cNvPr id="5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641" y="6089904"/>
            <a:ext cx="480974" cy="502920"/>
          </a:xfrm>
          <a:prstGeom prst="rect">
            <a:avLst/>
          </a:prstGeom>
        </p:spPr>
      </p:pic>
      <p:sp>
        <p:nvSpPr>
          <p:cNvPr id="52" name="Title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6400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rgbClr val="0B1B35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3" name="Left Heading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5175504" cy="36576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C7A667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Left heading</a:t>
            </a:r>
          </a:p>
        </p:txBody>
      </p:sp>
      <p:cxnSp>
        <p:nvCxnSpPr>
          <p:cNvPr id="54" name="Left Line"/>
          <p:cNvCxnSpPr/>
          <p:nvPr/>
        </p:nvCxnSpPr>
        <p:spPr>
          <a:xfrm>
            <a:off x="640080" y="2011680"/>
            <a:ext cx="5175504" cy="0"/>
          </a:xfrm>
          <a:prstGeom prst="line">
            <a:avLst/>
          </a:prstGeom>
          <a:ln w="6350">
            <a:solidFill>
              <a:srgbClr val="0B1B35"/>
            </a:solidFill>
          </a:ln>
        </p:spPr>
      </p:cxnSp>
      <p:sp>
        <p:nvSpPr>
          <p:cNvPr id="55" name="Left Body"/>
          <p:cNvSpPr>
            <a:spLocks noGrp="1"/>
          </p:cNvSpPr>
          <p:nvPr>
            <p:ph type="body" idx="2"/>
          </p:nvPr>
        </p:nvSpPr>
        <p:spPr>
          <a:xfrm>
            <a:off x="640080" y="2194560"/>
            <a:ext cx="5175504" cy="374904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·"/>
              <a:defRPr sz="15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Point</a:t>
            </a:r>
          </a:p>
        </p:txBody>
      </p:sp>
      <p:sp>
        <p:nvSpPr>
          <p:cNvPr id="56" name="Right Heading"/>
          <p:cNvSpPr>
            <a:spLocks noGrp="1"/>
          </p:cNvSpPr>
          <p:nvPr>
            <p:ph type="body" idx="3"/>
          </p:nvPr>
        </p:nvSpPr>
        <p:spPr>
          <a:xfrm>
            <a:off x="6373368" y="1600200"/>
            <a:ext cx="5175504" cy="36576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C7A667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Right heading</a:t>
            </a:r>
          </a:p>
        </p:txBody>
      </p:sp>
      <p:cxnSp>
        <p:nvCxnSpPr>
          <p:cNvPr id="57" name="Right Line"/>
          <p:cNvCxnSpPr/>
          <p:nvPr/>
        </p:nvCxnSpPr>
        <p:spPr>
          <a:xfrm>
            <a:off x="6373368" y="2011680"/>
            <a:ext cx="5175504" cy="0"/>
          </a:xfrm>
          <a:prstGeom prst="line">
            <a:avLst/>
          </a:prstGeom>
          <a:ln w="6350">
            <a:solidFill>
              <a:srgbClr val="0B1B35"/>
            </a:solidFill>
          </a:ln>
        </p:spPr>
      </p:cxnSp>
      <p:sp>
        <p:nvSpPr>
          <p:cNvPr id="58" name="Right Body"/>
          <p:cNvSpPr>
            <a:spLocks noGrp="1"/>
          </p:cNvSpPr>
          <p:nvPr>
            <p:ph type="body" idx="4"/>
          </p:nvPr>
        </p:nvSpPr>
        <p:spPr>
          <a:xfrm>
            <a:off x="6373368" y="2194560"/>
            <a:ext cx="5175504" cy="374904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·"/>
              <a:defRPr sz="15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Point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63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L2"/>
    <p:sldLayoutId id="2147483664" r:id="rIdL3"/>
    <p:sldLayoutId id="2147483665" r:id="rIdL4"/>
    <p:sldLayoutId id="2147483666" r:id="rIdL5"/>
    <p:sldLayoutId id="2147483667" r:id="rIdL6"/>
    <p:sldLayoutId id="2147483668" r:id="rIdL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 Core vs Trunk Core Training in CAI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Jiyoon Lee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Department of Physical Education, Yonsei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sprain. Then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0" b="1" i="0">
                <a:solidFill>
                  <a:srgbClr val="C7A667"/>
                </a:solidFill>
                <a:latin typeface="Cambria"/>
              </a:rPr>
              <a:t>40%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2103120"/>
            <a:ext cx="5669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0B1B35"/>
                </a:solidFill>
                <a:latin typeface="Cambria"/>
              </a:rPr>
              <a:t>of first-time ankle sprains</a:t>
            </a:r>
          </a:p>
          <a:p>
            <a:pPr algn="l"/>
            <a:r>
              <a:rPr sz="3000" b="1" i="0">
                <a:solidFill>
                  <a:srgbClr val="0B1B35"/>
                </a:solidFill>
                <a:latin typeface="Cambria"/>
              </a:rPr>
              <a:t>become chronic instability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39319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6B6B"/>
                </a:solidFill>
                <a:latin typeface="Calibri"/>
              </a:rPr>
              <a:t>Not pain. Giving way — at landing.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Hertel &amp; Corbett, J Athl Train 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Foot, or trunk?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4206240" cy="146304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0B1B35"/>
                </a:solidFill>
                <a:latin typeface="Cambria"/>
              </a:rPr>
              <a:t>FOOT CORE</a:t>
            </a:r>
          </a:p>
          <a:p>
            <a:pPr algn="ctr"/>
            <a:r>
              <a:rPr sz="1400" b="0">
                <a:solidFill>
                  <a:srgbClr val="6B6B6B"/>
                </a:solidFill>
                <a:latin typeface="Cambria"/>
              </a:rPr>
              <a:t>bottom-up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206240" cy="146304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0B1B35"/>
                </a:solidFill>
                <a:latin typeface="Cambria"/>
              </a:rPr>
              <a:t>TRUNK CORE</a:t>
            </a:r>
          </a:p>
          <a:p>
            <a:pPr algn="ctr"/>
            <a:r>
              <a:rPr sz="1400" b="0">
                <a:solidFill>
                  <a:srgbClr val="6B6B6B"/>
                </a:solidFill>
                <a:latin typeface="Cambria"/>
              </a:rPr>
              <a:t>top-down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2194560"/>
            <a:ext cx="1737360" cy="1097280"/>
          </a:xfrm>
          <a:prstGeom prst="roundRect">
            <a:avLst>
              <a:gd name="adj" fmla="val 8000"/>
            </a:avLst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Balance</a:t>
            </a:r>
          </a:p>
          <a:p>
            <a:pPr algn="ctr"/>
            <a:r>
              <a:rPr sz="1600" b="0">
                <a:solidFill>
                  <a:srgbClr val="C7A667"/>
                </a:solidFill>
                <a:latin typeface="Calibri"/>
              </a:rPr>
              <a:t>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2743200"/>
            <a:ext cx="1828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949440" y="2743200"/>
            <a:ext cx="1828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23360" y="4480560"/>
            <a:ext cx="4114800" cy="109728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B1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B1B35"/>
                </a:solidFill>
                <a:latin typeface="Cambria"/>
              </a:rPr>
              <a:t>Landing</a:t>
            </a:r>
          </a:p>
          <a:p>
            <a:pPr algn="ctr"/>
            <a:r>
              <a:rPr sz="2000" b="0">
                <a:solidFill>
                  <a:srgbClr val="C7A667"/>
                </a:solidFill>
                <a:latin typeface="Cambria"/>
              </a:rPr>
              <a:t>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3291840"/>
            <a:ext cx="0" cy="1188720"/>
          </a:xfrm>
          <a:prstGeom prst="line">
            <a:avLst/>
          </a:prstGeom>
          <a:ln w="25400">
            <a:solidFill>
              <a:srgbClr val="C7A6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Thirty people. Three groups. Four weeks.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606039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30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with CAI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3200400"/>
            <a:ext cx="6400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2788920"/>
            <a:ext cx="1463040" cy="82296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0B1B35"/>
                </a:solidFill>
                <a:latin typeface="Calibri"/>
              </a:rPr>
              <a:t>stratified</a:t>
            </a:r>
          </a:p>
          <a:p>
            <a:pPr algn="ctr"/>
            <a:r>
              <a:rPr sz="1200" b="0">
                <a:solidFill>
                  <a:srgbClr val="0B1B35"/>
                </a:solidFill>
                <a:latin typeface="Calibri"/>
              </a:rPr>
              <a:t>by sex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663440" y="2514600"/>
            <a:ext cx="731520" cy="68580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94960" y="210312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B35"/>
                </a:solidFill>
                <a:latin typeface="Calibri"/>
              </a:rPr>
              <a:t>Foot core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 =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3200400"/>
            <a:ext cx="731520" cy="548639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94960" y="333756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B35"/>
                </a:solidFill>
                <a:latin typeface="Calibri"/>
              </a:rPr>
              <a:t>Trunk core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 =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3200400"/>
            <a:ext cx="731520" cy="178308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4572000"/>
            <a:ext cx="2103120" cy="8229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0B1B35"/>
                </a:solidFill>
                <a:latin typeface="Calibri"/>
              </a:rPr>
              <a:t>Control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 =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1031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B1B35"/>
                </a:solidFill>
                <a:latin typeface="Cambria"/>
              </a:rPr>
              <a:t>12 sessions</a:t>
            </a:r>
          </a:p>
          <a:p>
            <a:pPr algn="ctr"/>
            <a:r>
              <a:rPr sz="1300" b="0">
                <a:solidFill>
                  <a:srgbClr val="0B1B35"/>
                </a:solidFill>
                <a:latin typeface="Cambria"/>
              </a:rPr>
              <a:t>30 min · 3 × week · 4 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572000"/>
            <a:ext cx="3657600" cy="8229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6B6B6B"/>
                </a:solidFill>
                <a:latin typeface="Calibri"/>
              </a:rPr>
              <a:t>no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pre-test  →  4 weeks  →  post-test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4206240"/>
            <a:ext cx="6766560" cy="0"/>
          </a:xfrm>
          <a:prstGeom prst="line">
            <a:avLst/>
          </a:prstGeom>
          <a:ln w="254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3703320"/>
            <a:ext cx="822960" cy="502920"/>
          </a:xfrm>
          <a:prstGeom prst="rect">
            <a:avLst/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566160"/>
            <a:ext cx="109728" cy="640080"/>
          </a:xfrm>
          <a:prstGeom prst="rect">
            <a:avLst/>
          </a:prstGeom>
          <a:solidFill>
            <a:srgbClr val="C7A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0B1B35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00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30 cm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3977639"/>
            <a:ext cx="1828800" cy="228600"/>
          </a:xfrm>
          <a:prstGeom prst="rect">
            <a:avLst/>
          </a:prstGeom>
          <a:solidFill>
            <a:srgbClr val="C7A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0B1B35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3434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force plate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325880" y="2286000"/>
            <a:ext cx="2560320" cy="1371600"/>
          </a:xfrm>
          <a:prstGeom prst="line">
            <a:avLst/>
          </a:prstGeom>
          <a:ln w="19050">
            <a:solidFill>
              <a:srgbClr val="C7A6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86200" y="2286000"/>
            <a:ext cx="2606040" cy="1645920"/>
          </a:xfrm>
          <a:prstGeom prst="line">
            <a:avLst/>
          </a:prstGeom>
          <a:ln w="19050">
            <a:solidFill>
              <a:srgbClr val="C7A6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7091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B1B35"/>
                </a:solidFill>
                <a:latin typeface="Calibri"/>
              </a:rPr>
              <a:t>40% of body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B35"/>
                </a:solidFill>
                <a:latin typeface="Cambria"/>
              </a:rPr>
              <a:t>jump  ·  clear  ·  land on one leg  ·  hold 10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B35"/>
                </a:solidFill>
                <a:latin typeface="Calibri"/>
              </a:rPr>
              <a:t>COP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static 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83464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B35"/>
                </a:solidFill>
                <a:latin typeface="Calibri"/>
              </a:rPr>
              <a:t>DPSI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force 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93192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B1B35"/>
                </a:solidFill>
                <a:latin typeface="Calibri"/>
              </a:rPr>
              <a:t>3D kinematics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ankle · knee · hip · trunk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029200"/>
            <a:ext cx="3383280" cy="731520"/>
          </a:xfrm>
          <a:prstGeom prst="roundRect">
            <a:avLst>
              <a:gd name="adj" fmla="val 8000"/>
            </a:avLst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0–200 ms · SPM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Balance: nothing moved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0" b="1" i="0">
                <a:solidFill>
                  <a:srgbClr val="D9D4CB"/>
                </a:solidFill>
                <a:latin typeface="Cambria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92024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0B1B35"/>
                </a:solidFill>
                <a:latin typeface="Cambria"/>
              </a:rPr>
              <a:t>interactions</a:t>
            </a:r>
          </a:p>
          <a:p>
            <a:pPr algn="l"/>
            <a:r>
              <a:rPr sz="3000" b="1" i="0">
                <a:solidFill>
                  <a:srgbClr val="0B1B35"/>
                </a:solidFill>
                <a:latin typeface="Cambria"/>
              </a:rPr>
              <a:t>across every balance measure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3749039"/>
            <a:ext cx="2377440" cy="7315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6B6B6B"/>
                </a:solidFill>
                <a:latin typeface="Calibri"/>
              </a:rPr>
              <a:t>COP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3749039"/>
            <a:ext cx="2377440" cy="7315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6B6B6B"/>
                </a:solidFill>
                <a:latin typeface="Calibri"/>
              </a:rPr>
              <a:t>95% ellipse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3749039"/>
            <a:ext cx="2377440" cy="7315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6B6B6B"/>
                </a:solidFill>
                <a:latin typeface="Calibri"/>
              </a:rPr>
              <a:t>DPSI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Trunk rotation: foot core beat trunk core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0" y="4572000"/>
            <a:ext cx="7132320" cy="0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17445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051685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-15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31870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6110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-10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46294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0534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-5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19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94959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75144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09384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89569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23809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03994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38234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19" y="2103120"/>
            <a:ext cx="0" cy="2468880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94560" y="4983480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FCG − TCG, change in trunk rotation (°)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148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1B35"/>
                </a:solidFill>
                <a:latin typeface="Calibri"/>
              </a:rPr>
              <a:t>Initial contact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1582" y="2377440"/>
            <a:ext cx="2447277" cy="0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61582" y="2267712"/>
            <a:ext cx="0" cy="219456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08859" y="2267712"/>
            <a:ext cx="0" cy="219456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4157205" y="2249424"/>
            <a:ext cx="256032" cy="256032"/>
          </a:xfrm>
          <a:prstGeom prst="diamond">
            <a:avLst/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103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 = 0.014</a:t>
            </a:r>
          </a:p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[-12.11, -1.13]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1B35"/>
                </a:solidFill>
                <a:latin typeface="Calibri"/>
              </a:rPr>
              <a:t>Peak ≤ 200 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99912" y="3474720"/>
            <a:ext cx="2705824" cy="0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99912" y="3364991"/>
            <a:ext cx="0" cy="219457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05736" y="3364991"/>
            <a:ext cx="0" cy="219457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3724808" y="3346703"/>
            <a:ext cx="256032" cy="256032"/>
          </a:xfrm>
          <a:prstGeom prst="diamond">
            <a:avLst/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3200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 = 0.004</a:t>
            </a:r>
          </a:p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[-14.63, -2.49]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1691640"/>
            <a:ext cx="7132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7A667"/>
                </a:solidFill>
                <a:latin typeface="Calibri"/>
              </a:rPr>
              <a:t>◀ foot core reduced rotation more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interaction  IC p = 0.016 · peak p = 0.004   ·   FCG vs CG at peak p = 0.053   ·   ankle · knee · hip: none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…and across the whole landing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5669280" cy="640080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0B1B35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2331720" y="2651760"/>
            <a:ext cx="4251960" cy="640080"/>
          </a:xfrm>
          <a:prstGeom prst="rect">
            <a:avLst/>
          </a:prstGeom>
          <a:solidFill>
            <a:srgbClr val="C7A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0B1B35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49824" y="3401568"/>
            <a:ext cx="1133856" cy="365760"/>
          </a:xfrm>
          <a:prstGeom prst="rect">
            <a:avLst/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0B1B35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B35"/>
                </a:solidFill>
                <a:latin typeface="Calibri"/>
              </a:rPr>
              <a:t>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286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B35"/>
                </a:solidFill>
                <a:latin typeface="Calibri"/>
              </a:rPr>
              <a:t>200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7A667"/>
                </a:solidFill>
                <a:latin typeface="Calibri"/>
              </a:rPr>
              <a:t>■ foot core &lt; trunk core   25–100%   p = 0.010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B35"/>
                </a:solidFill>
                <a:latin typeface="Calibri"/>
              </a:rPr>
              <a:t>■ foot core &lt; control   80–100%   p = 0.015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Interaction across the entire window, p = 0.010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737360"/>
            <a:ext cx="4572000" cy="4023360"/>
          </a:xfrm>
          <a:prstGeom prst="rect">
            <a:avLst/>
          </a:prstGeom>
          <a:noFill/>
          <a:ln w="12700">
            <a:solidFill>
              <a:srgbClr val="D9D4C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Figure 1 · SPM interaction</a:t>
            </a:r>
          </a:p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Figure 2 · pairwise change waveforms</a:t>
            </a:r>
          </a:p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(from manuscript)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the first link. The last link quiets.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C7A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FOOT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2788920"/>
            <a:ext cx="4114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063240" y="228600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B1B35"/>
                </a:solidFill>
                <a:latin typeface="Cambria"/>
              </a:rPr>
              <a:t>ANKLE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2788920"/>
            <a:ext cx="4114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03520" y="228600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B1B35"/>
                </a:solidFill>
                <a:latin typeface="Cambria"/>
              </a:rPr>
              <a:t>KNEE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788920"/>
            <a:ext cx="4114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43800" y="228600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B1B35"/>
                </a:solidFill>
                <a:latin typeface="Cambria"/>
              </a:rPr>
              <a:t>HIP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72600" y="2788920"/>
            <a:ext cx="4114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84080" y="2286000"/>
            <a:ext cx="1828800" cy="1005840"/>
          </a:xfrm>
          <a:prstGeom prst="roundRect">
            <a:avLst>
              <a:gd name="adj" fmla="val 8000"/>
            </a:avLst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TRUNK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7A667"/>
                </a:solidFill>
                <a:latin typeface="Calibri"/>
              </a:rPr>
              <a:t>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474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B35"/>
                </a:solidFill>
                <a:latin typeface="Calibri"/>
              </a:rPr>
              <a:t>rotation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B1B35"/>
                </a:solidFill>
                <a:latin typeface="Cambria"/>
              </a:rPr>
              <a:t>Better initial contact  →  less to correct upstream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limits   n = 10 per group  ·  4 weeks  ·  no follow-up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B1B35"/>
                </a:solidFill>
                <a:latin typeface="Cambria"/>
              </a:rPr>
              <a:t>Add foot core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6B6B6B"/>
                </a:solidFill>
                <a:latin typeface="Calibri"/>
              </a:rPr>
              <a:t>Alongside balance and strength work — not instead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0" b="1" i="0">
                <a:solidFill>
                  <a:srgbClr val="C7A667"/>
                </a:solidFill>
                <a:latin typeface="Cambr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617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2976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0" b="1" i="0">
                <a:solidFill>
                  <a:srgbClr val="C7A667"/>
                </a:solidFill>
                <a:latin typeface="Cambria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4617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29768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800" b="1" i="0">
                <a:solidFill>
                  <a:srgbClr val="C7A667"/>
                </a:solidFill>
                <a:latin typeface="Cambria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617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minutes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2353739" y="1564436"/>
            <a:ext cx="12191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3EEE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330629" y="2925063"/>
            <a:ext cx="822960" cy="20117"/>
          </a:xfrm>
          <a:prstGeom prst="rect">
            <a:avLst/>
          </a:prstGeom>
          <a:solidFill>
            <a:srgbClr val="C7A6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682750" y="3757373"/>
            <a:ext cx="4140200" cy="741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Jiyoon Lee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16726" y="4451482"/>
            <a:ext cx="49523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7A6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Physical Education, Yonsei University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C7A6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E87221-6904-407E-80E6-03628274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309" y="-30873"/>
            <a:ext cx="7014230" cy="46761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A4BD14B-2F78-B497-0FED-1A25A0A33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9423" y="5312475"/>
            <a:ext cx="1243191" cy="1225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182</Words>
  <Application>Microsoft Office PowerPoint</Application>
  <PresentationFormat>와이드스크린</PresentationFormat>
  <Paragraphs>40</Paragraphs>
  <Slides>12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지윤 이</dc:creator>
  <cp:lastModifiedBy>지윤 이</cp:lastModifiedBy>
  <cp:revision>6</cp:revision>
  <dcterms:created xsi:type="dcterms:W3CDTF">2026-09-21T06:54:02Z</dcterms:created>
  <dcterms:modified xsi:type="dcterms:W3CDTF">2026-09-21T07:05:14Z</dcterms:modified>
</cp:coreProperties>
</file>