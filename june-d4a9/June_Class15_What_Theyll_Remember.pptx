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814" autoAdjust="0"/>
    <p:restoredTop sz="94610"/>
  </p:normalViewPr>
  <p:slideViewPr>
    <p:cSldViewPr snapToGrid="0" snapToObjects="1">
      <p:cViewPr varScale="1">
        <p:scale>
          <a:sx n="113" d="100"/>
          <a:sy n="113" d="100"/>
        </p:scale>
        <p:origin x="115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ian Kim" userId="bfb6c6aebdabc740" providerId="LiveId" clId="{EAB2F743-DE44-4005-AC08-FA9771C40ECA}"/>
    <pc:docChg chg="custSel modSld">
      <pc:chgData name="Brian Kim" userId="bfb6c6aebdabc740" providerId="LiveId" clId="{EAB2F743-DE44-4005-AC08-FA9771C40ECA}" dt="2026-10-15T15:06:48.385" v="1682" actId="13926"/>
      <pc:docMkLst>
        <pc:docMk/>
      </pc:docMkLst>
      <pc:sldChg chg="modSp mod">
        <pc:chgData name="Brian Kim" userId="bfb6c6aebdabc740" providerId="LiveId" clId="{EAB2F743-DE44-4005-AC08-FA9771C40ECA}" dt="2026-10-15T14:38:39.732" v="1679" actId="20577"/>
        <pc:sldMkLst>
          <pc:docMk/>
          <pc:sldMk cId="0" sldId="257"/>
        </pc:sldMkLst>
        <pc:spChg chg="mod">
          <ac:chgData name="Brian Kim" userId="bfb6c6aebdabc740" providerId="LiveId" clId="{EAB2F743-DE44-4005-AC08-FA9771C40ECA}" dt="2026-10-15T14:38:39.732" v="1679" actId="20577"/>
          <ac:spMkLst>
            <pc:docMk/>
            <pc:sldMk cId="0" sldId="257"/>
            <ac:spMk id="14" creationId="{00000000-0000-0000-0000-000000000000}"/>
          </ac:spMkLst>
        </pc:spChg>
      </pc:sldChg>
      <pc:sldChg chg="modSp mod">
        <pc:chgData name="Brian Kim" userId="bfb6c6aebdabc740" providerId="LiveId" clId="{EAB2F743-DE44-4005-AC08-FA9771C40ECA}" dt="2026-10-15T15:06:48.385" v="1682" actId="13926"/>
        <pc:sldMkLst>
          <pc:docMk/>
          <pc:sldMk cId="0" sldId="258"/>
        </pc:sldMkLst>
        <pc:spChg chg="mod">
          <ac:chgData name="Brian Kim" userId="bfb6c6aebdabc740" providerId="LiveId" clId="{EAB2F743-DE44-4005-AC08-FA9771C40ECA}" dt="2026-10-15T15:06:48.385" v="1682" actId="13926"/>
          <ac:spMkLst>
            <pc:docMk/>
            <pc:sldMk cId="0" sldId="258"/>
            <ac:spMk id="11" creationId="{00000000-0000-0000-0000-000000000000}"/>
          </ac:spMkLst>
        </pc:spChg>
      </pc:sldChg>
      <pc:sldChg chg="modSp mod">
        <pc:chgData name="Brian Kim" userId="bfb6c6aebdabc740" providerId="LiveId" clId="{EAB2F743-DE44-4005-AC08-FA9771C40ECA}" dt="2026-10-15T14:54:40.055" v="1681" actId="13926"/>
        <pc:sldMkLst>
          <pc:docMk/>
          <pc:sldMk cId="0" sldId="259"/>
        </pc:sldMkLst>
        <pc:spChg chg="mod">
          <ac:chgData name="Brian Kim" userId="bfb6c6aebdabc740" providerId="LiveId" clId="{EAB2F743-DE44-4005-AC08-FA9771C40ECA}" dt="2026-10-15T14:54:40.055" v="1681" actId="13926"/>
          <ac:spMkLst>
            <pc:docMk/>
            <pc:sldMk cId="0" sldId="259"/>
            <ac:spMk id="11"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535443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B33"/>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A1428"/>
          </a:solidFill>
          <a:ln w="12700">
            <a:solidFill>
              <a:srgbClr val="0A1428"/>
            </a:solidFill>
            <a:prstDash val="solid"/>
          </a:ln>
        </p:spPr>
      </p:sp>
      <p:sp>
        <p:nvSpPr>
          <p:cNvPr id="3" name="Shape 1"/>
          <p:cNvSpPr/>
          <p:nvPr/>
        </p:nvSpPr>
        <p:spPr>
          <a:xfrm>
            <a:off x="822960" y="2148840"/>
            <a:ext cx="109728" cy="2011680"/>
          </a:xfrm>
          <a:prstGeom prst="rect">
            <a:avLst/>
          </a:prstGeom>
          <a:solidFill>
            <a:srgbClr val="E2B84A"/>
          </a:solidFill>
          <a:ln w="12700">
            <a:solidFill>
              <a:srgbClr val="E2B84A"/>
            </a:solidFill>
            <a:prstDash val="solid"/>
          </a:ln>
        </p:spPr>
      </p:sp>
      <p:sp>
        <p:nvSpPr>
          <p:cNvPr id="4" name="Text 2"/>
          <p:cNvSpPr txBox="1"/>
          <p:nvPr/>
        </p:nvSpPr>
        <p:spPr>
          <a:xfrm>
            <a:off x="1188720" y="2103120"/>
            <a:ext cx="10058400" cy="365760"/>
          </a:xfrm>
          <a:prstGeom prst="rect">
            <a:avLst/>
          </a:prstGeom>
          <a:noFill/>
          <a:ln/>
        </p:spPr>
        <p:txBody>
          <a:bodyPr wrap="square" lIns="0" tIns="0" rIns="0" bIns="0" rtlCol="0" anchor="ctr">
            <a:normAutofit/>
          </a:bodyPr>
          <a:lstStyle/>
          <a:p>
            <a:pPr marL="0" indent="0">
              <a:buNone/>
            </a:pPr>
            <a:r>
              <a:rPr lang="en-US" sz="1500" b="1" kern="0" spc="500" dirty="0">
                <a:solidFill>
                  <a:srgbClr val="E2B84A"/>
                </a:solidFill>
                <a:latin typeface="Calibri" pitchFamily="34" charset="0"/>
                <a:ea typeface="Calibri" pitchFamily="34" charset="-122"/>
                <a:cs typeface="Calibri" pitchFamily="34" charset="-120"/>
              </a:rPr>
              <a:t>JUNE · IAS 2026 · CLASS 15</a:t>
            </a:r>
            <a:endParaRPr lang="en-US" sz="1500" dirty="0"/>
          </a:p>
        </p:txBody>
      </p:sp>
      <p:sp>
        <p:nvSpPr>
          <p:cNvPr id="5" name="Text 3"/>
          <p:cNvSpPr txBox="1"/>
          <p:nvPr/>
        </p:nvSpPr>
        <p:spPr>
          <a:xfrm>
            <a:off x="1188720" y="2514600"/>
            <a:ext cx="10332720" cy="1188720"/>
          </a:xfrm>
          <a:prstGeom prst="rect">
            <a:avLst/>
          </a:prstGeom>
          <a:noFill/>
          <a:ln/>
        </p:spPr>
        <p:txBody>
          <a:bodyPr wrap="square" lIns="0" tIns="0" rIns="0" bIns="0" rtlCol="0" anchor="ctr">
            <a:normAutofit/>
          </a:bodyPr>
          <a:lstStyle/>
          <a:p>
            <a:pPr marL="0" indent="0">
              <a:buNone/>
            </a:pPr>
            <a:r>
              <a:rPr lang="en-US" sz="5000" b="1" dirty="0">
                <a:solidFill>
                  <a:srgbClr val="F4EFE4"/>
                </a:solidFill>
                <a:latin typeface="Georgia" pitchFamily="34" charset="0"/>
                <a:ea typeface="Georgia" pitchFamily="34" charset="-122"/>
                <a:cs typeface="Georgia" pitchFamily="34" charset="-120"/>
              </a:rPr>
              <a:t>What They'll Remember</a:t>
            </a:r>
            <a:endParaRPr lang="en-US" sz="5000" dirty="0"/>
          </a:p>
        </p:txBody>
      </p:sp>
      <p:sp>
        <p:nvSpPr>
          <p:cNvPr id="6" name="Text 4"/>
          <p:cNvSpPr txBox="1"/>
          <p:nvPr/>
        </p:nvSpPr>
        <p:spPr>
          <a:xfrm>
            <a:off x="1188720" y="3703320"/>
            <a:ext cx="10058400" cy="548640"/>
          </a:xfrm>
          <a:prstGeom prst="rect">
            <a:avLst/>
          </a:prstGeom>
          <a:noFill/>
          <a:ln/>
        </p:spPr>
        <p:txBody>
          <a:bodyPr wrap="square" lIns="0" tIns="0" rIns="0" bIns="0" rtlCol="0" anchor="ctr">
            <a:normAutofit/>
          </a:bodyPr>
          <a:lstStyle/>
          <a:p>
            <a:pPr marL="0" indent="0">
              <a:buNone/>
            </a:pPr>
            <a:r>
              <a:rPr lang="en-US" sz="1800" dirty="0">
                <a:solidFill>
                  <a:srgbClr val="9FB0C6"/>
                </a:solidFill>
                <a:latin typeface="Calibri" pitchFamily="34" charset="0"/>
                <a:ea typeface="Calibri" pitchFamily="34" charset="-122"/>
                <a:cs typeface="Calibri" pitchFamily="34" charset="-120"/>
              </a:rPr>
              <a:t>Five more ways into the same paper. No slides yet, no full run — just you, talking about your own data until it sounds like you.</a:t>
            </a:r>
            <a:endParaRPr lang="en-US" sz="1800" dirty="0"/>
          </a:p>
        </p:txBody>
      </p:sp>
      <p:sp>
        <p:nvSpPr>
          <p:cNvPr id="7" name="Text 5"/>
          <p:cNvSpPr txBox="1"/>
          <p:nvPr/>
        </p:nvSpPr>
        <p:spPr>
          <a:xfrm>
            <a:off x="1188720" y="6126480"/>
            <a:ext cx="5486400" cy="320040"/>
          </a:xfrm>
          <a:prstGeom prst="rect">
            <a:avLst/>
          </a:prstGeom>
          <a:noFill/>
          <a:ln/>
        </p:spPr>
        <p:txBody>
          <a:bodyPr wrap="square" lIns="0" tIns="0" rIns="0" bIns="0" rtlCol="0" anchor="ctr">
            <a:normAutofit/>
          </a:bodyPr>
          <a:lstStyle/>
          <a:p>
            <a:pPr marL="0" indent="0">
              <a:buNone/>
            </a:pPr>
            <a:r>
              <a:rPr lang="en-US" sz="1100" b="1" kern="0" spc="300" dirty="0">
                <a:solidFill>
                  <a:srgbClr val="6E7F9C"/>
                </a:solidFill>
                <a:latin typeface="Calibri" pitchFamily="34" charset="0"/>
                <a:ea typeface="Calibri" pitchFamily="34" charset="-122"/>
                <a:cs typeface="Calibri" pitchFamily="34" charset="-120"/>
              </a:rPr>
              <a:t>DO ENGLISH WITH BRIAN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B33"/>
        </a:solidFill>
        <a:effectLst/>
      </p:bgPr>
    </p:bg>
    <p:spTree>
      <p:nvGrpSpPr>
        <p:cNvPr id="1" name=""/>
        <p:cNvGrpSpPr/>
        <p:nvPr/>
      </p:nvGrpSpPr>
      <p:grpSpPr>
        <a:xfrm>
          <a:off x="0" y="0"/>
          <a:ext cx="0" cy="0"/>
          <a:chOff x="0" y="0"/>
          <a:chExt cx="0" cy="0"/>
        </a:xfrm>
      </p:grpSpPr>
      <p:sp>
        <p:nvSpPr>
          <p:cNvPr id="2" name="Shape 0"/>
          <p:cNvSpPr/>
          <p:nvPr/>
        </p:nvSpPr>
        <p:spPr>
          <a:xfrm>
            <a:off x="0" y="0"/>
            <a:ext cx="12188952" cy="1783080"/>
          </a:xfrm>
          <a:prstGeom prst="rect">
            <a:avLst/>
          </a:prstGeom>
          <a:solidFill>
            <a:srgbClr val="0A1428"/>
          </a:solidFill>
          <a:ln w="12700">
            <a:solidFill>
              <a:srgbClr val="0A1428"/>
            </a:solidFill>
            <a:prstDash val="solid"/>
          </a:ln>
        </p:spPr>
      </p:sp>
      <p:sp>
        <p:nvSpPr>
          <p:cNvPr id="3" name="Text 1"/>
          <p:cNvSpPr txBox="1"/>
          <p:nvPr/>
        </p:nvSpPr>
        <p:spPr>
          <a:xfrm>
            <a:off x="731520" y="347472"/>
            <a:ext cx="10515600" cy="274320"/>
          </a:xfrm>
          <a:prstGeom prst="rect">
            <a:avLst/>
          </a:prstGeom>
          <a:noFill/>
          <a:ln/>
        </p:spPr>
        <p:txBody>
          <a:bodyPr wrap="square" lIns="0" tIns="0" rIns="0" bIns="0" rtlCol="0" anchor="ctr">
            <a:normAutofit/>
          </a:bodyPr>
          <a:lstStyle/>
          <a:p>
            <a:pPr marL="0" indent="0">
              <a:buNone/>
            </a:pPr>
            <a:r>
              <a:rPr lang="en-US" sz="1200" b="1" kern="0" spc="400" dirty="0">
                <a:solidFill>
                  <a:srgbClr val="E2B84A"/>
                </a:solidFill>
                <a:latin typeface="Calibri" pitchFamily="34" charset="0"/>
                <a:ea typeface="Calibri" pitchFamily="34" charset="-122"/>
                <a:cs typeface="Calibri" pitchFamily="34" charset="-120"/>
              </a:rPr>
              <a:t>PART 1 · 15 MIN</a:t>
            </a:r>
            <a:endParaRPr lang="en-US" sz="1200" dirty="0"/>
          </a:p>
        </p:txBody>
      </p:sp>
      <p:sp>
        <p:nvSpPr>
          <p:cNvPr id="4" name="Text 2"/>
          <p:cNvSpPr txBox="1"/>
          <p:nvPr/>
        </p:nvSpPr>
        <p:spPr>
          <a:xfrm>
            <a:off x="731520" y="621792"/>
            <a:ext cx="10789920" cy="822960"/>
          </a:xfrm>
          <a:prstGeom prst="rect">
            <a:avLst/>
          </a:prstGeom>
          <a:noFill/>
          <a:ln/>
        </p:spPr>
        <p:txBody>
          <a:bodyPr wrap="square" lIns="0" tIns="0" rIns="0" bIns="0" rtlCol="0" anchor="ctr">
            <a:normAutofit/>
          </a:bodyPr>
          <a:lstStyle/>
          <a:p>
            <a:pPr marL="0" indent="0">
              <a:buNone/>
            </a:pPr>
            <a:r>
              <a:rPr lang="en-US" sz="3800" b="1" dirty="0">
                <a:solidFill>
                  <a:srgbClr val="F4EFE4"/>
                </a:solidFill>
                <a:latin typeface="Georgia" pitchFamily="34" charset="0"/>
                <a:ea typeface="Georgia" pitchFamily="34" charset="-122"/>
                <a:cs typeface="Georgia" pitchFamily="34" charset="-120"/>
              </a:rPr>
              <a:t>The Part You're Least Sure Of</a:t>
            </a:r>
            <a:endParaRPr lang="en-US" sz="3800" dirty="0"/>
          </a:p>
        </p:txBody>
      </p:sp>
      <p:sp>
        <p:nvSpPr>
          <p:cNvPr id="5" name="Text 3"/>
          <p:cNvSpPr txBox="1"/>
          <p:nvPr/>
        </p:nvSpPr>
        <p:spPr>
          <a:xfrm>
            <a:off x="731520" y="1353312"/>
            <a:ext cx="10789920" cy="329184"/>
          </a:xfrm>
          <a:prstGeom prst="rect">
            <a:avLst/>
          </a:prstGeom>
          <a:noFill/>
          <a:ln/>
        </p:spPr>
        <p:txBody>
          <a:bodyPr wrap="square" lIns="0" tIns="0" rIns="0" bIns="0" rtlCol="0" anchor="ctr">
            <a:normAutofit/>
          </a:bodyPr>
          <a:lstStyle/>
          <a:p>
            <a:pPr marL="0" indent="0">
              <a:buNone/>
            </a:pPr>
            <a:r>
              <a:rPr lang="en-US" sz="1400" dirty="0">
                <a:solidFill>
                  <a:srgbClr val="9FB0C6"/>
                </a:solidFill>
                <a:latin typeface="Calibri" pitchFamily="34" charset="0"/>
                <a:ea typeface="Calibri" pitchFamily="34" charset="-122"/>
                <a:cs typeface="Calibri" pitchFamily="34" charset="-120"/>
              </a:rPr>
              <a:t>June이 먼저 말해요. 어디가 제일 자신 없는지 — 그리고 거기서 올 질문 둘.</a:t>
            </a:r>
            <a:endParaRPr lang="en-US" sz="1400" dirty="0"/>
          </a:p>
        </p:txBody>
      </p:sp>
      <p:sp>
        <p:nvSpPr>
          <p:cNvPr id="6" name="Shape 4"/>
          <p:cNvSpPr/>
          <p:nvPr/>
        </p:nvSpPr>
        <p:spPr>
          <a:xfrm>
            <a:off x="731520" y="2103120"/>
            <a:ext cx="4206240" cy="2743200"/>
          </a:xfrm>
          <a:prstGeom prst="roundRect">
            <a:avLst>
              <a:gd name="adj" fmla="val 4000"/>
            </a:avLst>
          </a:prstGeom>
          <a:solidFill>
            <a:srgbClr val="1C3158"/>
          </a:solidFill>
          <a:ln w="12700">
            <a:solidFill>
              <a:srgbClr val="1C3158"/>
            </a:solidFill>
            <a:prstDash val="solid"/>
          </a:ln>
        </p:spPr>
      </p:sp>
      <p:sp>
        <p:nvSpPr>
          <p:cNvPr id="7" name="Text 5"/>
          <p:cNvSpPr txBox="1"/>
          <p:nvPr/>
        </p:nvSpPr>
        <p:spPr>
          <a:xfrm>
            <a:off x="960120" y="2286000"/>
            <a:ext cx="3840480" cy="256032"/>
          </a:xfrm>
          <a:prstGeom prst="rect">
            <a:avLst/>
          </a:prstGeom>
          <a:noFill/>
          <a:ln/>
        </p:spPr>
        <p:txBody>
          <a:bodyPr wrap="square" lIns="0" tIns="0" rIns="0" bIns="0" rtlCol="0" anchor="ctr">
            <a:normAutofit/>
          </a:bodyPr>
          <a:lstStyle/>
          <a:p>
            <a:pPr marL="0" indent="0">
              <a:buNone/>
            </a:pPr>
            <a:r>
              <a:rPr lang="en-US" sz="1100" b="1" kern="0" spc="300" dirty="0">
                <a:solidFill>
                  <a:srgbClr val="E2B84A"/>
                </a:solidFill>
                <a:latin typeface="Calibri" pitchFamily="34" charset="0"/>
                <a:ea typeface="Calibri" pitchFamily="34" charset="-122"/>
                <a:cs typeface="Calibri" pitchFamily="34" charset="-120"/>
              </a:rPr>
              <a:t>FROM THE PAPER</a:t>
            </a:r>
            <a:endParaRPr lang="en-US" sz="1100" dirty="0"/>
          </a:p>
        </p:txBody>
      </p:sp>
      <p:sp>
        <p:nvSpPr>
          <p:cNvPr id="8" name="Text 6"/>
          <p:cNvSpPr txBox="1"/>
          <p:nvPr/>
        </p:nvSpPr>
        <p:spPr>
          <a:xfrm>
            <a:off x="960120" y="2606040"/>
            <a:ext cx="3794760" cy="2194560"/>
          </a:xfrm>
          <a:prstGeom prst="rect">
            <a:avLst/>
          </a:prstGeom>
          <a:noFill/>
          <a:ln/>
        </p:spPr>
        <p:txBody>
          <a:bodyPr wrap="square" lIns="0" tIns="0" rIns="0" bIns="0" rtlCol="0" anchor="t">
            <a:normAutofit/>
          </a:bodyPr>
          <a:lstStyle/>
          <a:p>
            <a:pPr marL="0" indent="0">
              <a:buNone/>
            </a:pPr>
            <a:r>
              <a:rPr lang="en-US" sz="1150" b="1" dirty="0">
                <a:solidFill>
                  <a:srgbClr val="F0CC6A"/>
                </a:solidFill>
                <a:latin typeface="Calibri" pitchFamily="34" charset="0"/>
                <a:ea typeface="Calibri" pitchFamily="34" charset="-122"/>
                <a:cs typeface="Calibri" pitchFamily="34" charset="-120"/>
              </a:rPr>
              <a:t>n  </a:t>
            </a:r>
            <a:r>
              <a:rPr lang="en-US" sz="1250" dirty="0">
                <a:solidFill>
                  <a:srgbClr val="F4EFE4"/>
                </a:solidFill>
                <a:latin typeface="Calibri" pitchFamily="34" charset="0"/>
                <a:ea typeface="Calibri" pitchFamily="34" charset="-122"/>
                <a:cs typeface="Calibri" pitchFamily="34" charset="-120"/>
              </a:rPr>
              <a:t>10 per group · 1:9 male:female in FCG and CG</a:t>
            </a:r>
            <a:endParaRPr lang="en-US" sz="1150" dirty="0"/>
          </a:p>
          <a:p>
            <a:pPr marL="0" indent="0">
              <a:buNone/>
            </a:pPr>
            <a:r>
              <a:rPr lang="en-US" sz="1150" b="1" dirty="0">
                <a:solidFill>
                  <a:srgbClr val="F0CC6A"/>
                </a:solidFill>
                <a:latin typeface="Calibri" pitchFamily="34" charset="0"/>
                <a:ea typeface="Calibri" pitchFamily="34" charset="-122"/>
                <a:cs typeface="Calibri" pitchFamily="34" charset="-120"/>
              </a:rPr>
              <a:t>Follow-up  </a:t>
            </a:r>
            <a:r>
              <a:rPr lang="en-US" sz="1250" dirty="0">
                <a:solidFill>
                  <a:srgbClr val="F4EFE4"/>
                </a:solidFill>
                <a:latin typeface="Calibri" pitchFamily="34" charset="0"/>
                <a:ea typeface="Calibri" pitchFamily="34" charset="-122"/>
                <a:cs typeface="Calibri" pitchFamily="34" charset="-120"/>
              </a:rPr>
              <a:t>none — no retention test</a:t>
            </a:r>
            <a:endParaRPr lang="en-US" sz="1150" dirty="0"/>
          </a:p>
          <a:p>
            <a:pPr marL="0" indent="0">
              <a:buNone/>
            </a:pPr>
            <a:r>
              <a:rPr lang="en-US" sz="1150" b="1" dirty="0">
                <a:solidFill>
                  <a:srgbClr val="F0CC6A"/>
                </a:solidFill>
                <a:latin typeface="Calibri" pitchFamily="34" charset="0"/>
                <a:ea typeface="Calibri" pitchFamily="34" charset="-122"/>
                <a:cs typeface="Calibri" pitchFamily="34" charset="-120"/>
              </a:rPr>
              <a:t>DPSI  </a:t>
            </a:r>
            <a:r>
              <a:rPr lang="en-US" sz="1250" dirty="0">
                <a:solidFill>
                  <a:srgbClr val="F4EFE4"/>
                </a:solidFill>
                <a:latin typeface="Calibri" pitchFamily="34" charset="0"/>
                <a:ea typeface="Calibri" pitchFamily="34" charset="-122"/>
                <a:cs typeface="Calibri" pitchFamily="34" charset="-120"/>
              </a:rPr>
              <a:t>no interaction, despite the trunk change</a:t>
            </a:r>
            <a:endParaRPr lang="en-US" sz="1150" dirty="0"/>
          </a:p>
          <a:p>
            <a:pPr marL="0" indent="0">
              <a:buNone/>
            </a:pPr>
            <a:r>
              <a:rPr lang="en-US" sz="1150" b="1" dirty="0">
                <a:solidFill>
                  <a:srgbClr val="F0CC6A"/>
                </a:solidFill>
                <a:latin typeface="Calibri" pitchFamily="34" charset="0"/>
                <a:ea typeface="Calibri" pitchFamily="34" charset="-122"/>
                <a:cs typeface="Calibri" pitchFamily="34" charset="-120"/>
              </a:rPr>
              <a:t>Effect sizes  </a:t>
            </a:r>
            <a:r>
              <a:rPr lang="en-US" sz="1250" dirty="0">
                <a:solidFill>
                  <a:srgbClr val="F4EFE4"/>
                </a:solidFill>
                <a:latin typeface="Calibri" pitchFamily="34" charset="0"/>
                <a:ea typeface="Calibri" pitchFamily="34" charset="-122"/>
                <a:cs typeface="Calibri" pitchFamily="34" charset="-120"/>
              </a:rPr>
              <a:t>η²p 0.26 (IC) · 0.34 (peak) — paper says interpret with caution</a:t>
            </a:r>
            <a:endParaRPr lang="en-US" sz="1150" dirty="0"/>
          </a:p>
        </p:txBody>
      </p:sp>
      <p:sp>
        <p:nvSpPr>
          <p:cNvPr id="9" name="Shape 7"/>
          <p:cNvSpPr/>
          <p:nvPr/>
        </p:nvSpPr>
        <p:spPr>
          <a:xfrm>
            <a:off x="5166360" y="2103120"/>
            <a:ext cx="6492240" cy="2743200"/>
          </a:xfrm>
          <a:prstGeom prst="roundRect">
            <a:avLst>
              <a:gd name="adj" fmla="val 4000"/>
            </a:avLst>
          </a:prstGeom>
          <a:solidFill>
            <a:srgbClr val="16284A"/>
          </a:solidFill>
          <a:ln w="19050">
            <a:solidFill>
              <a:srgbClr val="E2B84A"/>
            </a:solidFill>
            <a:prstDash val="solid"/>
          </a:ln>
        </p:spPr>
      </p:sp>
      <p:sp>
        <p:nvSpPr>
          <p:cNvPr id="10" name="Text 8"/>
          <p:cNvSpPr txBox="1"/>
          <p:nvPr/>
        </p:nvSpPr>
        <p:spPr>
          <a:xfrm>
            <a:off x="5440680" y="2286000"/>
            <a:ext cx="5943600" cy="256032"/>
          </a:xfrm>
          <a:prstGeom prst="rect">
            <a:avLst/>
          </a:prstGeom>
          <a:noFill/>
          <a:ln/>
        </p:spPr>
        <p:txBody>
          <a:bodyPr wrap="square" lIns="0" tIns="0" rIns="0" bIns="0" rtlCol="0" anchor="ctr">
            <a:normAutofit/>
          </a:bodyPr>
          <a:lstStyle/>
          <a:p>
            <a:pPr marL="0" indent="0">
              <a:buNone/>
            </a:pPr>
            <a:r>
              <a:rPr lang="en-US" sz="1100" b="1" kern="0" spc="300" dirty="0">
                <a:solidFill>
                  <a:srgbClr val="E2B84A"/>
                </a:solidFill>
                <a:latin typeface="Calibri" pitchFamily="34" charset="0"/>
                <a:ea typeface="Calibri" pitchFamily="34" charset="-122"/>
                <a:cs typeface="Calibri" pitchFamily="34" charset="-120"/>
              </a:rPr>
              <a:t>BRIAN ASKS</a:t>
            </a:r>
            <a:endParaRPr lang="en-US" sz="1100" dirty="0"/>
          </a:p>
        </p:txBody>
      </p:sp>
      <p:sp>
        <p:nvSpPr>
          <p:cNvPr id="11" name="Text 9"/>
          <p:cNvSpPr txBox="1"/>
          <p:nvPr/>
        </p:nvSpPr>
        <p:spPr>
          <a:xfrm>
            <a:off x="5440680" y="2606040"/>
            <a:ext cx="6035040" cy="2194560"/>
          </a:xfrm>
          <a:prstGeom prst="rect">
            <a:avLst/>
          </a:prstGeom>
          <a:noFill/>
          <a:ln/>
        </p:spPr>
        <p:txBody>
          <a:bodyPr wrap="square" lIns="0" tIns="0" rIns="0" bIns="0" rtlCol="0" anchor="t">
            <a:normAutofit/>
          </a:bodyPr>
          <a:lstStyle/>
          <a:p>
            <a:pPr marL="0" indent="0">
              <a:spcAft>
                <a:spcPts val="600"/>
              </a:spcAft>
              <a:buNone/>
            </a:pPr>
            <a:r>
              <a:rPr lang="en-US" sz="1400" dirty="0">
                <a:solidFill>
                  <a:srgbClr val="F4EFE4"/>
                </a:solidFill>
                <a:latin typeface="Calibri" pitchFamily="34" charset="0"/>
                <a:ea typeface="Calibri" pitchFamily="34" charset="-122"/>
                <a:cs typeface="Calibri" pitchFamily="34" charset="-120"/>
              </a:rPr>
              <a:t>·  Which part of this paper would you rather nobody asked about?</a:t>
            </a:r>
            <a:endParaRPr lang="en-US" sz="1400" dirty="0"/>
          </a:p>
          <a:p>
            <a:pPr marL="0" indent="0">
              <a:spcAft>
                <a:spcPts val="600"/>
              </a:spcAft>
              <a:buNone/>
            </a:pPr>
            <a:r>
              <a:rPr lang="en-US" sz="1400" dirty="0">
                <a:solidFill>
                  <a:srgbClr val="F4EFE4"/>
                </a:solidFill>
                <a:latin typeface="Calibri" pitchFamily="34" charset="0"/>
                <a:ea typeface="Calibri" pitchFamily="34" charset="-122"/>
                <a:cs typeface="Calibri" pitchFamily="34" charset="-120"/>
              </a:rPr>
              <a:t>·  Say that weakness out loud in one sentence — without apologising for it.</a:t>
            </a:r>
            <a:endParaRPr lang="en-US" sz="1400" dirty="0"/>
          </a:p>
          <a:p>
            <a:pPr marL="0" indent="0">
              <a:spcAft>
                <a:spcPts val="600"/>
              </a:spcAft>
              <a:buNone/>
            </a:pPr>
            <a:r>
              <a:rPr lang="en-US" sz="1400" dirty="0">
                <a:solidFill>
                  <a:srgbClr val="F4EFE4"/>
                </a:solidFill>
                <a:latin typeface="Calibri" pitchFamily="34" charset="0"/>
                <a:ea typeface="Calibri" pitchFamily="34" charset="-122"/>
                <a:cs typeface="Calibri" pitchFamily="34" charset="-120"/>
              </a:rPr>
              <a:t>·  What are the two questions most likely to come from that spot?</a:t>
            </a:r>
            <a:endParaRPr lang="en-US" sz="1400" dirty="0"/>
          </a:p>
          <a:p>
            <a:pPr marL="0" indent="0">
              <a:spcAft>
                <a:spcPts val="600"/>
              </a:spcAft>
              <a:buNone/>
            </a:pPr>
            <a:r>
              <a:rPr lang="en-US" sz="1400" dirty="0">
                <a:solidFill>
                  <a:srgbClr val="F4EFE4"/>
                </a:solidFill>
                <a:latin typeface="Calibri" pitchFamily="34" charset="0"/>
                <a:ea typeface="Calibri" pitchFamily="34" charset="-122"/>
                <a:cs typeface="Calibri" pitchFamily="34" charset="-120"/>
              </a:rPr>
              <a:t>·  For each one: your first sentence back. Not the whole answer — the first sentence.</a:t>
            </a:r>
            <a:endParaRPr lang="en-US" sz="1400" dirty="0"/>
          </a:p>
          <a:p>
            <a:pPr marL="0" indent="0">
              <a:spcAft>
                <a:spcPts val="600"/>
              </a:spcAft>
              <a:buNone/>
            </a:pPr>
            <a:r>
              <a:rPr lang="en-US" sz="1400" dirty="0">
                <a:solidFill>
                  <a:srgbClr val="F4EFE4"/>
                </a:solidFill>
                <a:latin typeface="Calibri" pitchFamily="34" charset="0"/>
                <a:ea typeface="Calibri" pitchFamily="34" charset="-122"/>
                <a:cs typeface="Calibri" pitchFamily="34" charset="-120"/>
              </a:rPr>
              <a:t>·  If the questioner pushes a second time, what do you concede, and what do you hold?</a:t>
            </a:r>
            <a:endParaRPr lang="en-US" sz="1400" dirty="0"/>
          </a:p>
        </p:txBody>
      </p:sp>
      <p:sp>
        <p:nvSpPr>
          <p:cNvPr id="12" name="Shape 10"/>
          <p:cNvSpPr/>
          <p:nvPr/>
        </p:nvSpPr>
        <p:spPr>
          <a:xfrm>
            <a:off x="731520" y="5029200"/>
            <a:ext cx="10927080" cy="1325880"/>
          </a:xfrm>
          <a:prstGeom prst="roundRect">
            <a:avLst>
              <a:gd name="adj" fmla="val 8276"/>
            </a:avLst>
          </a:prstGeom>
          <a:solidFill>
            <a:srgbClr val="1C3158"/>
          </a:solidFill>
          <a:ln w="12700">
            <a:solidFill>
              <a:srgbClr val="1C3158"/>
            </a:solidFill>
            <a:prstDash val="solid"/>
          </a:ln>
        </p:spPr>
      </p:sp>
      <p:sp>
        <p:nvSpPr>
          <p:cNvPr id="13" name="Text 11"/>
          <p:cNvSpPr txBox="1"/>
          <p:nvPr/>
        </p:nvSpPr>
        <p:spPr>
          <a:xfrm>
            <a:off x="960120" y="5138928"/>
            <a:ext cx="10469880" cy="256032"/>
          </a:xfrm>
          <a:prstGeom prst="rect">
            <a:avLst/>
          </a:prstGeom>
          <a:noFill/>
          <a:ln/>
        </p:spPr>
        <p:txBody>
          <a:bodyPr wrap="square" lIns="0" tIns="0" rIns="0" bIns="0" rtlCol="0" anchor="ctr">
            <a:normAutofit/>
          </a:bodyPr>
          <a:lstStyle/>
          <a:p>
            <a:pPr marL="0" indent="0">
              <a:buNone/>
            </a:pPr>
            <a:r>
              <a:rPr lang="en-US" sz="1100" b="1" kern="0" spc="300" dirty="0">
                <a:solidFill>
                  <a:srgbClr val="E2B84A"/>
                </a:solidFill>
                <a:latin typeface="Calibri" pitchFamily="34" charset="0"/>
                <a:ea typeface="Calibri" pitchFamily="34" charset="-122"/>
                <a:cs typeface="Calibri" pitchFamily="34" charset="-120"/>
              </a:rPr>
              <a:t>WHAT JUNE SAID · 발표 대본으로 갈 문장</a:t>
            </a:r>
            <a:endParaRPr lang="en-US" sz="1100" dirty="0"/>
          </a:p>
        </p:txBody>
      </p:sp>
      <p:sp>
        <p:nvSpPr>
          <p:cNvPr id="14" name="Text 12"/>
          <p:cNvSpPr txBox="1"/>
          <p:nvPr/>
        </p:nvSpPr>
        <p:spPr>
          <a:xfrm>
            <a:off x="859536" y="4727448"/>
            <a:ext cx="10469880" cy="822960"/>
          </a:xfrm>
          <a:prstGeom prst="rect">
            <a:avLst/>
          </a:prstGeom>
          <a:noFill/>
          <a:ln/>
        </p:spPr>
        <p:txBody>
          <a:bodyPr wrap="square" lIns="381" tIns="381" rIns="381" bIns="381" rtlCol="0" anchor="t"/>
          <a:lstStyle/>
          <a:p>
            <a:pPr marL="0" indent="0">
              <a:buNone/>
            </a:pPr>
            <a:r>
              <a:rPr lang="en-US" sz="1400" dirty="0">
                <a:solidFill>
                  <a:schemeClr val="bg1"/>
                </a:solidFill>
              </a:rPr>
              <a:t>That things about result of postural control index. Because first of all, there weren’t significant interaction among three groups. And I have no idea how I could explain why there wasn’t significant interaction even though there was significant interaction in trunk transverse-plane angle.</a:t>
            </a:r>
          </a:p>
          <a:p>
            <a:pPr marL="0" indent="0">
              <a:buNone/>
            </a:pPr>
            <a:r>
              <a:rPr lang="en-US" sz="1400" dirty="0">
                <a:solidFill>
                  <a:schemeClr val="bg1"/>
                </a:solidFill>
              </a:rPr>
              <a:t>Before the research, I expected there will be a significant difference among three groups especially FCG and TCG. Unlike what I thought, there wasn’t any difference among three groups on postural control index. Actually this results were similar to previous study. Previous other studies also applied foot core training but there wasn’t significant difference between training groups and control groups. I think it’s hard to capture improvement after only foot care training on static postural index. But interestingly, there were significant differences in trunk transverse-plan angle during landing. And according to few previous studies, it have shown it is hard to see any improvement on static test such as single-leg stance. So they recommended that it is require to use the dynamic test in order to capture any reduced compensation.</a:t>
            </a:r>
            <a:endParaRPr lang="en-US" sz="1200" dirty="0">
              <a:solidFill>
                <a:schemeClr val="bg1"/>
              </a:solidFill>
            </a:endParaRPr>
          </a:p>
        </p:txBody>
      </p:sp>
      <p:sp>
        <p:nvSpPr>
          <p:cNvPr id="15" name="Text 13"/>
          <p:cNvSpPr txBox="1"/>
          <p:nvPr/>
        </p:nvSpPr>
        <p:spPr>
          <a:xfrm>
            <a:off x="731520" y="6400800"/>
            <a:ext cx="10972800" cy="274320"/>
          </a:xfrm>
          <a:prstGeom prst="rect">
            <a:avLst/>
          </a:prstGeom>
          <a:noFill/>
          <a:ln/>
        </p:spPr>
        <p:txBody>
          <a:bodyPr wrap="square" lIns="0" tIns="0" rIns="0" bIns="0" rtlCol="0" anchor="ctr">
            <a:normAutofit/>
          </a:bodyPr>
          <a:lstStyle/>
          <a:p>
            <a:pPr marL="0" indent="0">
              <a:buNone/>
            </a:pPr>
            <a:r>
              <a:rPr lang="en-US" sz="1000" b="1" kern="0" spc="200" dirty="0">
                <a:solidFill>
                  <a:srgbClr val="E2B84A"/>
                </a:solidFill>
                <a:latin typeface="Calibri" pitchFamily="34" charset="0"/>
                <a:ea typeface="Calibri" pitchFamily="34" charset="-122"/>
                <a:cs typeface="Calibri" pitchFamily="34" charset="-120"/>
              </a:rPr>
              <a:t>FROM YOUR WORDS   </a:t>
            </a:r>
            <a:r>
              <a:rPr lang="en-US" sz="1250" b="1" dirty="0">
                <a:solidFill>
                  <a:srgbClr val="F0CC6A"/>
                </a:solidFill>
                <a:latin typeface="Calibri" pitchFamily="34" charset="0"/>
                <a:ea typeface="Calibri" pitchFamily="34" charset="-122"/>
                <a:cs typeface="Calibri" pitchFamily="34" charset="-120"/>
              </a:rPr>
              <a:t>negligible  ·  entail</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B33"/>
        </a:solidFill>
        <a:effectLst/>
      </p:bgPr>
    </p:bg>
    <p:spTree>
      <p:nvGrpSpPr>
        <p:cNvPr id="1" name=""/>
        <p:cNvGrpSpPr/>
        <p:nvPr/>
      </p:nvGrpSpPr>
      <p:grpSpPr>
        <a:xfrm>
          <a:off x="0" y="0"/>
          <a:ext cx="0" cy="0"/>
          <a:chOff x="0" y="0"/>
          <a:chExt cx="0" cy="0"/>
        </a:xfrm>
      </p:grpSpPr>
      <p:sp>
        <p:nvSpPr>
          <p:cNvPr id="2" name="Shape 0"/>
          <p:cNvSpPr/>
          <p:nvPr/>
        </p:nvSpPr>
        <p:spPr>
          <a:xfrm>
            <a:off x="0" y="0"/>
            <a:ext cx="12188952" cy="1783080"/>
          </a:xfrm>
          <a:prstGeom prst="rect">
            <a:avLst/>
          </a:prstGeom>
          <a:solidFill>
            <a:srgbClr val="0A1428"/>
          </a:solidFill>
          <a:ln w="12700">
            <a:solidFill>
              <a:srgbClr val="0A1428"/>
            </a:solidFill>
            <a:prstDash val="solid"/>
          </a:ln>
        </p:spPr>
      </p:sp>
      <p:sp>
        <p:nvSpPr>
          <p:cNvPr id="3" name="Text 1"/>
          <p:cNvSpPr txBox="1"/>
          <p:nvPr/>
        </p:nvSpPr>
        <p:spPr>
          <a:xfrm>
            <a:off x="731520" y="347472"/>
            <a:ext cx="10515600" cy="274320"/>
          </a:xfrm>
          <a:prstGeom prst="rect">
            <a:avLst/>
          </a:prstGeom>
          <a:noFill/>
          <a:ln/>
        </p:spPr>
        <p:txBody>
          <a:bodyPr wrap="square" lIns="0" tIns="0" rIns="0" bIns="0" rtlCol="0" anchor="ctr">
            <a:normAutofit/>
          </a:bodyPr>
          <a:lstStyle/>
          <a:p>
            <a:pPr marL="0" indent="0">
              <a:buNone/>
            </a:pPr>
            <a:r>
              <a:rPr lang="en-US" sz="1200" b="1" kern="0" spc="400" dirty="0">
                <a:solidFill>
                  <a:srgbClr val="E2B84A"/>
                </a:solidFill>
                <a:latin typeface="Calibri" pitchFamily="34" charset="0"/>
                <a:ea typeface="Calibri" pitchFamily="34" charset="-122"/>
                <a:cs typeface="Calibri" pitchFamily="34" charset="-120"/>
              </a:rPr>
              <a:t>PART 2 · 15 MIN</a:t>
            </a:r>
            <a:endParaRPr lang="en-US" sz="1200" dirty="0"/>
          </a:p>
        </p:txBody>
      </p:sp>
      <p:sp>
        <p:nvSpPr>
          <p:cNvPr id="4" name="Text 2"/>
          <p:cNvSpPr txBox="1"/>
          <p:nvPr/>
        </p:nvSpPr>
        <p:spPr>
          <a:xfrm>
            <a:off x="731520" y="621792"/>
            <a:ext cx="10789920" cy="822960"/>
          </a:xfrm>
          <a:prstGeom prst="rect">
            <a:avLst/>
          </a:prstGeom>
          <a:noFill/>
          <a:ln/>
        </p:spPr>
        <p:txBody>
          <a:bodyPr wrap="square" lIns="0" tIns="0" rIns="0" bIns="0" rtlCol="0" anchor="ctr">
            <a:normAutofit/>
          </a:bodyPr>
          <a:lstStyle/>
          <a:p>
            <a:pPr marL="0" indent="0">
              <a:buNone/>
            </a:pPr>
            <a:r>
              <a:rPr lang="en-US" sz="3800" b="1" dirty="0">
                <a:solidFill>
                  <a:srgbClr val="F4EFE4"/>
                </a:solidFill>
                <a:latin typeface="Georgia" pitchFamily="34" charset="0"/>
                <a:ea typeface="Georgia" pitchFamily="34" charset="-122"/>
                <a:cs typeface="Georgia" pitchFamily="34" charset="-120"/>
              </a:rPr>
              <a:t>Why the Foot Changed the Trunk</a:t>
            </a:r>
            <a:endParaRPr lang="en-US" sz="3800" dirty="0"/>
          </a:p>
        </p:txBody>
      </p:sp>
      <p:sp>
        <p:nvSpPr>
          <p:cNvPr id="5" name="Text 3"/>
          <p:cNvSpPr txBox="1"/>
          <p:nvPr/>
        </p:nvSpPr>
        <p:spPr>
          <a:xfrm>
            <a:off x="731520" y="1353312"/>
            <a:ext cx="10789920" cy="329184"/>
          </a:xfrm>
          <a:prstGeom prst="rect">
            <a:avLst/>
          </a:prstGeom>
          <a:noFill/>
          <a:ln/>
        </p:spPr>
        <p:txBody>
          <a:bodyPr wrap="square" lIns="0" tIns="0" rIns="0" bIns="0" rtlCol="0" anchor="ctr">
            <a:normAutofit/>
          </a:bodyPr>
          <a:lstStyle/>
          <a:p>
            <a:pPr marL="0" indent="0">
              <a:buNone/>
            </a:pPr>
            <a:r>
              <a:rPr lang="en-US" sz="1400" dirty="0">
                <a:solidFill>
                  <a:srgbClr val="9FB0C6"/>
                </a:solidFill>
                <a:latin typeface="Calibri" pitchFamily="34" charset="0"/>
                <a:ea typeface="Calibri" pitchFamily="34" charset="-122"/>
                <a:cs typeface="Calibri" pitchFamily="34" charset="-120"/>
              </a:rPr>
              <a:t>전문용어 없이 1분. 발표 뒤 제일 많이 받을 질문이 이거예요.</a:t>
            </a:r>
            <a:endParaRPr lang="en-US" sz="1400" dirty="0"/>
          </a:p>
        </p:txBody>
      </p:sp>
      <p:sp>
        <p:nvSpPr>
          <p:cNvPr id="6" name="Shape 4"/>
          <p:cNvSpPr/>
          <p:nvPr/>
        </p:nvSpPr>
        <p:spPr>
          <a:xfrm>
            <a:off x="731520" y="2103120"/>
            <a:ext cx="4206240" cy="2743200"/>
          </a:xfrm>
          <a:prstGeom prst="roundRect">
            <a:avLst>
              <a:gd name="adj" fmla="val 4000"/>
            </a:avLst>
          </a:prstGeom>
          <a:solidFill>
            <a:srgbClr val="1C3158"/>
          </a:solidFill>
          <a:ln w="12700">
            <a:solidFill>
              <a:srgbClr val="1C3158"/>
            </a:solidFill>
            <a:prstDash val="solid"/>
          </a:ln>
        </p:spPr>
      </p:sp>
      <p:sp>
        <p:nvSpPr>
          <p:cNvPr id="7" name="Text 5"/>
          <p:cNvSpPr txBox="1"/>
          <p:nvPr/>
        </p:nvSpPr>
        <p:spPr>
          <a:xfrm>
            <a:off x="960120" y="2286000"/>
            <a:ext cx="3840480" cy="256032"/>
          </a:xfrm>
          <a:prstGeom prst="rect">
            <a:avLst/>
          </a:prstGeom>
          <a:noFill/>
          <a:ln/>
        </p:spPr>
        <p:txBody>
          <a:bodyPr wrap="square" lIns="0" tIns="0" rIns="0" bIns="0" rtlCol="0" anchor="ctr">
            <a:normAutofit/>
          </a:bodyPr>
          <a:lstStyle/>
          <a:p>
            <a:pPr marL="0" indent="0">
              <a:buNone/>
            </a:pPr>
            <a:r>
              <a:rPr lang="en-US" sz="1100" b="1" kern="0" spc="300" dirty="0">
                <a:solidFill>
                  <a:srgbClr val="E2B84A"/>
                </a:solidFill>
                <a:latin typeface="Calibri" pitchFamily="34" charset="0"/>
                <a:ea typeface="Calibri" pitchFamily="34" charset="-122"/>
                <a:cs typeface="Calibri" pitchFamily="34" charset="-120"/>
              </a:rPr>
              <a:t>FROM THE PAPER</a:t>
            </a:r>
            <a:endParaRPr lang="en-US" sz="1100" dirty="0"/>
          </a:p>
        </p:txBody>
      </p:sp>
      <p:sp>
        <p:nvSpPr>
          <p:cNvPr id="8" name="Text 6"/>
          <p:cNvSpPr txBox="1"/>
          <p:nvPr/>
        </p:nvSpPr>
        <p:spPr>
          <a:xfrm>
            <a:off x="960120" y="2606040"/>
            <a:ext cx="3794760" cy="2194560"/>
          </a:xfrm>
          <a:prstGeom prst="rect">
            <a:avLst/>
          </a:prstGeom>
          <a:noFill/>
          <a:ln/>
        </p:spPr>
        <p:txBody>
          <a:bodyPr wrap="square" lIns="0" tIns="0" rIns="0" bIns="0" rtlCol="0" anchor="t">
            <a:normAutofit/>
          </a:bodyPr>
          <a:lstStyle/>
          <a:p>
            <a:pPr marL="0" indent="0">
              <a:buNone/>
            </a:pPr>
            <a:r>
              <a:rPr lang="en-US" sz="1150" b="1" dirty="0">
                <a:solidFill>
                  <a:srgbClr val="F0CC6A"/>
                </a:solidFill>
                <a:latin typeface="Calibri" pitchFamily="34" charset="0"/>
                <a:ea typeface="Calibri" pitchFamily="34" charset="-122"/>
                <a:cs typeface="Calibri" pitchFamily="34" charset="-120"/>
              </a:rPr>
              <a:t>Chain  </a:t>
            </a:r>
            <a:r>
              <a:rPr lang="en-US" sz="1250" dirty="0">
                <a:solidFill>
                  <a:srgbClr val="F4EFE4"/>
                </a:solidFill>
                <a:latin typeface="Calibri" pitchFamily="34" charset="0"/>
                <a:ea typeface="Calibri" pitchFamily="34" charset="-122"/>
                <a:cs typeface="Calibri" pitchFamily="34" charset="-120"/>
              </a:rPr>
              <a:t>IFM function → distal stability → less proximal compensation</a:t>
            </a:r>
            <a:endParaRPr lang="en-US" sz="1150" dirty="0"/>
          </a:p>
          <a:p>
            <a:pPr marL="0" indent="0">
              <a:buNone/>
            </a:pPr>
            <a:r>
              <a:rPr lang="en-US" sz="1150" b="1" dirty="0">
                <a:solidFill>
                  <a:srgbClr val="F0CC6A"/>
                </a:solidFill>
                <a:latin typeface="Calibri" pitchFamily="34" charset="0"/>
                <a:ea typeface="Calibri" pitchFamily="34" charset="-122"/>
                <a:cs typeface="Calibri" pitchFamily="34" charset="-120"/>
              </a:rPr>
              <a:t>Pattern in CAI  </a:t>
            </a:r>
            <a:r>
              <a:rPr lang="en-US" sz="1250" dirty="0">
                <a:solidFill>
                  <a:srgbClr val="F4EFE4"/>
                </a:solidFill>
                <a:latin typeface="Calibri" pitchFamily="34" charset="0"/>
                <a:ea typeface="Calibri" pitchFamily="34" charset="-122"/>
                <a:cs typeface="Calibri" pitchFamily="34" charset="-120"/>
              </a:rPr>
              <a:t>trunk/pelvis rotate toward the stance limb (De La Motte)</a:t>
            </a:r>
            <a:endParaRPr lang="en-US" sz="1150" dirty="0"/>
          </a:p>
          <a:p>
            <a:pPr marL="0" indent="0">
              <a:buNone/>
            </a:pPr>
            <a:r>
              <a:rPr lang="en-US" sz="1150" b="1" dirty="0">
                <a:solidFill>
                  <a:srgbClr val="F0CC6A"/>
                </a:solidFill>
                <a:latin typeface="Calibri" pitchFamily="34" charset="0"/>
                <a:ea typeface="Calibri" pitchFamily="34" charset="-122"/>
                <a:cs typeface="Calibri" pitchFamily="34" charset="-120"/>
              </a:rPr>
              <a:t>What changed  </a:t>
            </a:r>
            <a:r>
              <a:rPr lang="en-US" sz="1250" dirty="0">
                <a:solidFill>
                  <a:srgbClr val="F4EFE4"/>
                </a:solidFill>
                <a:latin typeface="Calibri" pitchFamily="34" charset="0"/>
                <a:ea typeface="Calibri" pitchFamily="34" charset="-122"/>
                <a:cs typeface="Calibri" pitchFamily="34" charset="-120"/>
              </a:rPr>
              <a:t>FCG trunk rotation ↓ at IC and peak; TCG and CG did not</a:t>
            </a:r>
            <a:endParaRPr lang="en-US" sz="1150" dirty="0"/>
          </a:p>
          <a:p>
            <a:pPr marL="0" indent="0">
              <a:buNone/>
            </a:pPr>
            <a:r>
              <a:rPr lang="en-US" sz="1150" b="1" dirty="0">
                <a:solidFill>
                  <a:srgbClr val="F0CC6A"/>
                </a:solidFill>
                <a:latin typeface="Calibri" pitchFamily="34" charset="0"/>
                <a:ea typeface="Calibri" pitchFamily="34" charset="-122"/>
                <a:cs typeface="Calibri" pitchFamily="34" charset="-120"/>
              </a:rPr>
              <a:t>What didn't  </a:t>
            </a:r>
            <a:r>
              <a:rPr lang="en-US" sz="1250" dirty="0">
                <a:solidFill>
                  <a:srgbClr val="F4EFE4"/>
                </a:solidFill>
                <a:latin typeface="Calibri" pitchFamily="34" charset="0"/>
                <a:ea typeface="Calibri" pitchFamily="34" charset="-122"/>
                <a:cs typeface="Calibri" pitchFamily="34" charset="-120"/>
              </a:rPr>
              <a:t>static COP · DPSI · ankle, knee, hip angles</a:t>
            </a:r>
            <a:endParaRPr lang="en-US" sz="1150" dirty="0"/>
          </a:p>
        </p:txBody>
      </p:sp>
      <p:sp>
        <p:nvSpPr>
          <p:cNvPr id="9" name="Shape 7"/>
          <p:cNvSpPr/>
          <p:nvPr/>
        </p:nvSpPr>
        <p:spPr>
          <a:xfrm>
            <a:off x="5166360" y="2103120"/>
            <a:ext cx="6492240" cy="2743200"/>
          </a:xfrm>
          <a:prstGeom prst="roundRect">
            <a:avLst>
              <a:gd name="adj" fmla="val 4000"/>
            </a:avLst>
          </a:prstGeom>
          <a:solidFill>
            <a:srgbClr val="16284A"/>
          </a:solidFill>
          <a:ln w="19050">
            <a:solidFill>
              <a:srgbClr val="E2B84A"/>
            </a:solidFill>
            <a:prstDash val="solid"/>
          </a:ln>
        </p:spPr>
      </p:sp>
      <p:sp>
        <p:nvSpPr>
          <p:cNvPr id="10" name="Text 8"/>
          <p:cNvSpPr txBox="1"/>
          <p:nvPr/>
        </p:nvSpPr>
        <p:spPr>
          <a:xfrm>
            <a:off x="5440680" y="2286000"/>
            <a:ext cx="5943600" cy="256032"/>
          </a:xfrm>
          <a:prstGeom prst="rect">
            <a:avLst/>
          </a:prstGeom>
          <a:noFill/>
          <a:ln/>
        </p:spPr>
        <p:txBody>
          <a:bodyPr wrap="square" lIns="0" tIns="0" rIns="0" bIns="0" rtlCol="0" anchor="ctr">
            <a:normAutofit/>
          </a:bodyPr>
          <a:lstStyle/>
          <a:p>
            <a:pPr marL="0" indent="0">
              <a:buNone/>
            </a:pPr>
            <a:r>
              <a:rPr lang="en-US" sz="1100" b="1" kern="0" spc="300" dirty="0">
                <a:solidFill>
                  <a:srgbClr val="E2B84A"/>
                </a:solidFill>
                <a:latin typeface="Calibri" pitchFamily="34" charset="0"/>
                <a:ea typeface="Calibri" pitchFamily="34" charset="-122"/>
                <a:cs typeface="Calibri" pitchFamily="34" charset="-120"/>
              </a:rPr>
              <a:t>BRIAN ASKS</a:t>
            </a:r>
            <a:endParaRPr lang="en-US" sz="1100" dirty="0"/>
          </a:p>
        </p:txBody>
      </p:sp>
      <p:sp>
        <p:nvSpPr>
          <p:cNvPr id="11" name="Text 9"/>
          <p:cNvSpPr txBox="1"/>
          <p:nvPr/>
        </p:nvSpPr>
        <p:spPr>
          <a:xfrm>
            <a:off x="5440680" y="2606040"/>
            <a:ext cx="6035040" cy="2194560"/>
          </a:xfrm>
          <a:prstGeom prst="rect">
            <a:avLst/>
          </a:prstGeom>
          <a:noFill/>
          <a:ln/>
        </p:spPr>
        <p:txBody>
          <a:bodyPr wrap="square" lIns="0" tIns="0" rIns="0" bIns="0" rtlCol="0" anchor="t">
            <a:normAutofit/>
          </a:bodyPr>
          <a:lstStyle/>
          <a:p>
            <a:pPr marL="0" indent="0">
              <a:spcAft>
                <a:spcPts val="600"/>
              </a:spcAft>
              <a:buNone/>
            </a:pPr>
            <a:r>
              <a:rPr lang="en-US" sz="1400" dirty="0">
                <a:solidFill>
                  <a:srgbClr val="F4EFE4"/>
                </a:solidFill>
                <a:latin typeface="Calibri" pitchFamily="34" charset="0"/>
                <a:ea typeface="Calibri" pitchFamily="34" charset="-122"/>
                <a:cs typeface="Calibri" pitchFamily="34" charset="-120"/>
              </a:rPr>
              <a:t>·  Explain it to a Pilates instructor: </a:t>
            </a:r>
            <a:r>
              <a:rPr lang="en-US" sz="1400" dirty="0">
                <a:solidFill>
                  <a:srgbClr val="F4EFE4"/>
                </a:solidFill>
                <a:highlight>
                  <a:srgbClr val="FF0000"/>
                </a:highlight>
                <a:latin typeface="Calibri" pitchFamily="34" charset="0"/>
                <a:ea typeface="Calibri" pitchFamily="34" charset="-122"/>
                <a:cs typeface="Calibri" pitchFamily="34" charset="-120"/>
              </a:rPr>
              <a:t>why would training the toes change what the trunk does?</a:t>
            </a:r>
            <a:endParaRPr lang="en-US" sz="1400" dirty="0">
              <a:highlight>
                <a:srgbClr val="FF0000"/>
              </a:highlight>
            </a:endParaRPr>
          </a:p>
          <a:p>
            <a:pPr marL="0" indent="0">
              <a:spcAft>
                <a:spcPts val="600"/>
              </a:spcAft>
              <a:buNone/>
            </a:pPr>
            <a:r>
              <a:rPr lang="en-US" sz="1400" dirty="0">
                <a:solidFill>
                  <a:srgbClr val="F4EFE4"/>
                </a:solidFill>
                <a:latin typeface="Calibri" pitchFamily="34" charset="0"/>
                <a:ea typeface="Calibri" pitchFamily="34" charset="-122"/>
                <a:cs typeface="Calibri" pitchFamily="34" charset="-120"/>
              </a:rPr>
              <a:t>·  Now to a surgeon. Same idea, different words.</a:t>
            </a:r>
            <a:endParaRPr lang="en-US" sz="1400" dirty="0"/>
          </a:p>
          <a:p>
            <a:pPr marL="0" indent="0">
              <a:spcAft>
                <a:spcPts val="600"/>
              </a:spcAft>
              <a:buNone/>
            </a:pPr>
            <a:r>
              <a:rPr lang="en-US" sz="1400" dirty="0">
                <a:solidFill>
                  <a:srgbClr val="F4EFE4"/>
                </a:solidFill>
                <a:latin typeface="Calibri" pitchFamily="34" charset="0"/>
                <a:ea typeface="Calibri" pitchFamily="34" charset="-122"/>
                <a:cs typeface="Calibri" pitchFamily="34" charset="-120"/>
              </a:rPr>
              <a:t>·  Where in that chain are you confident, and where is it a hypothesis?</a:t>
            </a:r>
            <a:endParaRPr lang="en-US" sz="1400" dirty="0"/>
          </a:p>
          <a:p>
            <a:pPr marL="0" indent="0">
              <a:spcAft>
                <a:spcPts val="600"/>
              </a:spcAft>
              <a:buNone/>
            </a:pPr>
            <a:r>
              <a:rPr lang="en-US" sz="1400" dirty="0">
                <a:solidFill>
                  <a:srgbClr val="F4EFE4"/>
                </a:solidFill>
                <a:latin typeface="Calibri" pitchFamily="34" charset="0"/>
                <a:ea typeface="Calibri" pitchFamily="34" charset="-122"/>
                <a:cs typeface="Calibri" pitchFamily="34" charset="-120"/>
              </a:rPr>
              <a:t>·  The trunk group trained the trunk and the trunk didn't change — how do you say that without it sounding like a failure?</a:t>
            </a:r>
            <a:endParaRPr lang="en-US" sz="1400" dirty="0"/>
          </a:p>
          <a:p>
            <a:pPr marL="0" indent="0">
              <a:spcAft>
                <a:spcPts val="600"/>
              </a:spcAft>
              <a:buNone/>
            </a:pPr>
            <a:r>
              <a:rPr lang="en-US" sz="1400" dirty="0">
                <a:solidFill>
                  <a:srgbClr val="F4EFE4"/>
                </a:solidFill>
                <a:latin typeface="Calibri" pitchFamily="34" charset="0"/>
                <a:ea typeface="Calibri" pitchFamily="34" charset="-122"/>
                <a:cs typeface="Calibri" pitchFamily="34" charset="-120"/>
              </a:rPr>
              <a:t>·  One sentence, no 'may' or 'might': what do you actually believe happened?</a:t>
            </a:r>
            <a:endParaRPr lang="en-US" sz="1400" dirty="0"/>
          </a:p>
        </p:txBody>
      </p:sp>
      <p:sp>
        <p:nvSpPr>
          <p:cNvPr id="12" name="Shape 10"/>
          <p:cNvSpPr/>
          <p:nvPr/>
        </p:nvSpPr>
        <p:spPr>
          <a:xfrm>
            <a:off x="731520" y="5029200"/>
            <a:ext cx="10927080" cy="1325880"/>
          </a:xfrm>
          <a:prstGeom prst="roundRect">
            <a:avLst>
              <a:gd name="adj" fmla="val 8276"/>
            </a:avLst>
          </a:prstGeom>
          <a:solidFill>
            <a:srgbClr val="1C3158"/>
          </a:solidFill>
          <a:ln w="12700">
            <a:solidFill>
              <a:srgbClr val="1C3158"/>
            </a:solidFill>
            <a:prstDash val="solid"/>
          </a:ln>
        </p:spPr>
      </p:sp>
      <p:sp>
        <p:nvSpPr>
          <p:cNvPr id="13" name="Text 11"/>
          <p:cNvSpPr txBox="1"/>
          <p:nvPr/>
        </p:nvSpPr>
        <p:spPr>
          <a:xfrm>
            <a:off x="960120" y="5138928"/>
            <a:ext cx="10469880" cy="256032"/>
          </a:xfrm>
          <a:prstGeom prst="rect">
            <a:avLst/>
          </a:prstGeom>
          <a:noFill/>
          <a:ln/>
        </p:spPr>
        <p:txBody>
          <a:bodyPr wrap="square" lIns="0" tIns="0" rIns="0" bIns="0" rtlCol="0" anchor="ctr">
            <a:normAutofit/>
          </a:bodyPr>
          <a:lstStyle/>
          <a:p>
            <a:pPr marL="0" indent="0">
              <a:buNone/>
            </a:pPr>
            <a:r>
              <a:rPr lang="en-US" sz="1100" b="1" kern="0" spc="300" dirty="0">
                <a:solidFill>
                  <a:srgbClr val="E2B84A"/>
                </a:solidFill>
                <a:latin typeface="Calibri" pitchFamily="34" charset="0"/>
                <a:ea typeface="Calibri" pitchFamily="34" charset="-122"/>
                <a:cs typeface="Calibri" pitchFamily="34" charset="-120"/>
              </a:rPr>
              <a:t>WHAT JUNE SAID · 발표 대본으로 갈 문장</a:t>
            </a:r>
            <a:endParaRPr lang="en-US" sz="1100" dirty="0"/>
          </a:p>
        </p:txBody>
      </p:sp>
      <p:sp>
        <p:nvSpPr>
          <p:cNvPr id="14" name="Text 12"/>
          <p:cNvSpPr txBox="1"/>
          <p:nvPr/>
        </p:nvSpPr>
        <p:spPr>
          <a:xfrm>
            <a:off x="960120" y="5440680"/>
            <a:ext cx="10469880" cy="822960"/>
          </a:xfrm>
          <a:prstGeom prst="rect">
            <a:avLst/>
          </a:prstGeom>
          <a:noFill/>
          <a:ln/>
        </p:spPr>
        <p:txBody>
          <a:bodyPr wrap="square" lIns="381" tIns="381" rIns="381" bIns="381" rtlCol="0" anchor="t"/>
          <a:lstStyle/>
          <a:p>
            <a:pPr marL="0" indent="0">
              <a:buNone/>
            </a:pPr>
            <a:endParaRPr lang="en-US" sz="1500" dirty="0"/>
          </a:p>
        </p:txBody>
      </p:sp>
      <p:sp>
        <p:nvSpPr>
          <p:cNvPr id="15" name="Text 13"/>
          <p:cNvSpPr txBox="1"/>
          <p:nvPr/>
        </p:nvSpPr>
        <p:spPr>
          <a:xfrm>
            <a:off x="731520" y="6400800"/>
            <a:ext cx="10972800" cy="274320"/>
          </a:xfrm>
          <a:prstGeom prst="rect">
            <a:avLst/>
          </a:prstGeom>
          <a:noFill/>
          <a:ln/>
        </p:spPr>
        <p:txBody>
          <a:bodyPr wrap="square" lIns="0" tIns="0" rIns="0" bIns="0" rtlCol="0" anchor="ctr">
            <a:normAutofit/>
          </a:bodyPr>
          <a:lstStyle/>
          <a:p>
            <a:pPr marL="0" indent="0">
              <a:buNone/>
            </a:pPr>
            <a:r>
              <a:rPr lang="en-US" sz="1000" b="1" kern="0" spc="200" dirty="0">
                <a:solidFill>
                  <a:srgbClr val="E2B84A"/>
                </a:solidFill>
                <a:latin typeface="Calibri" pitchFamily="34" charset="0"/>
                <a:ea typeface="Calibri" pitchFamily="34" charset="-122"/>
                <a:cs typeface="Calibri" pitchFamily="34" charset="-120"/>
              </a:rPr>
              <a:t>FROM YOUR WORDS   </a:t>
            </a:r>
            <a:r>
              <a:rPr lang="en-US" sz="1250" b="1" dirty="0">
                <a:solidFill>
                  <a:srgbClr val="F0CC6A"/>
                </a:solidFill>
                <a:latin typeface="Calibri" pitchFamily="34" charset="0"/>
                <a:ea typeface="Calibri" pitchFamily="34" charset="-122"/>
                <a:cs typeface="Calibri" pitchFamily="34" charset="-120"/>
              </a:rPr>
              <a:t>mitigate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B33"/>
        </a:solidFill>
        <a:effectLst/>
      </p:bgPr>
    </p:bg>
    <p:spTree>
      <p:nvGrpSpPr>
        <p:cNvPr id="1" name=""/>
        <p:cNvGrpSpPr/>
        <p:nvPr/>
      </p:nvGrpSpPr>
      <p:grpSpPr>
        <a:xfrm>
          <a:off x="0" y="0"/>
          <a:ext cx="0" cy="0"/>
          <a:chOff x="0" y="0"/>
          <a:chExt cx="0" cy="0"/>
        </a:xfrm>
      </p:grpSpPr>
      <p:sp>
        <p:nvSpPr>
          <p:cNvPr id="2" name="Shape 0"/>
          <p:cNvSpPr/>
          <p:nvPr/>
        </p:nvSpPr>
        <p:spPr>
          <a:xfrm>
            <a:off x="0" y="0"/>
            <a:ext cx="12188952" cy="1783080"/>
          </a:xfrm>
          <a:prstGeom prst="rect">
            <a:avLst/>
          </a:prstGeom>
          <a:solidFill>
            <a:srgbClr val="0A1428"/>
          </a:solidFill>
          <a:ln w="12700">
            <a:solidFill>
              <a:srgbClr val="0A1428"/>
            </a:solidFill>
            <a:prstDash val="solid"/>
          </a:ln>
        </p:spPr>
      </p:sp>
      <p:sp>
        <p:nvSpPr>
          <p:cNvPr id="3" name="Text 1"/>
          <p:cNvSpPr txBox="1"/>
          <p:nvPr/>
        </p:nvSpPr>
        <p:spPr>
          <a:xfrm>
            <a:off x="731520" y="347472"/>
            <a:ext cx="10515600" cy="274320"/>
          </a:xfrm>
          <a:prstGeom prst="rect">
            <a:avLst/>
          </a:prstGeom>
          <a:noFill/>
          <a:ln/>
        </p:spPr>
        <p:txBody>
          <a:bodyPr wrap="square" lIns="0" tIns="0" rIns="0" bIns="0" rtlCol="0" anchor="ctr">
            <a:normAutofit/>
          </a:bodyPr>
          <a:lstStyle/>
          <a:p>
            <a:pPr marL="0" indent="0">
              <a:buNone/>
            </a:pPr>
            <a:r>
              <a:rPr lang="en-US" sz="1200" b="1" kern="0" spc="400" dirty="0">
                <a:solidFill>
                  <a:srgbClr val="E2B84A"/>
                </a:solidFill>
                <a:latin typeface="Calibri" pitchFamily="34" charset="0"/>
                <a:ea typeface="Calibri" pitchFamily="34" charset="-122"/>
                <a:cs typeface="Calibri" pitchFamily="34" charset="-120"/>
              </a:rPr>
              <a:t>PART 3 · 15 MIN</a:t>
            </a:r>
            <a:endParaRPr lang="en-US" sz="1200" dirty="0"/>
          </a:p>
        </p:txBody>
      </p:sp>
      <p:sp>
        <p:nvSpPr>
          <p:cNvPr id="4" name="Text 2"/>
          <p:cNvSpPr txBox="1"/>
          <p:nvPr/>
        </p:nvSpPr>
        <p:spPr>
          <a:xfrm>
            <a:off x="731520" y="621792"/>
            <a:ext cx="10789920" cy="822960"/>
          </a:xfrm>
          <a:prstGeom prst="rect">
            <a:avLst/>
          </a:prstGeom>
          <a:noFill/>
          <a:ln/>
        </p:spPr>
        <p:txBody>
          <a:bodyPr wrap="square" lIns="0" tIns="0" rIns="0" bIns="0" rtlCol="0" anchor="ctr">
            <a:normAutofit/>
          </a:bodyPr>
          <a:lstStyle/>
          <a:p>
            <a:pPr marL="0" indent="0">
              <a:buNone/>
            </a:pPr>
            <a:r>
              <a:rPr lang="en-US" sz="3800" b="1" dirty="0">
                <a:solidFill>
                  <a:srgbClr val="F4EFE4"/>
                </a:solidFill>
                <a:latin typeface="Georgia" pitchFamily="34" charset="0"/>
                <a:ea typeface="Georgia" pitchFamily="34" charset="-122"/>
                <a:cs typeface="Georgia" pitchFamily="34" charset="-120"/>
              </a:rPr>
              <a:t>Monday Morning</a:t>
            </a:r>
            <a:endParaRPr lang="en-US" sz="3800" dirty="0"/>
          </a:p>
        </p:txBody>
      </p:sp>
      <p:sp>
        <p:nvSpPr>
          <p:cNvPr id="5" name="Text 3"/>
          <p:cNvSpPr txBox="1"/>
          <p:nvPr/>
        </p:nvSpPr>
        <p:spPr>
          <a:xfrm>
            <a:off x="731520" y="1353312"/>
            <a:ext cx="10789920" cy="329184"/>
          </a:xfrm>
          <a:prstGeom prst="rect">
            <a:avLst/>
          </a:prstGeom>
          <a:noFill/>
          <a:ln/>
        </p:spPr>
        <p:txBody>
          <a:bodyPr wrap="square" lIns="0" tIns="0" rIns="0" bIns="0" rtlCol="0" anchor="ctr">
            <a:normAutofit/>
          </a:bodyPr>
          <a:lstStyle/>
          <a:p>
            <a:pPr marL="0" indent="0">
              <a:buNone/>
            </a:pPr>
            <a:r>
              <a:rPr lang="en-US" sz="1400" dirty="0">
                <a:solidFill>
                  <a:srgbClr val="9FB0C6"/>
                </a:solidFill>
                <a:latin typeface="Calibri" pitchFamily="34" charset="0"/>
                <a:ea typeface="Calibri" pitchFamily="34" charset="-122"/>
                <a:cs typeface="Calibri" pitchFamily="34" charset="-120"/>
              </a:rPr>
              <a:t>임상가의 질문: "그래서 월요일에 뭘 시키면 되나요?" Table 2를 처방처럼.</a:t>
            </a:r>
            <a:endParaRPr lang="en-US" sz="1400" dirty="0"/>
          </a:p>
        </p:txBody>
      </p:sp>
      <p:sp>
        <p:nvSpPr>
          <p:cNvPr id="6" name="Shape 4"/>
          <p:cNvSpPr/>
          <p:nvPr/>
        </p:nvSpPr>
        <p:spPr>
          <a:xfrm>
            <a:off x="731520" y="2103120"/>
            <a:ext cx="4206240" cy="2743200"/>
          </a:xfrm>
          <a:prstGeom prst="roundRect">
            <a:avLst>
              <a:gd name="adj" fmla="val 4000"/>
            </a:avLst>
          </a:prstGeom>
          <a:solidFill>
            <a:srgbClr val="1C3158"/>
          </a:solidFill>
          <a:ln w="12700">
            <a:solidFill>
              <a:srgbClr val="1C3158"/>
            </a:solidFill>
            <a:prstDash val="solid"/>
          </a:ln>
        </p:spPr>
      </p:sp>
      <p:sp>
        <p:nvSpPr>
          <p:cNvPr id="7" name="Text 5"/>
          <p:cNvSpPr txBox="1"/>
          <p:nvPr/>
        </p:nvSpPr>
        <p:spPr>
          <a:xfrm>
            <a:off x="960120" y="2286000"/>
            <a:ext cx="3840480" cy="256032"/>
          </a:xfrm>
          <a:prstGeom prst="rect">
            <a:avLst/>
          </a:prstGeom>
          <a:noFill/>
          <a:ln/>
        </p:spPr>
        <p:txBody>
          <a:bodyPr wrap="square" lIns="0" tIns="0" rIns="0" bIns="0" rtlCol="0" anchor="ctr">
            <a:normAutofit/>
          </a:bodyPr>
          <a:lstStyle/>
          <a:p>
            <a:pPr marL="0" indent="0">
              <a:buNone/>
            </a:pPr>
            <a:r>
              <a:rPr lang="en-US" sz="1100" b="1" kern="0" spc="300" dirty="0">
                <a:solidFill>
                  <a:srgbClr val="E2B84A"/>
                </a:solidFill>
                <a:latin typeface="Calibri" pitchFamily="34" charset="0"/>
                <a:ea typeface="Calibri" pitchFamily="34" charset="-122"/>
                <a:cs typeface="Calibri" pitchFamily="34" charset="-120"/>
              </a:rPr>
              <a:t>FROM THE PAPER</a:t>
            </a:r>
            <a:endParaRPr lang="en-US" sz="1100" dirty="0"/>
          </a:p>
        </p:txBody>
      </p:sp>
      <p:sp>
        <p:nvSpPr>
          <p:cNvPr id="8" name="Text 6"/>
          <p:cNvSpPr txBox="1"/>
          <p:nvPr/>
        </p:nvSpPr>
        <p:spPr>
          <a:xfrm>
            <a:off x="960120" y="2606040"/>
            <a:ext cx="3794760" cy="2194560"/>
          </a:xfrm>
          <a:prstGeom prst="rect">
            <a:avLst/>
          </a:prstGeom>
          <a:noFill/>
          <a:ln/>
        </p:spPr>
        <p:txBody>
          <a:bodyPr wrap="square" lIns="0" tIns="0" rIns="0" bIns="0" rtlCol="0" anchor="t">
            <a:normAutofit/>
          </a:bodyPr>
          <a:lstStyle/>
          <a:p>
            <a:pPr marL="0" indent="0">
              <a:buNone/>
            </a:pPr>
            <a:r>
              <a:rPr lang="en-US" sz="1150" b="1" dirty="0">
                <a:solidFill>
                  <a:srgbClr val="F0CC6A"/>
                </a:solidFill>
                <a:latin typeface="Calibri" pitchFamily="34" charset="0"/>
                <a:ea typeface="Calibri" pitchFamily="34" charset="-122"/>
                <a:cs typeface="Calibri" pitchFamily="34" charset="-120"/>
              </a:rPr>
              <a:t>Exercises  </a:t>
            </a:r>
            <a:r>
              <a:rPr lang="en-US" sz="1250" dirty="0">
                <a:solidFill>
                  <a:srgbClr val="F4EFE4"/>
                </a:solidFill>
                <a:latin typeface="Calibri" pitchFamily="34" charset="0"/>
                <a:ea typeface="Calibri" pitchFamily="34" charset="-122"/>
                <a:cs typeface="Calibri" pitchFamily="34" charset="-120"/>
              </a:rPr>
              <a:t>hallux extension · lesser-toe extension · toe spread-out · short-foot · towel curl</a:t>
            </a:r>
            <a:endParaRPr lang="en-US" sz="1150" dirty="0"/>
          </a:p>
          <a:p>
            <a:pPr marL="0" indent="0">
              <a:buNone/>
            </a:pPr>
            <a:r>
              <a:rPr lang="en-US" sz="1150" b="1" dirty="0">
                <a:solidFill>
                  <a:srgbClr val="F0CC6A"/>
                </a:solidFill>
                <a:latin typeface="Calibri" pitchFamily="34" charset="0"/>
                <a:ea typeface="Calibri" pitchFamily="34" charset="-122"/>
                <a:cs typeface="Calibri" pitchFamily="34" charset="-120"/>
              </a:rPr>
              <a:t>Dose  </a:t>
            </a:r>
            <a:r>
              <a:rPr lang="en-US" sz="1250" dirty="0">
                <a:solidFill>
                  <a:srgbClr val="F4EFE4"/>
                </a:solidFill>
                <a:latin typeface="Calibri" pitchFamily="34" charset="0"/>
                <a:ea typeface="Calibri" pitchFamily="34" charset="-122"/>
                <a:cs typeface="Calibri" pitchFamily="34" charset="-120"/>
              </a:rPr>
              <a:t>12 sessions · 30 min · 3×/week · 4 weeks · 20-s rests</a:t>
            </a:r>
            <a:endParaRPr lang="en-US" sz="1150" dirty="0"/>
          </a:p>
          <a:p>
            <a:pPr marL="0" indent="0">
              <a:buNone/>
            </a:pPr>
            <a:r>
              <a:rPr lang="en-US" sz="1150" b="1" dirty="0">
                <a:solidFill>
                  <a:srgbClr val="F0CC6A"/>
                </a:solidFill>
                <a:latin typeface="Calibri" pitchFamily="34" charset="0"/>
                <a:ea typeface="Calibri" pitchFamily="34" charset="-122"/>
                <a:cs typeface="Calibri" pitchFamily="34" charset="-120"/>
              </a:rPr>
              <a:t>Progression  </a:t>
            </a:r>
            <a:r>
              <a:rPr lang="en-US" sz="1250" dirty="0">
                <a:solidFill>
                  <a:srgbClr val="F4EFE4"/>
                </a:solidFill>
                <a:latin typeface="Calibri" pitchFamily="34" charset="0"/>
                <a:ea typeface="Calibri" pitchFamily="34" charset="-122"/>
                <a:cs typeface="Calibri" pitchFamily="34" charset="-120"/>
              </a:rPr>
              <a:t>sitting → double-limb standing → single-limb with wall support</a:t>
            </a:r>
            <a:endParaRPr lang="en-US" sz="1150" dirty="0"/>
          </a:p>
          <a:p>
            <a:pPr marL="0" indent="0">
              <a:buNone/>
            </a:pPr>
            <a:r>
              <a:rPr lang="en-US" sz="1150" b="1" dirty="0">
                <a:solidFill>
                  <a:srgbClr val="F0CC6A"/>
                </a:solidFill>
                <a:latin typeface="Calibri" pitchFamily="34" charset="0"/>
                <a:ea typeface="Calibri" pitchFamily="34" charset="-122"/>
                <a:cs typeface="Calibri" pitchFamily="34" charset="-120"/>
              </a:rPr>
              <a:t>Load  </a:t>
            </a:r>
            <a:r>
              <a:rPr lang="en-US" sz="1250" dirty="0">
                <a:solidFill>
                  <a:srgbClr val="F4EFE4"/>
                </a:solidFill>
                <a:latin typeface="Calibri" pitchFamily="34" charset="0"/>
                <a:ea typeface="Calibri" pitchFamily="34" charset="-122"/>
                <a:cs typeface="Calibri" pitchFamily="34" charset="-120"/>
              </a:rPr>
              <a:t>towel curl + dumbbell from week 3, 1→3 kg</a:t>
            </a:r>
            <a:endParaRPr lang="en-US" sz="1150" dirty="0"/>
          </a:p>
        </p:txBody>
      </p:sp>
      <p:sp>
        <p:nvSpPr>
          <p:cNvPr id="9" name="Shape 7"/>
          <p:cNvSpPr/>
          <p:nvPr/>
        </p:nvSpPr>
        <p:spPr>
          <a:xfrm>
            <a:off x="5166360" y="2103120"/>
            <a:ext cx="6492240" cy="2743200"/>
          </a:xfrm>
          <a:prstGeom prst="roundRect">
            <a:avLst>
              <a:gd name="adj" fmla="val 4000"/>
            </a:avLst>
          </a:prstGeom>
          <a:solidFill>
            <a:srgbClr val="16284A"/>
          </a:solidFill>
          <a:ln w="19050">
            <a:solidFill>
              <a:srgbClr val="E2B84A"/>
            </a:solidFill>
            <a:prstDash val="solid"/>
          </a:ln>
        </p:spPr>
      </p:sp>
      <p:sp>
        <p:nvSpPr>
          <p:cNvPr id="10" name="Text 8"/>
          <p:cNvSpPr txBox="1"/>
          <p:nvPr/>
        </p:nvSpPr>
        <p:spPr>
          <a:xfrm>
            <a:off x="5440680" y="2286000"/>
            <a:ext cx="5943600" cy="256032"/>
          </a:xfrm>
          <a:prstGeom prst="rect">
            <a:avLst/>
          </a:prstGeom>
          <a:noFill/>
          <a:ln/>
        </p:spPr>
        <p:txBody>
          <a:bodyPr wrap="square" lIns="0" tIns="0" rIns="0" bIns="0" rtlCol="0" anchor="ctr">
            <a:normAutofit/>
          </a:bodyPr>
          <a:lstStyle/>
          <a:p>
            <a:pPr marL="0" indent="0">
              <a:buNone/>
            </a:pPr>
            <a:r>
              <a:rPr lang="en-US" sz="1100" b="1" kern="0" spc="300" dirty="0">
                <a:solidFill>
                  <a:srgbClr val="E2B84A"/>
                </a:solidFill>
                <a:latin typeface="Calibri" pitchFamily="34" charset="0"/>
                <a:ea typeface="Calibri" pitchFamily="34" charset="-122"/>
                <a:cs typeface="Calibri" pitchFamily="34" charset="-120"/>
              </a:rPr>
              <a:t>BRIAN ASKS</a:t>
            </a:r>
            <a:endParaRPr lang="en-US" sz="1100" dirty="0"/>
          </a:p>
        </p:txBody>
      </p:sp>
      <p:sp>
        <p:nvSpPr>
          <p:cNvPr id="11" name="Text 9"/>
          <p:cNvSpPr txBox="1"/>
          <p:nvPr/>
        </p:nvSpPr>
        <p:spPr>
          <a:xfrm>
            <a:off x="5440680" y="2606040"/>
            <a:ext cx="6035040" cy="2194560"/>
          </a:xfrm>
          <a:prstGeom prst="rect">
            <a:avLst/>
          </a:prstGeom>
          <a:noFill/>
          <a:ln/>
        </p:spPr>
        <p:txBody>
          <a:bodyPr wrap="square" lIns="0" tIns="0" rIns="0" bIns="0" rtlCol="0" anchor="t">
            <a:normAutofit/>
          </a:bodyPr>
          <a:lstStyle/>
          <a:p>
            <a:pPr marL="0" indent="0">
              <a:spcAft>
                <a:spcPts val="600"/>
              </a:spcAft>
              <a:buNone/>
            </a:pPr>
            <a:r>
              <a:rPr lang="en-US" sz="1400" dirty="0">
                <a:solidFill>
                  <a:srgbClr val="F4EFE4"/>
                </a:solidFill>
                <a:latin typeface="Calibri" pitchFamily="34" charset="0"/>
                <a:ea typeface="Calibri" pitchFamily="34" charset="-122"/>
                <a:cs typeface="Calibri" pitchFamily="34" charset="-120"/>
              </a:rPr>
              <a:t>·  A clinician stops you after the talk: </a:t>
            </a:r>
            <a:r>
              <a:rPr lang="en-US" sz="1400" dirty="0">
                <a:solidFill>
                  <a:srgbClr val="F4EFE4"/>
                </a:solidFill>
                <a:highlight>
                  <a:srgbClr val="FF0000"/>
                </a:highlight>
                <a:latin typeface="Calibri" pitchFamily="34" charset="0"/>
                <a:ea typeface="Calibri" pitchFamily="34" charset="-122"/>
                <a:cs typeface="Calibri" pitchFamily="34" charset="-120"/>
              </a:rPr>
              <a:t>'Monday morning, what do I give my CAI patient?' </a:t>
            </a:r>
            <a:r>
              <a:rPr lang="en-US" sz="1400" dirty="0">
                <a:solidFill>
                  <a:srgbClr val="F4EFE4"/>
                </a:solidFill>
                <a:latin typeface="Calibri" pitchFamily="34" charset="0"/>
                <a:ea typeface="Calibri" pitchFamily="34" charset="-122"/>
                <a:cs typeface="Calibri" pitchFamily="34" charset="-120"/>
              </a:rPr>
              <a:t>Answer in under a minute.</a:t>
            </a:r>
            <a:endParaRPr lang="en-US" sz="1400" dirty="0"/>
          </a:p>
          <a:p>
            <a:pPr marL="0" indent="0">
              <a:spcAft>
                <a:spcPts val="600"/>
              </a:spcAft>
              <a:buNone/>
            </a:pPr>
            <a:r>
              <a:rPr lang="en-US" sz="1400" dirty="0">
                <a:solidFill>
                  <a:srgbClr val="F4EFE4"/>
                </a:solidFill>
                <a:latin typeface="Calibri" pitchFamily="34" charset="0"/>
                <a:ea typeface="Calibri" pitchFamily="34" charset="-122"/>
                <a:cs typeface="Calibri" pitchFamily="34" charset="-120"/>
              </a:rPr>
              <a:t>·  Which of the five exercises would you keep if you could only keep two? Why those?</a:t>
            </a:r>
            <a:endParaRPr lang="en-US" sz="1400" dirty="0"/>
          </a:p>
          <a:p>
            <a:pPr marL="0" indent="0">
              <a:spcAft>
                <a:spcPts val="600"/>
              </a:spcAft>
              <a:buNone/>
            </a:pPr>
            <a:r>
              <a:rPr lang="en-US" sz="1400" dirty="0">
                <a:solidFill>
                  <a:srgbClr val="F4EFE4"/>
                </a:solidFill>
                <a:latin typeface="Calibri" pitchFamily="34" charset="0"/>
                <a:ea typeface="Calibri" pitchFamily="34" charset="-122"/>
                <a:cs typeface="Calibri" pitchFamily="34" charset="-120"/>
              </a:rPr>
              <a:t>·  How do you progress it week to week — say it as instructions, not as a table.</a:t>
            </a:r>
            <a:endParaRPr lang="en-US" sz="1400" dirty="0"/>
          </a:p>
          <a:p>
            <a:pPr marL="0" indent="0">
              <a:spcAft>
                <a:spcPts val="600"/>
              </a:spcAft>
              <a:buNone/>
            </a:pPr>
            <a:r>
              <a:rPr lang="en-US" sz="1400" dirty="0">
                <a:solidFill>
                  <a:srgbClr val="F4EFE4"/>
                </a:solidFill>
                <a:latin typeface="Calibri" pitchFamily="34" charset="0"/>
                <a:ea typeface="Calibri" pitchFamily="34" charset="-122"/>
                <a:cs typeface="Calibri" pitchFamily="34" charset="-120"/>
              </a:rPr>
              <a:t>·  What would you tell them NOT to expect after four weeks?</a:t>
            </a:r>
            <a:endParaRPr lang="en-US" sz="1400" dirty="0"/>
          </a:p>
          <a:p>
            <a:pPr marL="0" indent="0">
              <a:spcAft>
                <a:spcPts val="600"/>
              </a:spcAft>
              <a:buNone/>
            </a:pPr>
            <a:r>
              <a:rPr lang="en-US" sz="1400" dirty="0">
                <a:solidFill>
                  <a:srgbClr val="F4EFE4"/>
                </a:solidFill>
                <a:latin typeface="Calibri" pitchFamily="34" charset="0"/>
                <a:ea typeface="Calibri" pitchFamily="34" charset="-122"/>
                <a:cs typeface="Calibri" pitchFamily="34" charset="-120"/>
              </a:rPr>
              <a:t>·  Would you add trunk work anyway? Say why or why not in two sentences.</a:t>
            </a:r>
            <a:endParaRPr lang="en-US" sz="1400" dirty="0"/>
          </a:p>
        </p:txBody>
      </p:sp>
      <p:sp>
        <p:nvSpPr>
          <p:cNvPr id="12" name="Shape 10"/>
          <p:cNvSpPr/>
          <p:nvPr/>
        </p:nvSpPr>
        <p:spPr>
          <a:xfrm>
            <a:off x="731520" y="5029200"/>
            <a:ext cx="10927080" cy="1325880"/>
          </a:xfrm>
          <a:prstGeom prst="roundRect">
            <a:avLst>
              <a:gd name="adj" fmla="val 8276"/>
            </a:avLst>
          </a:prstGeom>
          <a:solidFill>
            <a:srgbClr val="1C3158"/>
          </a:solidFill>
          <a:ln w="12700">
            <a:solidFill>
              <a:srgbClr val="1C3158"/>
            </a:solidFill>
            <a:prstDash val="solid"/>
          </a:ln>
        </p:spPr>
      </p:sp>
      <p:sp>
        <p:nvSpPr>
          <p:cNvPr id="13" name="Text 11"/>
          <p:cNvSpPr txBox="1"/>
          <p:nvPr/>
        </p:nvSpPr>
        <p:spPr>
          <a:xfrm>
            <a:off x="960120" y="5138928"/>
            <a:ext cx="10469880" cy="256032"/>
          </a:xfrm>
          <a:prstGeom prst="rect">
            <a:avLst/>
          </a:prstGeom>
          <a:noFill/>
          <a:ln/>
        </p:spPr>
        <p:txBody>
          <a:bodyPr wrap="square" lIns="0" tIns="0" rIns="0" bIns="0" rtlCol="0" anchor="ctr">
            <a:normAutofit/>
          </a:bodyPr>
          <a:lstStyle/>
          <a:p>
            <a:pPr marL="0" indent="0">
              <a:buNone/>
            </a:pPr>
            <a:r>
              <a:rPr lang="en-US" sz="1100" b="1" kern="0" spc="300" dirty="0">
                <a:solidFill>
                  <a:srgbClr val="E2B84A"/>
                </a:solidFill>
                <a:latin typeface="Calibri" pitchFamily="34" charset="0"/>
                <a:ea typeface="Calibri" pitchFamily="34" charset="-122"/>
                <a:cs typeface="Calibri" pitchFamily="34" charset="-120"/>
              </a:rPr>
              <a:t>WHAT JUNE SAID · 발표 대본으로 갈 문장</a:t>
            </a:r>
            <a:endParaRPr lang="en-US" sz="1100" dirty="0"/>
          </a:p>
        </p:txBody>
      </p:sp>
      <p:sp>
        <p:nvSpPr>
          <p:cNvPr id="14" name="Text 12"/>
          <p:cNvSpPr txBox="1"/>
          <p:nvPr/>
        </p:nvSpPr>
        <p:spPr>
          <a:xfrm>
            <a:off x="960120" y="5440680"/>
            <a:ext cx="10469880" cy="822960"/>
          </a:xfrm>
          <a:prstGeom prst="rect">
            <a:avLst/>
          </a:prstGeom>
          <a:noFill/>
          <a:ln/>
        </p:spPr>
        <p:txBody>
          <a:bodyPr wrap="square" lIns="381" tIns="381" rIns="381" bIns="381" rtlCol="0" anchor="t"/>
          <a:lstStyle/>
          <a:p>
            <a:pPr marL="0" indent="0">
              <a:buNone/>
            </a:pP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B33"/>
        </a:solidFill>
        <a:effectLst/>
      </p:bgPr>
    </p:bg>
    <p:spTree>
      <p:nvGrpSpPr>
        <p:cNvPr id="1" name=""/>
        <p:cNvGrpSpPr/>
        <p:nvPr/>
      </p:nvGrpSpPr>
      <p:grpSpPr>
        <a:xfrm>
          <a:off x="0" y="0"/>
          <a:ext cx="0" cy="0"/>
          <a:chOff x="0" y="0"/>
          <a:chExt cx="0" cy="0"/>
        </a:xfrm>
      </p:grpSpPr>
      <p:sp>
        <p:nvSpPr>
          <p:cNvPr id="2" name="Shape 0"/>
          <p:cNvSpPr/>
          <p:nvPr/>
        </p:nvSpPr>
        <p:spPr>
          <a:xfrm>
            <a:off x="0" y="0"/>
            <a:ext cx="12188952" cy="1783080"/>
          </a:xfrm>
          <a:prstGeom prst="rect">
            <a:avLst/>
          </a:prstGeom>
          <a:solidFill>
            <a:srgbClr val="0A1428"/>
          </a:solidFill>
          <a:ln w="12700">
            <a:solidFill>
              <a:srgbClr val="0A1428"/>
            </a:solidFill>
            <a:prstDash val="solid"/>
          </a:ln>
        </p:spPr>
      </p:sp>
      <p:sp>
        <p:nvSpPr>
          <p:cNvPr id="3" name="Text 1"/>
          <p:cNvSpPr txBox="1"/>
          <p:nvPr/>
        </p:nvSpPr>
        <p:spPr>
          <a:xfrm>
            <a:off x="731520" y="347472"/>
            <a:ext cx="10515600" cy="274320"/>
          </a:xfrm>
          <a:prstGeom prst="rect">
            <a:avLst/>
          </a:prstGeom>
          <a:noFill/>
          <a:ln/>
        </p:spPr>
        <p:txBody>
          <a:bodyPr wrap="square" lIns="0" tIns="0" rIns="0" bIns="0" rtlCol="0" anchor="ctr">
            <a:normAutofit/>
          </a:bodyPr>
          <a:lstStyle/>
          <a:p>
            <a:pPr marL="0" indent="0">
              <a:buNone/>
            </a:pPr>
            <a:r>
              <a:rPr lang="en-US" sz="1200" b="1" kern="0" spc="400" dirty="0">
                <a:solidFill>
                  <a:srgbClr val="E2B84A"/>
                </a:solidFill>
                <a:latin typeface="Calibri" pitchFamily="34" charset="0"/>
                <a:ea typeface="Calibri" pitchFamily="34" charset="-122"/>
                <a:cs typeface="Calibri" pitchFamily="34" charset="-120"/>
              </a:rPr>
              <a:t>PART 4 · 10 MIN</a:t>
            </a:r>
            <a:endParaRPr lang="en-US" sz="1200" dirty="0"/>
          </a:p>
        </p:txBody>
      </p:sp>
      <p:sp>
        <p:nvSpPr>
          <p:cNvPr id="4" name="Text 2"/>
          <p:cNvSpPr txBox="1"/>
          <p:nvPr/>
        </p:nvSpPr>
        <p:spPr>
          <a:xfrm>
            <a:off x="731520" y="621792"/>
            <a:ext cx="10789920" cy="822960"/>
          </a:xfrm>
          <a:prstGeom prst="rect">
            <a:avLst/>
          </a:prstGeom>
          <a:noFill/>
          <a:ln/>
        </p:spPr>
        <p:txBody>
          <a:bodyPr wrap="square" lIns="0" tIns="0" rIns="0" bIns="0" rtlCol="0" anchor="ctr">
            <a:normAutofit/>
          </a:bodyPr>
          <a:lstStyle/>
          <a:p>
            <a:pPr marL="0" indent="0">
              <a:buNone/>
            </a:pPr>
            <a:r>
              <a:rPr lang="en-US" sz="3800" b="1" dirty="0">
                <a:solidFill>
                  <a:srgbClr val="F4EFE4"/>
                </a:solidFill>
                <a:latin typeface="Georgia" pitchFamily="34" charset="0"/>
                <a:ea typeface="Georgia" pitchFamily="34" charset="-122"/>
                <a:cs typeface="Georgia" pitchFamily="34" charset="-120"/>
              </a:rPr>
              <a:t>Which Way Is Better, and Why</a:t>
            </a:r>
            <a:endParaRPr lang="en-US" sz="3800" dirty="0"/>
          </a:p>
        </p:txBody>
      </p:sp>
      <p:sp>
        <p:nvSpPr>
          <p:cNvPr id="5" name="Text 3"/>
          <p:cNvSpPr txBox="1"/>
          <p:nvPr/>
        </p:nvSpPr>
        <p:spPr>
          <a:xfrm>
            <a:off x="731520" y="1353312"/>
            <a:ext cx="10789920" cy="329184"/>
          </a:xfrm>
          <a:prstGeom prst="rect">
            <a:avLst/>
          </a:prstGeom>
          <a:noFill/>
          <a:ln/>
        </p:spPr>
        <p:txBody>
          <a:bodyPr wrap="square" lIns="0" tIns="0" rIns="0" bIns="0" rtlCol="0" anchor="ctr">
            <a:normAutofit/>
          </a:bodyPr>
          <a:lstStyle/>
          <a:p>
            <a:pPr marL="0" indent="0">
              <a:buNone/>
            </a:pPr>
            <a:r>
              <a:rPr lang="en-US" sz="1400" dirty="0">
                <a:solidFill>
                  <a:srgbClr val="9FB0C6"/>
                </a:solidFill>
                <a:latin typeface="Calibri" pitchFamily="34" charset="0"/>
                <a:ea typeface="Calibri" pitchFamily="34" charset="-122"/>
                <a:cs typeface="Calibri" pitchFamily="34" charset="-120"/>
              </a:rPr>
              <a:t>회전 방향. (+)가 뭔지, 왜 줄어든 게 '좋은' 변화인지.</a:t>
            </a:r>
            <a:endParaRPr lang="en-US" sz="1400" dirty="0"/>
          </a:p>
        </p:txBody>
      </p:sp>
      <p:sp>
        <p:nvSpPr>
          <p:cNvPr id="6" name="Shape 4"/>
          <p:cNvSpPr/>
          <p:nvPr/>
        </p:nvSpPr>
        <p:spPr>
          <a:xfrm>
            <a:off x="731520" y="2103120"/>
            <a:ext cx="4206240" cy="2743200"/>
          </a:xfrm>
          <a:prstGeom prst="roundRect">
            <a:avLst>
              <a:gd name="adj" fmla="val 4000"/>
            </a:avLst>
          </a:prstGeom>
          <a:solidFill>
            <a:srgbClr val="1C3158"/>
          </a:solidFill>
          <a:ln w="12700">
            <a:solidFill>
              <a:srgbClr val="1C3158"/>
            </a:solidFill>
            <a:prstDash val="solid"/>
          </a:ln>
        </p:spPr>
      </p:sp>
      <p:sp>
        <p:nvSpPr>
          <p:cNvPr id="7" name="Text 5"/>
          <p:cNvSpPr txBox="1"/>
          <p:nvPr/>
        </p:nvSpPr>
        <p:spPr>
          <a:xfrm>
            <a:off x="960120" y="2286000"/>
            <a:ext cx="3840480" cy="256032"/>
          </a:xfrm>
          <a:prstGeom prst="rect">
            <a:avLst/>
          </a:prstGeom>
          <a:noFill/>
          <a:ln/>
        </p:spPr>
        <p:txBody>
          <a:bodyPr wrap="square" lIns="0" tIns="0" rIns="0" bIns="0" rtlCol="0" anchor="ctr">
            <a:normAutofit/>
          </a:bodyPr>
          <a:lstStyle/>
          <a:p>
            <a:pPr marL="0" indent="0">
              <a:buNone/>
            </a:pPr>
            <a:r>
              <a:rPr lang="en-US" sz="1100" b="1" kern="0" spc="300" dirty="0">
                <a:solidFill>
                  <a:srgbClr val="E2B84A"/>
                </a:solidFill>
                <a:latin typeface="Calibri" pitchFamily="34" charset="0"/>
                <a:ea typeface="Calibri" pitchFamily="34" charset="-122"/>
                <a:cs typeface="Calibri" pitchFamily="34" charset="-120"/>
              </a:rPr>
              <a:t>FROM THE PAPER</a:t>
            </a:r>
            <a:endParaRPr lang="en-US" sz="1100" dirty="0"/>
          </a:p>
        </p:txBody>
      </p:sp>
      <p:sp>
        <p:nvSpPr>
          <p:cNvPr id="8" name="Text 6"/>
          <p:cNvSpPr txBox="1"/>
          <p:nvPr/>
        </p:nvSpPr>
        <p:spPr>
          <a:xfrm>
            <a:off x="960120" y="2606040"/>
            <a:ext cx="3794760" cy="2194560"/>
          </a:xfrm>
          <a:prstGeom prst="rect">
            <a:avLst/>
          </a:prstGeom>
          <a:noFill/>
          <a:ln/>
        </p:spPr>
        <p:txBody>
          <a:bodyPr wrap="square" lIns="0" tIns="0" rIns="0" bIns="0" rtlCol="0" anchor="t">
            <a:normAutofit/>
          </a:bodyPr>
          <a:lstStyle/>
          <a:p>
            <a:pPr marL="0" indent="0">
              <a:buNone/>
            </a:pPr>
            <a:r>
              <a:rPr lang="en-US" sz="1150" b="1" dirty="0">
                <a:solidFill>
                  <a:srgbClr val="F0CC6A"/>
                </a:solidFill>
                <a:latin typeface="Calibri" pitchFamily="34" charset="0"/>
                <a:ea typeface="Calibri" pitchFamily="34" charset="-122"/>
                <a:cs typeface="Calibri" pitchFamily="34" charset="-120"/>
              </a:rPr>
              <a:t>Sign  </a:t>
            </a:r>
            <a:r>
              <a:rPr lang="en-US" sz="1250" dirty="0">
                <a:solidFill>
                  <a:srgbClr val="F4EFE4"/>
                </a:solidFill>
                <a:latin typeface="Calibri" pitchFamily="34" charset="0"/>
                <a:ea typeface="Calibri" pitchFamily="34" charset="-122"/>
                <a:cs typeface="Calibri" pitchFamily="34" charset="-120"/>
              </a:rPr>
              <a:t>(+) ipsilateral — toward the standing leg · (−) contralateral</a:t>
            </a:r>
            <a:endParaRPr lang="en-US" sz="1150" dirty="0"/>
          </a:p>
          <a:p>
            <a:pPr marL="0" indent="0">
              <a:buNone/>
            </a:pPr>
            <a:r>
              <a:rPr lang="en-US" sz="1150" b="1" dirty="0">
                <a:solidFill>
                  <a:srgbClr val="F0CC6A"/>
                </a:solidFill>
                <a:latin typeface="Calibri" pitchFamily="34" charset="0"/>
                <a:ea typeface="Calibri" pitchFamily="34" charset="-122"/>
                <a:cs typeface="Calibri" pitchFamily="34" charset="-120"/>
              </a:rPr>
              <a:t>FCG  </a:t>
            </a:r>
            <a:r>
              <a:rPr lang="en-US" sz="1250" dirty="0">
                <a:solidFill>
                  <a:srgbClr val="F4EFE4"/>
                </a:solidFill>
                <a:latin typeface="Calibri" pitchFamily="34" charset="0"/>
                <a:ea typeface="Calibri" pitchFamily="34" charset="-122"/>
                <a:cs typeface="Calibri" pitchFamily="34" charset="-120"/>
              </a:rPr>
              <a:t>IC 2.54° → −0.05° · peak 8.84° → 4.84°</a:t>
            </a:r>
            <a:endParaRPr lang="en-US" sz="1150" dirty="0"/>
          </a:p>
          <a:p>
            <a:pPr marL="0" indent="0">
              <a:buNone/>
            </a:pPr>
            <a:r>
              <a:rPr lang="en-US" sz="1150" b="1" dirty="0">
                <a:solidFill>
                  <a:srgbClr val="F0CC6A"/>
                </a:solidFill>
                <a:latin typeface="Calibri" pitchFamily="34" charset="0"/>
                <a:ea typeface="Calibri" pitchFamily="34" charset="-122"/>
                <a:cs typeface="Calibri" pitchFamily="34" charset="-120"/>
              </a:rPr>
              <a:t>Meaning  </a:t>
            </a:r>
            <a:r>
              <a:rPr lang="en-US" sz="1250" dirty="0">
                <a:solidFill>
                  <a:srgbClr val="F4EFE4"/>
                </a:solidFill>
                <a:latin typeface="Calibri" pitchFamily="34" charset="0"/>
                <a:ea typeface="Calibri" pitchFamily="34" charset="-122"/>
                <a:cs typeface="Calibri" pitchFamily="34" charset="-120"/>
              </a:rPr>
              <a:t>less rotation toward the stance limb = less of the compensation seen in CAI</a:t>
            </a:r>
            <a:endParaRPr lang="en-US" sz="1150" dirty="0"/>
          </a:p>
          <a:p>
            <a:pPr marL="0" indent="0">
              <a:buNone/>
            </a:pPr>
            <a:r>
              <a:rPr lang="en-US" sz="1150" b="1" dirty="0">
                <a:solidFill>
                  <a:srgbClr val="F0CC6A"/>
                </a:solidFill>
                <a:latin typeface="Calibri" pitchFamily="34" charset="0"/>
                <a:ea typeface="Calibri" pitchFamily="34" charset="-122"/>
                <a:cs typeface="Calibri" pitchFamily="34" charset="-120"/>
              </a:rPr>
              <a:t>Caveat  </a:t>
            </a:r>
            <a:r>
              <a:rPr lang="en-US" sz="1250" dirty="0">
                <a:solidFill>
                  <a:srgbClr val="F4EFE4"/>
                </a:solidFill>
                <a:latin typeface="Calibri" pitchFamily="34" charset="0"/>
                <a:ea typeface="Calibri" pitchFamily="34" charset="-122"/>
                <a:cs typeface="Calibri" pitchFamily="34" charset="-120"/>
              </a:rPr>
              <a:t>a change in strategy, not a measured gain in stability</a:t>
            </a:r>
            <a:endParaRPr lang="en-US" sz="1150" dirty="0"/>
          </a:p>
        </p:txBody>
      </p:sp>
      <p:sp>
        <p:nvSpPr>
          <p:cNvPr id="9" name="Shape 7"/>
          <p:cNvSpPr/>
          <p:nvPr/>
        </p:nvSpPr>
        <p:spPr>
          <a:xfrm>
            <a:off x="5166360" y="2103120"/>
            <a:ext cx="6492240" cy="2743200"/>
          </a:xfrm>
          <a:prstGeom prst="roundRect">
            <a:avLst>
              <a:gd name="adj" fmla="val 4000"/>
            </a:avLst>
          </a:prstGeom>
          <a:solidFill>
            <a:srgbClr val="16284A"/>
          </a:solidFill>
          <a:ln w="19050">
            <a:solidFill>
              <a:srgbClr val="E2B84A"/>
            </a:solidFill>
            <a:prstDash val="solid"/>
          </a:ln>
        </p:spPr>
      </p:sp>
      <p:sp>
        <p:nvSpPr>
          <p:cNvPr id="10" name="Text 8"/>
          <p:cNvSpPr txBox="1"/>
          <p:nvPr/>
        </p:nvSpPr>
        <p:spPr>
          <a:xfrm>
            <a:off x="5440680" y="2286000"/>
            <a:ext cx="5943600" cy="256032"/>
          </a:xfrm>
          <a:prstGeom prst="rect">
            <a:avLst/>
          </a:prstGeom>
          <a:noFill/>
          <a:ln/>
        </p:spPr>
        <p:txBody>
          <a:bodyPr wrap="square" lIns="0" tIns="0" rIns="0" bIns="0" rtlCol="0" anchor="ctr">
            <a:normAutofit/>
          </a:bodyPr>
          <a:lstStyle/>
          <a:p>
            <a:pPr marL="0" indent="0">
              <a:buNone/>
            </a:pPr>
            <a:r>
              <a:rPr lang="en-US" sz="1100" b="1" kern="0" spc="300" dirty="0">
                <a:solidFill>
                  <a:srgbClr val="E2B84A"/>
                </a:solidFill>
                <a:latin typeface="Calibri" pitchFamily="34" charset="0"/>
                <a:ea typeface="Calibri" pitchFamily="34" charset="-122"/>
                <a:cs typeface="Calibri" pitchFamily="34" charset="-120"/>
              </a:rPr>
              <a:t>BRIAN ASKS</a:t>
            </a:r>
            <a:endParaRPr lang="en-US" sz="1100" dirty="0"/>
          </a:p>
        </p:txBody>
      </p:sp>
      <p:sp>
        <p:nvSpPr>
          <p:cNvPr id="11" name="Text 9"/>
          <p:cNvSpPr txBox="1"/>
          <p:nvPr/>
        </p:nvSpPr>
        <p:spPr>
          <a:xfrm>
            <a:off x="5440680" y="2606040"/>
            <a:ext cx="6035040" cy="2194560"/>
          </a:xfrm>
          <a:prstGeom prst="rect">
            <a:avLst/>
          </a:prstGeom>
          <a:noFill/>
          <a:ln/>
        </p:spPr>
        <p:txBody>
          <a:bodyPr wrap="square" lIns="0" tIns="0" rIns="0" bIns="0" rtlCol="0" anchor="t">
            <a:normAutofit/>
          </a:bodyPr>
          <a:lstStyle/>
          <a:p>
            <a:pPr marL="0" indent="0">
              <a:spcAft>
                <a:spcPts val="600"/>
              </a:spcAft>
              <a:buNone/>
            </a:pPr>
            <a:r>
              <a:rPr lang="en-US" sz="1400" dirty="0">
                <a:solidFill>
                  <a:srgbClr val="F4EFE4"/>
                </a:solidFill>
                <a:latin typeface="Calibri" pitchFamily="34" charset="0"/>
                <a:ea typeface="Calibri" pitchFamily="34" charset="-122"/>
                <a:cs typeface="Calibri" pitchFamily="34" charset="-120"/>
              </a:rPr>
              <a:t>·  Stand up and show me: which way is 'toward the standing leg'?</a:t>
            </a:r>
            <a:endParaRPr lang="en-US" sz="1400" dirty="0"/>
          </a:p>
          <a:p>
            <a:pPr marL="0" indent="0">
              <a:spcAft>
                <a:spcPts val="600"/>
              </a:spcAft>
              <a:buNone/>
            </a:pPr>
            <a:r>
              <a:rPr lang="en-US" sz="1400" dirty="0">
                <a:solidFill>
                  <a:srgbClr val="F4EFE4"/>
                </a:solidFill>
                <a:latin typeface="Calibri" pitchFamily="34" charset="0"/>
                <a:ea typeface="Calibri" pitchFamily="34" charset="-122"/>
                <a:cs typeface="Calibri" pitchFamily="34" charset="-120"/>
              </a:rPr>
              <a:t>·  Why is less rotation toward that side a good thing for someone with CAI?</a:t>
            </a:r>
            <a:endParaRPr lang="en-US" sz="1400" dirty="0"/>
          </a:p>
          <a:p>
            <a:pPr marL="0" indent="0">
              <a:spcAft>
                <a:spcPts val="600"/>
              </a:spcAft>
              <a:buNone/>
            </a:pPr>
            <a:r>
              <a:rPr lang="en-US" sz="1400" dirty="0">
                <a:solidFill>
                  <a:srgbClr val="F4EFE4"/>
                </a:solidFill>
                <a:latin typeface="Calibri" pitchFamily="34" charset="0"/>
                <a:ea typeface="Calibri" pitchFamily="34" charset="-122"/>
                <a:cs typeface="Calibri" pitchFamily="34" charset="-120"/>
              </a:rPr>
              <a:t>·  Could someone argue that less rotation is worse — stiffer, less adaptive? What do you say?</a:t>
            </a:r>
            <a:endParaRPr lang="en-US" sz="1400" dirty="0"/>
          </a:p>
          <a:p>
            <a:pPr marL="0" indent="0">
              <a:spcAft>
                <a:spcPts val="600"/>
              </a:spcAft>
              <a:buNone/>
            </a:pPr>
            <a:r>
              <a:rPr lang="en-US" sz="1400" dirty="0">
                <a:solidFill>
                  <a:srgbClr val="F4EFE4"/>
                </a:solidFill>
                <a:latin typeface="Calibri" pitchFamily="34" charset="0"/>
                <a:ea typeface="Calibri" pitchFamily="34" charset="-122"/>
                <a:cs typeface="Calibri" pitchFamily="34" charset="-120"/>
              </a:rPr>
              <a:t>·  The FCG went from +2.5° to about zero at contact. Is zero the goal, or just the direction?</a:t>
            </a:r>
            <a:endParaRPr lang="en-US" sz="1400" dirty="0"/>
          </a:p>
        </p:txBody>
      </p:sp>
      <p:sp>
        <p:nvSpPr>
          <p:cNvPr id="12" name="Shape 10"/>
          <p:cNvSpPr/>
          <p:nvPr/>
        </p:nvSpPr>
        <p:spPr>
          <a:xfrm>
            <a:off x="731520" y="5029200"/>
            <a:ext cx="10927080" cy="1325880"/>
          </a:xfrm>
          <a:prstGeom prst="roundRect">
            <a:avLst>
              <a:gd name="adj" fmla="val 8276"/>
            </a:avLst>
          </a:prstGeom>
          <a:solidFill>
            <a:srgbClr val="1C3158"/>
          </a:solidFill>
          <a:ln w="12700">
            <a:solidFill>
              <a:srgbClr val="1C3158"/>
            </a:solidFill>
            <a:prstDash val="solid"/>
          </a:ln>
        </p:spPr>
      </p:sp>
      <p:sp>
        <p:nvSpPr>
          <p:cNvPr id="13" name="Text 11"/>
          <p:cNvSpPr txBox="1"/>
          <p:nvPr/>
        </p:nvSpPr>
        <p:spPr>
          <a:xfrm>
            <a:off x="960120" y="5138928"/>
            <a:ext cx="10469880" cy="256032"/>
          </a:xfrm>
          <a:prstGeom prst="rect">
            <a:avLst/>
          </a:prstGeom>
          <a:noFill/>
          <a:ln/>
        </p:spPr>
        <p:txBody>
          <a:bodyPr wrap="square" lIns="0" tIns="0" rIns="0" bIns="0" rtlCol="0" anchor="ctr">
            <a:normAutofit/>
          </a:bodyPr>
          <a:lstStyle/>
          <a:p>
            <a:pPr marL="0" indent="0">
              <a:buNone/>
            </a:pPr>
            <a:r>
              <a:rPr lang="en-US" sz="1100" b="1" kern="0" spc="300" dirty="0">
                <a:solidFill>
                  <a:srgbClr val="E2B84A"/>
                </a:solidFill>
                <a:latin typeface="Calibri" pitchFamily="34" charset="0"/>
                <a:ea typeface="Calibri" pitchFamily="34" charset="-122"/>
                <a:cs typeface="Calibri" pitchFamily="34" charset="-120"/>
              </a:rPr>
              <a:t>WHAT JUNE SAID · 발표 대본으로 갈 문장</a:t>
            </a:r>
            <a:endParaRPr lang="en-US" sz="1100" dirty="0"/>
          </a:p>
        </p:txBody>
      </p:sp>
      <p:sp>
        <p:nvSpPr>
          <p:cNvPr id="14" name="Text 12"/>
          <p:cNvSpPr txBox="1"/>
          <p:nvPr/>
        </p:nvSpPr>
        <p:spPr>
          <a:xfrm>
            <a:off x="960120" y="5440680"/>
            <a:ext cx="10469880" cy="822960"/>
          </a:xfrm>
          <a:prstGeom prst="rect">
            <a:avLst/>
          </a:prstGeom>
          <a:noFill/>
          <a:ln/>
        </p:spPr>
        <p:txBody>
          <a:bodyPr wrap="square" lIns="381" tIns="381" rIns="381" bIns="381" rtlCol="0" anchor="t"/>
          <a:lstStyle/>
          <a:p>
            <a:pPr marL="0" indent="0">
              <a:buNone/>
            </a:pP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B33"/>
        </a:solidFill>
        <a:effectLst/>
      </p:bgPr>
    </p:bg>
    <p:spTree>
      <p:nvGrpSpPr>
        <p:cNvPr id="1" name=""/>
        <p:cNvGrpSpPr/>
        <p:nvPr/>
      </p:nvGrpSpPr>
      <p:grpSpPr>
        <a:xfrm>
          <a:off x="0" y="0"/>
          <a:ext cx="0" cy="0"/>
          <a:chOff x="0" y="0"/>
          <a:chExt cx="0" cy="0"/>
        </a:xfrm>
      </p:grpSpPr>
      <p:sp>
        <p:nvSpPr>
          <p:cNvPr id="2" name="Shape 0"/>
          <p:cNvSpPr/>
          <p:nvPr/>
        </p:nvSpPr>
        <p:spPr>
          <a:xfrm>
            <a:off x="0" y="0"/>
            <a:ext cx="12188952" cy="1783080"/>
          </a:xfrm>
          <a:prstGeom prst="rect">
            <a:avLst/>
          </a:prstGeom>
          <a:solidFill>
            <a:srgbClr val="0A1428"/>
          </a:solidFill>
          <a:ln w="12700">
            <a:solidFill>
              <a:srgbClr val="0A1428"/>
            </a:solidFill>
            <a:prstDash val="solid"/>
          </a:ln>
        </p:spPr>
      </p:sp>
      <p:sp>
        <p:nvSpPr>
          <p:cNvPr id="3" name="Text 1"/>
          <p:cNvSpPr txBox="1"/>
          <p:nvPr/>
        </p:nvSpPr>
        <p:spPr>
          <a:xfrm>
            <a:off x="731520" y="347472"/>
            <a:ext cx="10515600" cy="274320"/>
          </a:xfrm>
          <a:prstGeom prst="rect">
            <a:avLst/>
          </a:prstGeom>
          <a:noFill/>
          <a:ln/>
        </p:spPr>
        <p:txBody>
          <a:bodyPr wrap="square" lIns="0" tIns="0" rIns="0" bIns="0" rtlCol="0" anchor="ctr">
            <a:normAutofit/>
          </a:bodyPr>
          <a:lstStyle/>
          <a:p>
            <a:pPr marL="0" indent="0">
              <a:buNone/>
            </a:pPr>
            <a:r>
              <a:rPr lang="en-US" sz="1200" b="1" kern="0" spc="400" dirty="0">
                <a:solidFill>
                  <a:srgbClr val="E2B84A"/>
                </a:solidFill>
                <a:latin typeface="Calibri" pitchFamily="34" charset="0"/>
                <a:ea typeface="Calibri" pitchFamily="34" charset="-122"/>
                <a:cs typeface="Calibri" pitchFamily="34" charset="-120"/>
              </a:rPr>
              <a:t>PART 5 · 10 MIN</a:t>
            </a:r>
            <a:endParaRPr lang="en-US" sz="1200" dirty="0"/>
          </a:p>
        </p:txBody>
      </p:sp>
      <p:sp>
        <p:nvSpPr>
          <p:cNvPr id="4" name="Text 2"/>
          <p:cNvSpPr txBox="1"/>
          <p:nvPr/>
        </p:nvSpPr>
        <p:spPr>
          <a:xfrm>
            <a:off x="731520" y="621792"/>
            <a:ext cx="10789920" cy="822960"/>
          </a:xfrm>
          <a:prstGeom prst="rect">
            <a:avLst/>
          </a:prstGeom>
          <a:noFill/>
          <a:ln/>
        </p:spPr>
        <p:txBody>
          <a:bodyPr wrap="square" lIns="0" tIns="0" rIns="0" bIns="0" rtlCol="0" anchor="ctr">
            <a:normAutofit/>
          </a:bodyPr>
          <a:lstStyle/>
          <a:p>
            <a:pPr marL="0" indent="0">
              <a:buNone/>
            </a:pPr>
            <a:r>
              <a:rPr lang="en-US" sz="3800" b="1" dirty="0">
                <a:solidFill>
                  <a:srgbClr val="F4EFE4"/>
                </a:solidFill>
                <a:latin typeface="Georgia" pitchFamily="34" charset="0"/>
                <a:ea typeface="Georgia" pitchFamily="34" charset="-122"/>
                <a:cs typeface="Georgia" pitchFamily="34" charset="-120"/>
              </a:rPr>
              <a:t>The Follow-Up Study</a:t>
            </a:r>
            <a:endParaRPr lang="en-US" sz="3800" dirty="0"/>
          </a:p>
        </p:txBody>
      </p:sp>
      <p:sp>
        <p:nvSpPr>
          <p:cNvPr id="5" name="Text 3"/>
          <p:cNvSpPr txBox="1"/>
          <p:nvPr/>
        </p:nvSpPr>
        <p:spPr>
          <a:xfrm>
            <a:off x="731520" y="1353312"/>
            <a:ext cx="10789920" cy="329184"/>
          </a:xfrm>
          <a:prstGeom prst="rect">
            <a:avLst/>
          </a:prstGeom>
          <a:noFill/>
          <a:ln/>
        </p:spPr>
        <p:txBody>
          <a:bodyPr wrap="square" lIns="0" tIns="0" rIns="0" bIns="0" rtlCol="0" anchor="ctr">
            <a:normAutofit/>
          </a:bodyPr>
          <a:lstStyle/>
          <a:p>
            <a:pPr marL="0" indent="0">
              <a:buNone/>
            </a:pPr>
            <a:r>
              <a:rPr lang="en-US" sz="1400" dirty="0">
                <a:solidFill>
                  <a:srgbClr val="9FB0C6"/>
                </a:solidFill>
                <a:latin typeface="Calibri" pitchFamily="34" charset="0"/>
                <a:ea typeface="Calibri" pitchFamily="34" charset="-122"/>
                <a:cs typeface="Calibri" pitchFamily="34" charset="-120"/>
              </a:rPr>
              <a:t>다음 연구 하나. 왜 그것부터인지.</a:t>
            </a:r>
            <a:endParaRPr lang="en-US" sz="1400" dirty="0"/>
          </a:p>
        </p:txBody>
      </p:sp>
      <p:sp>
        <p:nvSpPr>
          <p:cNvPr id="6" name="Shape 4"/>
          <p:cNvSpPr/>
          <p:nvPr/>
        </p:nvSpPr>
        <p:spPr>
          <a:xfrm>
            <a:off x="731520" y="2103120"/>
            <a:ext cx="4206240" cy="2743200"/>
          </a:xfrm>
          <a:prstGeom prst="roundRect">
            <a:avLst>
              <a:gd name="adj" fmla="val 4000"/>
            </a:avLst>
          </a:prstGeom>
          <a:solidFill>
            <a:srgbClr val="1C3158"/>
          </a:solidFill>
          <a:ln w="12700">
            <a:solidFill>
              <a:srgbClr val="1C3158"/>
            </a:solidFill>
            <a:prstDash val="solid"/>
          </a:ln>
        </p:spPr>
      </p:sp>
      <p:sp>
        <p:nvSpPr>
          <p:cNvPr id="7" name="Text 5"/>
          <p:cNvSpPr txBox="1"/>
          <p:nvPr/>
        </p:nvSpPr>
        <p:spPr>
          <a:xfrm>
            <a:off x="960120" y="2286000"/>
            <a:ext cx="3840480" cy="256032"/>
          </a:xfrm>
          <a:prstGeom prst="rect">
            <a:avLst/>
          </a:prstGeom>
          <a:noFill/>
          <a:ln/>
        </p:spPr>
        <p:txBody>
          <a:bodyPr wrap="square" lIns="0" tIns="0" rIns="0" bIns="0" rtlCol="0" anchor="ctr">
            <a:normAutofit/>
          </a:bodyPr>
          <a:lstStyle/>
          <a:p>
            <a:pPr marL="0" indent="0">
              <a:buNone/>
            </a:pPr>
            <a:r>
              <a:rPr lang="en-US" sz="1100" b="1" kern="0" spc="300" dirty="0">
                <a:solidFill>
                  <a:srgbClr val="E2B84A"/>
                </a:solidFill>
                <a:latin typeface="Calibri" pitchFamily="34" charset="0"/>
                <a:ea typeface="Calibri" pitchFamily="34" charset="-122"/>
                <a:cs typeface="Calibri" pitchFamily="34" charset="-120"/>
              </a:rPr>
              <a:t>FROM THE PAPER</a:t>
            </a:r>
            <a:endParaRPr lang="en-US" sz="1100" dirty="0"/>
          </a:p>
        </p:txBody>
      </p:sp>
      <p:sp>
        <p:nvSpPr>
          <p:cNvPr id="8" name="Text 6"/>
          <p:cNvSpPr txBox="1"/>
          <p:nvPr/>
        </p:nvSpPr>
        <p:spPr>
          <a:xfrm>
            <a:off x="960120" y="2606040"/>
            <a:ext cx="3794760" cy="2194560"/>
          </a:xfrm>
          <a:prstGeom prst="rect">
            <a:avLst/>
          </a:prstGeom>
          <a:noFill/>
          <a:ln/>
        </p:spPr>
        <p:txBody>
          <a:bodyPr wrap="square" lIns="0" tIns="0" rIns="0" bIns="0" rtlCol="0" anchor="t">
            <a:normAutofit/>
          </a:bodyPr>
          <a:lstStyle/>
          <a:p>
            <a:pPr marL="0" indent="0">
              <a:buNone/>
            </a:pPr>
            <a:r>
              <a:rPr lang="en-US" sz="1150" b="1" dirty="0">
                <a:solidFill>
                  <a:srgbClr val="F0CC6A"/>
                </a:solidFill>
                <a:latin typeface="Calibri" pitchFamily="34" charset="0"/>
                <a:ea typeface="Calibri" pitchFamily="34" charset="-122"/>
                <a:cs typeface="Calibri" pitchFamily="34" charset="-120"/>
              </a:rPr>
              <a:t>Gaps the paper names  </a:t>
            </a:r>
            <a:r>
              <a:rPr lang="en-US" sz="1250" dirty="0">
                <a:solidFill>
                  <a:srgbClr val="F4EFE4"/>
                </a:solidFill>
                <a:latin typeface="Calibri" pitchFamily="34" charset="0"/>
                <a:ea typeface="Calibri" pitchFamily="34" charset="-122"/>
                <a:cs typeface="Calibri" pitchFamily="34" charset="-120"/>
              </a:rPr>
              <a:t>larger sample · longer-term follow-up · retention</a:t>
            </a:r>
            <a:endParaRPr lang="en-US" sz="1150" dirty="0"/>
          </a:p>
          <a:p>
            <a:pPr marL="0" indent="0">
              <a:buNone/>
            </a:pPr>
            <a:r>
              <a:rPr lang="en-US" sz="1150" b="1" dirty="0">
                <a:solidFill>
                  <a:srgbClr val="F0CC6A"/>
                </a:solidFill>
                <a:latin typeface="Calibri" pitchFamily="34" charset="0"/>
                <a:ea typeface="Calibri" pitchFamily="34" charset="-122"/>
                <a:cs typeface="Calibri" pitchFamily="34" charset="-120"/>
              </a:rPr>
              <a:t>Open questions  </a:t>
            </a:r>
            <a:r>
              <a:rPr lang="en-US" sz="1250" dirty="0">
                <a:solidFill>
                  <a:srgbClr val="F4EFE4"/>
                </a:solidFill>
                <a:latin typeface="Calibri" pitchFamily="34" charset="0"/>
                <a:ea typeface="Calibri" pitchFamily="34" charset="-122"/>
                <a:cs typeface="Calibri" pitchFamily="34" charset="-120"/>
              </a:rPr>
              <a:t>combined foot + trunk? · 8 weeks? · does trunk change reach DPSI with more time?</a:t>
            </a:r>
            <a:endParaRPr lang="en-US" sz="1150" dirty="0"/>
          </a:p>
          <a:p>
            <a:pPr marL="0" indent="0">
              <a:buNone/>
            </a:pPr>
            <a:r>
              <a:rPr lang="en-US" sz="1150" b="1" dirty="0">
                <a:solidFill>
                  <a:srgbClr val="F0CC6A"/>
                </a:solidFill>
                <a:latin typeface="Calibri" pitchFamily="34" charset="0"/>
                <a:ea typeface="Calibri" pitchFamily="34" charset="-122"/>
                <a:cs typeface="Calibri" pitchFamily="34" charset="-120"/>
              </a:rPr>
              <a:t>Your position  </a:t>
            </a:r>
            <a:r>
              <a:rPr lang="en-US" sz="1250" dirty="0">
                <a:solidFill>
                  <a:srgbClr val="F4EFE4"/>
                </a:solidFill>
                <a:latin typeface="Calibri" pitchFamily="34" charset="0"/>
                <a:ea typeface="Calibri" pitchFamily="34" charset="-122"/>
                <a:cs typeface="Calibri" pitchFamily="34" charset="-120"/>
              </a:rPr>
              <a:t>single-component training may be insufficient (Discussion ending)</a:t>
            </a:r>
            <a:endParaRPr lang="en-US" sz="1150" dirty="0"/>
          </a:p>
        </p:txBody>
      </p:sp>
      <p:sp>
        <p:nvSpPr>
          <p:cNvPr id="9" name="Shape 7"/>
          <p:cNvSpPr/>
          <p:nvPr/>
        </p:nvSpPr>
        <p:spPr>
          <a:xfrm>
            <a:off x="5166360" y="2103120"/>
            <a:ext cx="6492240" cy="2743200"/>
          </a:xfrm>
          <a:prstGeom prst="roundRect">
            <a:avLst>
              <a:gd name="adj" fmla="val 4000"/>
            </a:avLst>
          </a:prstGeom>
          <a:solidFill>
            <a:srgbClr val="16284A"/>
          </a:solidFill>
          <a:ln w="19050">
            <a:solidFill>
              <a:srgbClr val="E2B84A"/>
            </a:solidFill>
            <a:prstDash val="solid"/>
          </a:ln>
        </p:spPr>
      </p:sp>
      <p:sp>
        <p:nvSpPr>
          <p:cNvPr id="10" name="Text 8"/>
          <p:cNvSpPr txBox="1"/>
          <p:nvPr/>
        </p:nvSpPr>
        <p:spPr>
          <a:xfrm>
            <a:off x="5440680" y="2286000"/>
            <a:ext cx="5943600" cy="256032"/>
          </a:xfrm>
          <a:prstGeom prst="rect">
            <a:avLst/>
          </a:prstGeom>
          <a:noFill/>
          <a:ln/>
        </p:spPr>
        <p:txBody>
          <a:bodyPr wrap="square" lIns="0" tIns="0" rIns="0" bIns="0" rtlCol="0" anchor="ctr">
            <a:normAutofit/>
          </a:bodyPr>
          <a:lstStyle/>
          <a:p>
            <a:pPr marL="0" indent="0">
              <a:buNone/>
            </a:pPr>
            <a:r>
              <a:rPr lang="en-US" sz="1100" b="1" kern="0" spc="300" dirty="0">
                <a:solidFill>
                  <a:srgbClr val="E2B84A"/>
                </a:solidFill>
                <a:latin typeface="Calibri" pitchFamily="34" charset="0"/>
                <a:ea typeface="Calibri" pitchFamily="34" charset="-122"/>
                <a:cs typeface="Calibri" pitchFamily="34" charset="-120"/>
              </a:rPr>
              <a:t>BRIAN ASKS</a:t>
            </a:r>
            <a:endParaRPr lang="en-US" sz="1100" dirty="0"/>
          </a:p>
        </p:txBody>
      </p:sp>
      <p:sp>
        <p:nvSpPr>
          <p:cNvPr id="11" name="Text 9"/>
          <p:cNvSpPr txBox="1"/>
          <p:nvPr/>
        </p:nvSpPr>
        <p:spPr>
          <a:xfrm>
            <a:off x="5440680" y="2606040"/>
            <a:ext cx="6035040" cy="2194560"/>
          </a:xfrm>
          <a:prstGeom prst="rect">
            <a:avLst/>
          </a:prstGeom>
          <a:noFill/>
          <a:ln/>
        </p:spPr>
        <p:txBody>
          <a:bodyPr wrap="square" lIns="0" tIns="0" rIns="0" bIns="0" rtlCol="0" anchor="t">
            <a:normAutofit/>
          </a:bodyPr>
          <a:lstStyle/>
          <a:p>
            <a:pPr marL="0" indent="0">
              <a:spcAft>
                <a:spcPts val="600"/>
              </a:spcAft>
              <a:buNone/>
            </a:pPr>
            <a:r>
              <a:rPr lang="en-US" sz="1400" dirty="0">
                <a:solidFill>
                  <a:srgbClr val="F4EFE4"/>
                </a:solidFill>
                <a:latin typeface="Calibri" pitchFamily="34" charset="0"/>
                <a:ea typeface="Calibri" pitchFamily="34" charset="-122"/>
                <a:cs typeface="Calibri" pitchFamily="34" charset="-120"/>
              </a:rPr>
              <a:t>·  If you had one more year and 60 participants — what's the study?</a:t>
            </a:r>
            <a:endParaRPr lang="en-US" sz="1400" dirty="0"/>
          </a:p>
          <a:p>
            <a:pPr marL="0" indent="0">
              <a:spcAft>
                <a:spcPts val="600"/>
              </a:spcAft>
              <a:buNone/>
            </a:pPr>
            <a:r>
              <a:rPr lang="en-US" sz="1400" dirty="0">
                <a:solidFill>
                  <a:srgbClr val="F4EFE4"/>
                </a:solidFill>
                <a:latin typeface="Calibri" pitchFamily="34" charset="0"/>
                <a:ea typeface="Calibri" pitchFamily="34" charset="-122"/>
                <a:cs typeface="Calibri" pitchFamily="34" charset="-120"/>
              </a:rPr>
              <a:t>·  Why that one first, and not the other two?</a:t>
            </a:r>
            <a:endParaRPr lang="en-US" sz="1400" dirty="0"/>
          </a:p>
          <a:p>
            <a:pPr marL="0" indent="0">
              <a:spcAft>
                <a:spcPts val="600"/>
              </a:spcAft>
              <a:buNone/>
            </a:pPr>
            <a:r>
              <a:rPr lang="en-US" sz="1400" dirty="0">
                <a:solidFill>
                  <a:srgbClr val="F4EFE4"/>
                </a:solidFill>
                <a:latin typeface="Calibri" pitchFamily="34" charset="0"/>
                <a:ea typeface="Calibri" pitchFamily="34" charset="-122"/>
                <a:cs typeface="Calibri" pitchFamily="34" charset="-120"/>
              </a:rPr>
              <a:t>·  What result would make you change your 1st-priority claim?</a:t>
            </a:r>
            <a:endParaRPr lang="en-US" sz="1400" dirty="0"/>
          </a:p>
          <a:p>
            <a:pPr marL="0" indent="0">
              <a:spcAft>
                <a:spcPts val="600"/>
              </a:spcAft>
              <a:buNone/>
            </a:pPr>
            <a:r>
              <a:rPr lang="en-US" sz="1400" dirty="0">
                <a:solidFill>
                  <a:srgbClr val="F4EFE4"/>
                </a:solidFill>
                <a:latin typeface="Calibri" pitchFamily="34" charset="0"/>
                <a:ea typeface="Calibri" pitchFamily="34" charset="-122"/>
                <a:cs typeface="Calibri" pitchFamily="34" charset="-120"/>
              </a:rPr>
              <a:t>·  Say the follow-up in the form of its title.</a:t>
            </a:r>
            <a:endParaRPr lang="en-US" sz="1400" dirty="0"/>
          </a:p>
          <a:p>
            <a:pPr marL="0" indent="0">
              <a:spcAft>
                <a:spcPts val="600"/>
              </a:spcAft>
              <a:buNone/>
            </a:pPr>
            <a:r>
              <a:rPr lang="en-US" sz="1400" dirty="0">
                <a:solidFill>
                  <a:srgbClr val="F4EFE4"/>
                </a:solidFill>
                <a:latin typeface="Calibri" pitchFamily="34" charset="0"/>
                <a:ea typeface="Calibri" pitchFamily="34" charset="-122"/>
                <a:cs typeface="Calibri" pitchFamily="34" charset="-120"/>
              </a:rPr>
              <a:t>·  Last thing: in one sentence, what did this study teach you that the next one needs?</a:t>
            </a:r>
            <a:endParaRPr lang="en-US" sz="1400" dirty="0"/>
          </a:p>
        </p:txBody>
      </p:sp>
      <p:sp>
        <p:nvSpPr>
          <p:cNvPr id="12" name="Shape 10"/>
          <p:cNvSpPr/>
          <p:nvPr/>
        </p:nvSpPr>
        <p:spPr>
          <a:xfrm>
            <a:off x="731520" y="5029200"/>
            <a:ext cx="10927080" cy="1325880"/>
          </a:xfrm>
          <a:prstGeom prst="roundRect">
            <a:avLst>
              <a:gd name="adj" fmla="val 8276"/>
            </a:avLst>
          </a:prstGeom>
          <a:solidFill>
            <a:srgbClr val="1C3158"/>
          </a:solidFill>
          <a:ln w="12700">
            <a:solidFill>
              <a:srgbClr val="1C3158"/>
            </a:solidFill>
            <a:prstDash val="solid"/>
          </a:ln>
        </p:spPr>
      </p:sp>
      <p:sp>
        <p:nvSpPr>
          <p:cNvPr id="13" name="Text 11"/>
          <p:cNvSpPr txBox="1"/>
          <p:nvPr/>
        </p:nvSpPr>
        <p:spPr>
          <a:xfrm>
            <a:off x="960120" y="5138928"/>
            <a:ext cx="10469880" cy="256032"/>
          </a:xfrm>
          <a:prstGeom prst="rect">
            <a:avLst/>
          </a:prstGeom>
          <a:noFill/>
          <a:ln/>
        </p:spPr>
        <p:txBody>
          <a:bodyPr wrap="square" lIns="0" tIns="0" rIns="0" bIns="0" rtlCol="0" anchor="ctr">
            <a:normAutofit/>
          </a:bodyPr>
          <a:lstStyle/>
          <a:p>
            <a:pPr marL="0" indent="0">
              <a:buNone/>
            </a:pPr>
            <a:r>
              <a:rPr lang="en-US" sz="1100" b="1" kern="0" spc="300" dirty="0">
                <a:solidFill>
                  <a:srgbClr val="E2B84A"/>
                </a:solidFill>
                <a:latin typeface="Calibri" pitchFamily="34" charset="0"/>
                <a:ea typeface="Calibri" pitchFamily="34" charset="-122"/>
                <a:cs typeface="Calibri" pitchFamily="34" charset="-120"/>
              </a:rPr>
              <a:t>THE NEXT STUDY · 한 문장으로</a:t>
            </a:r>
            <a:endParaRPr lang="en-US" sz="1100" dirty="0"/>
          </a:p>
        </p:txBody>
      </p:sp>
      <p:sp>
        <p:nvSpPr>
          <p:cNvPr id="14" name="Text 12"/>
          <p:cNvSpPr txBox="1"/>
          <p:nvPr/>
        </p:nvSpPr>
        <p:spPr>
          <a:xfrm>
            <a:off x="960120" y="5440680"/>
            <a:ext cx="10469880" cy="822960"/>
          </a:xfrm>
          <a:prstGeom prst="rect">
            <a:avLst/>
          </a:prstGeom>
          <a:noFill/>
          <a:ln/>
        </p:spPr>
        <p:txBody>
          <a:bodyPr wrap="square" lIns="381" tIns="381" rIns="381" bIns="381" rtlCol="0" anchor="t"/>
          <a:lstStyle/>
          <a:p>
            <a:pPr marL="0" indent="0">
              <a:buNone/>
            </a:pP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TotalTime>
  <Words>1087</Words>
  <Application>Microsoft Office PowerPoint</Application>
  <PresentationFormat>와이드스크린</PresentationFormat>
  <Paragraphs>87</Paragraphs>
  <Slides>6</Slides>
  <Notes>6</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6</vt:i4>
      </vt:variant>
    </vt:vector>
  </HeadingPairs>
  <TitlesOfParts>
    <vt:vector size="11" baseType="lpstr">
      <vt:lpstr>맑은 고딕</vt:lpstr>
      <vt:lpstr>Arial</vt:lpstr>
      <vt:lpstr>Calibri</vt:lpstr>
      <vt:lpstr>Georgia</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Brian Kim</cp:lastModifiedBy>
  <cp:revision>6</cp:revision>
  <dcterms:created xsi:type="dcterms:W3CDTF">2026-10-14T06:41:45Z</dcterms:created>
  <dcterms:modified xsi:type="dcterms:W3CDTF">2026-10-15T15:26:54Z</dcterms:modified>
</cp:coreProperties>
</file>