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822960" y="1965960"/>
            <a:ext cx="10515600" cy="365760"/>
          </a:xfrm>
          <a:prstGeom prst="rect">
            <a:avLst/>
          </a:prstGeom>
          <a:noFill/>
          <a:ln/>
        </p:spPr>
        <p:txBody>
          <a:bodyPr wrap="square" lIns="0" tIns="0" rIns="0" bIns="0" rtlCol="0" anchor="ctr">
            <a:normAutofit/>
          </a:bodyPr>
          <a:lstStyle/>
          <a:p>
            <a:pPr indent="0" marL="0">
              <a:buNone/>
            </a:pPr>
            <a:r>
              <a:rPr lang="en-US" sz="1600" b="1" spc="400" kern="0" dirty="0">
                <a:solidFill>
                  <a:srgbClr val="C9A432"/>
                </a:solidFill>
                <a:latin typeface="Calibri" pitchFamily="34" charset="0"/>
                <a:ea typeface="맑은 고딕" pitchFamily="34" charset="-122"/>
                <a:cs typeface="맑은 고딕" pitchFamily="34" charset="-120"/>
              </a:rPr>
              <a:t>JUNE · Q&amp;A CLASS 10</a:t>
            </a:r>
            <a:endParaRPr lang="en-US" sz="1600" dirty="0">
              <a:latin typeface="Calibri"/>
              <a:ea typeface="맑은 고딕"/>
              <a:cs typeface="맑은 고딕"/>
            </a:endParaRPr>
          </a:p>
        </p:txBody>
      </p:sp>
      <p:sp>
        <p:nvSpPr>
          <p:cNvPr id="3" name="Text 1"/>
          <p:cNvSpPr txBox="1"/>
          <p:nvPr/>
        </p:nvSpPr>
        <p:spPr>
          <a:xfrm>
            <a:off x="822960" y="2377440"/>
            <a:ext cx="10515600" cy="10515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Georgia" pitchFamily="34" charset="0"/>
                <a:ea typeface="맑은 고딕" pitchFamily="34" charset="-122"/>
                <a:cs typeface="맑은 고딕" pitchFamily="34" charset="-120"/>
              </a:rPr>
              <a:t>The Academic Half</a:t>
            </a:r>
            <a:endParaRPr lang="en-US" sz="4400" dirty="0">
              <a:latin typeface="Calibri"/>
              <a:ea typeface="맑은 고딕"/>
              <a:cs typeface="맑은 고딕"/>
            </a:endParaRPr>
          </a:p>
        </p:txBody>
      </p:sp>
      <p:sp>
        <p:nvSpPr>
          <p:cNvPr id="4" name="Text 2"/>
          <p:cNvSpPr txBox="1"/>
          <p:nvPr/>
        </p:nvSpPr>
        <p:spPr>
          <a:xfrm>
            <a:off x="822960" y="3566160"/>
            <a:ext cx="10515600" cy="457200"/>
          </a:xfrm>
          <a:prstGeom prst="rect">
            <a:avLst/>
          </a:prstGeom>
          <a:noFill/>
          <a:ln/>
        </p:spPr>
        <p:txBody>
          <a:bodyPr wrap="square" lIns="0" tIns="0" rIns="0" bIns="0" rtlCol="0" anchor="ctr">
            <a:normAutofit/>
          </a:bodyPr>
          <a:lstStyle/>
          <a:p>
            <a:pPr indent="0" marL="0">
              <a:buNone/>
            </a:pPr>
            <a:r>
              <a:rPr lang="en-US" sz="1700" dirty="0">
                <a:solidFill>
                  <a:srgbClr val="9FB0CC"/>
                </a:solidFill>
                <a:latin typeface="Calibri" pitchFamily="34" charset="0"/>
                <a:ea typeface="맑은 고딕" pitchFamily="34" charset="-122"/>
                <a:cs typeface="맑은 고딕" pitchFamily="34" charset="-120"/>
              </a:rPr>
              <a:t>Same three speakers. The parts where the talks get technical.</a:t>
            </a:r>
            <a:endParaRPr lang="en-US" sz="1700" dirty="0">
              <a:latin typeface="Calibri"/>
              <a:ea typeface="맑은 고딕"/>
              <a:cs typeface="맑은 고딕"/>
            </a:endParaRPr>
          </a:p>
        </p:txBody>
      </p:sp>
      <p:sp>
        <p:nvSpPr>
          <p:cNvPr id="5" name="Text 3"/>
          <p:cNvSpPr txBox="1"/>
          <p:nvPr/>
        </p:nvSpPr>
        <p:spPr>
          <a:xfrm>
            <a:off x="822960" y="6126480"/>
            <a:ext cx="5486400" cy="320040"/>
          </a:xfrm>
          <a:prstGeom prst="rect">
            <a:avLst/>
          </a:prstGeom>
          <a:noFill/>
          <a:ln/>
        </p:spPr>
        <p:txBody>
          <a:bodyPr wrap="square" lIns="0" tIns="0" rIns="0" bIns="0" rtlCol="0" anchor="ctr">
            <a:normAutofit/>
          </a:bodyPr>
          <a:lstStyle/>
          <a:p>
            <a:pPr indent="0" marL="0">
              <a:buNone/>
            </a:pPr>
            <a:r>
              <a:rPr lang="en-US" sz="1300" dirty="0">
                <a:solidFill>
                  <a:srgbClr val="6E7F9C"/>
                </a:solidFill>
                <a:latin typeface="Calibri" pitchFamily="34" charset="0"/>
                <a:ea typeface="맑은 고딕" pitchFamily="34" charset="-122"/>
                <a:cs typeface="맑은 고딕" pitchFamily="34" charset="-120"/>
              </a:rPr>
              <a:t>Do English with Brian</a:t>
            </a:r>
            <a:endParaRPr lang="en-US" sz="1300" dirty="0">
              <a:latin typeface="Calibri"/>
              <a:ea typeface="맑은 고딕"/>
              <a:cs typeface="맑은 고딕"/>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HOW TODAY WORKS</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Six Pieces, Then the Paper</a:t>
            </a:r>
            <a:endParaRPr lang="en-US" sz="2800" dirty="0">
              <a:latin typeface="Calibri"/>
              <a:ea typeface="맑은 고딕"/>
              <a:cs typeface="맑은 고딕"/>
            </a:endParaRPr>
          </a:p>
        </p:txBody>
      </p:sp>
      <p:sp>
        <p:nvSpPr>
          <p:cNvPr id="4" name="Shape 2"/>
          <p:cNvSpPr/>
          <p:nvPr/>
        </p:nvSpPr>
        <p:spPr>
          <a:xfrm>
            <a:off x="548640" y="1554480"/>
            <a:ext cx="11091672" cy="777240"/>
          </a:xfrm>
          <a:prstGeom prst="roundRect">
            <a:avLst>
              <a:gd name="adj" fmla="val 941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737360"/>
            <a:ext cx="457200" cy="411480"/>
          </a:xfrm>
          <a:prstGeom prst="rect">
            <a:avLst/>
          </a:prstGeom>
          <a:noFill/>
          <a:ln/>
        </p:spPr>
        <p:txBody>
          <a:bodyPr wrap="square" lIns="0" tIns="0" rIns="0" bIns="0" rtlCol="0" anchor="ctr"/>
          <a:lstStyle/>
          <a:p>
            <a:pPr indent="0" marL="0">
              <a:buNone/>
            </a:pPr>
            <a:r>
              <a:rPr lang="en-US" sz="2000" b="1" dirty="0">
                <a:solidFill>
                  <a:srgbClr val="E4C05C"/>
                </a:solidFill>
                <a:latin typeface="Georgia" pitchFamily="34" charset="0"/>
                <a:ea typeface="맑은 고딕" pitchFamily="34" charset="-122"/>
                <a:cs typeface="맑은 고딕" pitchFamily="34" charset="-120"/>
              </a:rPr>
              <a:t>1</a:t>
            </a:r>
            <a:endParaRPr lang="en-US" sz="2000" dirty="0">
              <a:latin typeface="Calibri"/>
              <a:ea typeface="맑은 고딕"/>
              <a:cs typeface="맑은 고딕"/>
            </a:endParaRPr>
          </a:p>
        </p:txBody>
      </p:sp>
      <p:sp>
        <p:nvSpPr>
          <p:cNvPr id="6" name="Text 4"/>
          <p:cNvSpPr txBox="1"/>
          <p:nvPr/>
        </p:nvSpPr>
        <p:spPr>
          <a:xfrm>
            <a:off x="1463040" y="1664208"/>
            <a:ext cx="9875520" cy="5943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맑은 고딕" pitchFamily="34" charset="-122"/>
                <a:cs typeface="맑은 고딕" pitchFamily="34" charset="-120"/>
              </a:rPr>
              <a:t>Listen without the script</a:t>
            </a:r>
            <a:endParaRPr lang="en-US" sz="1500" dirty="0">
              <a:latin typeface="Calibri"/>
              <a:ea typeface="맑은 고딕"/>
              <a:cs typeface="맑은 고딕"/>
            </a:endParaRPr>
          </a:p>
          <a:p>
            <a:pPr indent="0" marL="0">
              <a:buNone/>
            </a:pPr>
            <a:r>
              <a:rPr lang="en-US" sz="1200" dirty="0">
                <a:solidFill>
                  <a:srgbClr val="9FB0CC"/>
                </a:solidFill>
                <a:latin typeface="Calibri" pitchFamily="34" charset="0"/>
                <a:ea typeface="맑은 고딕" pitchFamily="34" charset="-122"/>
                <a:cs typeface="맑은 고딕" pitchFamily="34" charset="-120"/>
              </a:rPr>
              <a:t>대본 없이 2~3분 듣기. 다 알아들으려 하지 말고 주장만 잡기</a:t>
            </a:r>
            <a:endParaRPr lang="en-US" sz="1500" dirty="0">
              <a:latin typeface="Calibri"/>
              <a:ea typeface="맑은 고딕"/>
              <a:cs typeface="맑은 고딕"/>
            </a:endParaRPr>
          </a:p>
        </p:txBody>
      </p:sp>
      <p:sp>
        <p:nvSpPr>
          <p:cNvPr id="7" name="Shape 5"/>
          <p:cNvSpPr/>
          <p:nvPr/>
        </p:nvSpPr>
        <p:spPr>
          <a:xfrm>
            <a:off x="548640" y="2450592"/>
            <a:ext cx="11091672" cy="777240"/>
          </a:xfrm>
          <a:prstGeom prst="roundRect">
            <a:avLst>
              <a:gd name="adj" fmla="val 941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8" name="Text 6"/>
          <p:cNvSpPr txBox="1"/>
          <p:nvPr/>
        </p:nvSpPr>
        <p:spPr>
          <a:xfrm>
            <a:off x="822960" y="2633472"/>
            <a:ext cx="457200" cy="411480"/>
          </a:xfrm>
          <a:prstGeom prst="rect">
            <a:avLst/>
          </a:prstGeom>
          <a:noFill/>
          <a:ln/>
        </p:spPr>
        <p:txBody>
          <a:bodyPr wrap="square" lIns="0" tIns="0" rIns="0" bIns="0" rtlCol="0" anchor="ctr"/>
          <a:lstStyle/>
          <a:p>
            <a:pPr indent="0" marL="0">
              <a:buNone/>
            </a:pPr>
            <a:r>
              <a:rPr lang="en-US" sz="2000" b="1" dirty="0">
                <a:solidFill>
                  <a:srgbClr val="E4C05C"/>
                </a:solidFill>
                <a:latin typeface="Georgia" pitchFamily="34" charset="0"/>
                <a:ea typeface="맑은 고딕" pitchFamily="34" charset="-122"/>
                <a:cs typeface="맑은 고딕" pitchFamily="34" charset="-120"/>
              </a:rPr>
              <a:t>2</a:t>
            </a:r>
            <a:endParaRPr lang="en-US" sz="2000" dirty="0">
              <a:latin typeface="Calibri"/>
              <a:ea typeface="맑은 고딕"/>
              <a:cs typeface="맑은 고딕"/>
            </a:endParaRPr>
          </a:p>
        </p:txBody>
      </p:sp>
      <p:sp>
        <p:nvSpPr>
          <p:cNvPr id="9" name="Text 7"/>
          <p:cNvSpPr txBox="1"/>
          <p:nvPr/>
        </p:nvSpPr>
        <p:spPr>
          <a:xfrm>
            <a:off x="1463040" y="2560320"/>
            <a:ext cx="9875520" cy="5943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맑은 고딕" pitchFamily="34" charset="-122"/>
                <a:cs typeface="맑은 고딕" pitchFamily="34" charset="-120"/>
              </a:rPr>
              <a:t>One line — what's the claim?</a:t>
            </a:r>
            <a:endParaRPr lang="en-US" sz="1500" dirty="0">
              <a:latin typeface="Calibri"/>
              <a:ea typeface="맑은 고딕"/>
              <a:cs typeface="맑은 고딕"/>
            </a:endParaRPr>
          </a:p>
          <a:p>
            <a:pPr indent="0" marL="0">
              <a:buNone/>
            </a:pPr>
            <a:r>
              <a:rPr lang="en-US" sz="1200" dirty="0">
                <a:solidFill>
                  <a:srgbClr val="9FB0CC"/>
                </a:solidFill>
                <a:latin typeface="Calibri" pitchFamily="34" charset="0"/>
                <a:ea typeface="맑은 고딕" pitchFamily="34" charset="-122"/>
                <a:cs typeface="맑은 고딕" pitchFamily="34" charset="-120"/>
              </a:rPr>
              <a:t>이 PART가 주장하는 것 한 줄. 한국어여도 됨</a:t>
            </a:r>
            <a:endParaRPr lang="en-US" sz="1500" dirty="0">
              <a:latin typeface="Calibri"/>
              <a:ea typeface="맑은 고딕"/>
              <a:cs typeface="맑은 고딕"/>
            </a:endParaRPr>
          </a:p>
        </p:txBody>
      </p:sp>
      <p:sp>
        <p:nvSpPr>
          <p:cNvPr id="10" name="Shape 8"/>
          <p:cNvSpPr/>
          <p:nvPr/>
        </p:nvSpPr>
        <p:spPr>
          <a:xfrm>
            <a:off x="548640" y="3346704"/>
            <a:ext cx="11091672" cy="777240"/>
          </a:xfrm>
          <a:prstGeom prst="roundRect">
            <a:avLst>
              <a:gd name="adj" fmla="val 941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1" name="Text 9"/>
          <p:cNvSpPr txBox="1"/>
          <p:nvPr/>
        </p:nvSpPr>
        <p:spPr>
          <a:xfrm>
            <a:off x="822960" y="3529584"/>
            <a:ext cx="457200" cy="411480"/>
          </a:xfrm>
          <a:prstGeom prst="rect">
            <a:avLst/>
          </a:prstGeom>
          <a:noFill/>
          <a:ln/>
        </p:spPr>
        <p:txBody>
          <a:bodyPr wrap="square" lIns="0" tIns="0" rIns="0" bIns="0" rtlCol="0" anchor="ctr"/>
          <a:lstStyle/>
          <a:p>
            <a:pPr indent="0" marL="0">
              <a:buNone/>
            </a:pPr>
            <a:r>
              <a:rPr lang="en-US" sz="2000" b="1" dirty="0">
                <a:solidFill>
                  <a:srgbClr val="E4C05C"/>
                </a:solidFill>
                <a:latin typeface="Georgia" pitchFamily="34" charset="0"/>
                <a:ea typeface="맑은 고딕" pitchFamily="34" charset="-122"/>
                <a:cs typeface="맑은 고딕" pitchFamily="34" charset="-120"/>
              </a:rPr>
              <a:t>3</a:t>
            </a:r>
            <a:endParaRPr lang="en-US" sz="2000" dirty="0">
              <a:latin typeface="Calibri"/>
              <a:ea typeface="맑은 고딕"/>
              <a:cs typeface="맑은 고딕"/>
            </a:endParaRPr>
          </a:p>
        </p:txBody>
      </p:sp>
      <p:sp>
        <p:nvSpPr>
          <p:cNvPr id="12" name="Text 10"/>
          <p:cNvSpPr txBox="1"/>
          <p:nvPr/>
        </p:nvSpPr>
        <p:spPr>
          <a:xfrm>
            <a:off x="1463040" y="3456432"/>
            <a:ext cx="9875520" cy="5943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맑은 고딕" pitchFamily="34" charset="-122"/>
                <a:cs typeface="맑은 고딕" pitchFamily="34" charset="-120"/>
              </a:rPr>
              <a:t>Click once — the claim. Click again — the words.</a:t>
            </a:r>
            <a:endParaRPr lang="en-US" sz="1500" dirty="0">
              <a:latin typeface="Calibri"/>
              <a:ea typeface="맑은 고딕"/>
              <a:cs typeface="맑은 고딕"/>
            </a:endParaRPr>
          </a:p>
          <a:p>
            <a:pPr indent="0" marL="0">
              <a:buNone/>
            </a:pPr>
            <a:r>
              <a:rPr lang="en-US" sz="1200" dirty="0">
                <a:solidFill>
                  <a:srgbClr val="9FB0CC"/>
                </a:solidFill>
                <a:latin typeface="Calibri" pitchFamily="34" charset="0"/>
                <a:ea typeface="맑은 고딕" pitchFamily="34" charset="-122"/>
                <a:cs typeface="맑은 고딕" pitchFamily="34" charset="-120"/>
              </a:rPr>
              <a:t>클릭 ① 요지 확인 → 클릭 ② 그 구간의 단어·표현</a:t>
            </a:r>
            <a:endParaRPr lang="en-US" sz="1500" dirty="0">
              <a:latin typeface="Calibri"/>
              <a:ea typeface="맑은 고딕"/>
              <a:cs typeface="맑은 고딕"/>
            </a:endParaRPr>
          </a:p>
        </p:txBody>
      </p:sp>
      <p:sp>
        <p:nvSpPr>
          <p:cNvPr id="13" name="Shape 11"/>
          <p:cNvSpPr/>
          <p:nvPr/>
        </p:nvSpPr>
        <p:spPr>
          <a:xfrm>
            <a:off x="548640" y="4242816"/>
            <a:ext cx="11091672" cy="777240"/>
          </a:xfrm>
          <a:prstGeom prst="roundRect">
            <a:avLst>
              <a:gd name="adj" fmla="val 941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4" name="Text 12"/>
          <p:cNvSpPr txBox="1"/>
          <p:nvPr/>
        </p:nvSpPr>
        <p:spPr>
          <a:xfrm>
            <a:off x="822960" y="4425696"/>
            <a:ext cx="457200" cy="411480"/>
          </a:xfrm>
          <a:prstGeom prst="rect">
            <a:avLst/>
          </a:prstGeom>
          <a:noFill/>
          <a:ln/>
        </p:spPr>
        <p:txBody>
          <a:bodyPr wrap="square" lIns="0" tIns="0" rIns="0" bIns="0" rtlCol="0" anchor="ctr"/>
          <a:lstStyle/>
          <a:p>
            <a:pPr indent="0" marL="0">
              <a:buNone/>
            </a:pPr>
            <a:r>
              <a:rPr lang="en-US" sz="2000" b="1" dirty="0">
                <a:solidFill>
                  <a:srgbClr val="E4C05C"/>
                </a:solidFill>
                <a:latin typeface="Georgia" pitchFamily="34" charset="0"/>
                <a:ea typeface="맑은 고딕" pitchFamily="34" charset="-122"/>
                <a:cs typeface="맑은 고딕" pitchFamily="34" charset="-120"/>
              </a:rPr>
              <a:t>4</a:t>
            </a:r>
            <a:endParaRPr lang="en-US" sz="2000" dirty="0">
              <a:latin typeface="Calibri"/>
              <a:ea typeface="맑은 고딕"/>
              <a:cs typeface="맑은 고딕"/>
            </a:endParaRPr>
          </a:p>
        </p:txBody>
      </p:sp>
      <p:sp>
        <p:nvSpPr>
          <p:cNvPr id="15" name="Text 13"/>
          <p:cNvSpPr txBox="1"/>
          <p:nvPr/>
        </p:nvSpPr>
        <p:spPr>
          <a:xfrm>
            <a:off x="1463040" y="4352544"/>
            <a:ext cx="9875520" cy="5943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맑은 고딕" pitchFamily="34" charset="-122"/>
                <a:cs typeface="맑은 고딕" pitchFamily="34" charset="-120"/>
              </a:rPr>
              <a:t>Listen again, then sort what you missed</a:t>
            </a:r>
            <a:endParaRPr lang="en-US" sz="1500" dirty="0">
              <a:latin typeface="Calibri"/>
              <a:ea typeface="맑은 고딕"/>
              <a:cs typeface="맑은 고딕"/>
            </a:endParaRPr>
          </a:p>
          <a:p>
            <a:pPr indent="0" marL="0">
              <a:buNone/>
            </a:pPr>
            <a:r>
              <a:rPr lang="en-US" sz="1200" dirty="0">
                <a:solidFill>
                  <a:srgbClr val="9FB0CC"/>
                </a:solidFill>
                <a:latin typeface="Calibri" pitchFamily="34" charset="0"/>
                <a:ea typeface="맑은 고딕" pitchFamily="34" charset="-122"/>
                <a:cs typeface="맑은 고딕" pitchFamily="34" charset="-120"/>
              </a:rPr>
              <a:t>못 들은 자리 다시 듣고 나누기 — 소리 / 용어 / 내용 자체</a:t>
            </a:r>
            <a:endParaRPr lang="en-US" sz="1500" dirty="0">
              <a:latin typeface="Calibri"/>
              <a:ea typeface="맑은 고딕"/>
              <a:cs typeface="맑은 고딕"/>
            </a:endParaRPr>
          </a:p>
        </p:txBody>
      </p:sp>
      <p:sp>
        <p:nvSpPr>
          <p:cNvPr id="16" name="Shape 14"/>
          <p:cNvSpPr/>
          <p:nvPr/>
        </p:nvSpPr>
        <p:spPr>
          <a:xfrm>
            <a:off x="548640" y="5138928"/>
            <a:ext cx="11091672" cy="777240"/>
          </a:xfrm>
          <a:prstGeom prst="roundRect">
            <a:avLst>
              <a:gd name="adj" fmla="val 941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7" name="Text 15"/>
          <p:cNvSpPr txBox="1"/>
          <p:nvPr/>
        </p:nvSpPr>
        <p:spPr>
          <a:xfrm>
            <a:off x="822960" y="5321808"/>
            <a:ext cx="457200" cy="411480"/>
          </a:xfrm>
          <a:prstGeom prst="rect">
            <a:avLst/>
          </a:prstGeom>
          <a:noFill/>
          <a:ln/>
        </p:spPr>
        <p:txBody>
          <a:bodyPr wrap="square" lIns="0" tIns="0" rIns="0" bIns="0" rtlCol="0" anchor="ctr"/>
          <a:lstStyle/>
          <a:p>
            <a:pPr indent="0" marL="0">
              <a:buNone/>
            </a:pPr>
            <a:r>
              <a:rPr lang="en-US" sz="2000" b="1" dirty="0">
                <a:solidFill>
                  <a:srgbClr val="E4C05C"/>
                </a:solidFill>
                <a:latin typeface="Georgia" pitchFamily="34" charset="0"/>
                <a:ea typeface="맑은 고딕" pitchFamily="34" charset="-122"/>
                <a:cs typeface="맑은 고딕" pitchFamily="34" charset="-120"/>
              </a:rPr>
              <a:t>5</a:t>
            </a:r>
            <a:endParaRPr lang="en-US" sz="2000" dirty="0">
              <a:latin typeface="Calibri"/>
              <a:ea typeface="맑은 고딕"/>
              <a:cs typeface="맑은 고딕"/>
            </a:endParaRPr>
          </a:p>
        </p:txBody>
      </p:sp>
      <p:sp>
        <p:nvSpPr>
          <p:cNvPr id="18" name="Text 16"/>
          <p:cNvSpPr txBox="1"/>
          <p:nvPr/>
        </p:nvSpPr>
        <p:spPr>
          <a:xfrm>
            <a:off x="1463040" y="5248656"/>
            <a:ext cx="9875520" cy="5943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맑은 고딕" pitchFamily="34" charset="-122"/>
                <a:cs typeface="맑은 고딕" pitchFamily="34" charset="-120"/>
              </a:rPr>
              <a:t>Last thirty minutes — back to your paper</a:t>
            </a:r>
            <a:endParaRPr lang="en-US" sz="1500" dirty="0">
              <a:latin typeface="Calibri"/>
              <a:ea typeface="맑은 고딕"/>
              <a:cs typeface="맑은 고딕"/>
            </a:endParaRPr>
          </a:p>
          <a:p>
            <a:pPr indent="0" marL="0">
              <a:buNone/>
            </a:pPr>
            <a:r>
              <a:rPr lang="en-US" sz="1200" dirty="0">
                <a:solidFill>
                  <a:srgbClr val="9FB0CC"/>
                </a:solidFill>
                <a:latin typeface="Calibri" pitchFamily="34" charset="0"/>
                <a:ea typeface="맑은 고딕" pitchFamily="34" charset="-122"/>
                <a:cs typeface="맑은 고딕" pitchFamily="34" charset="-120"/>
              </a:rPr>
              <a:t>마지막 30분은 지난 회차 이어서</a:t>
            </a:r>
            <a:endParaRPr lang="en-US" sz="1500" dirty="0">
              <a:latin typeface="Calibri"/>
              <a:ea typeface="맑은 고딕"/>
              <a:cs typeface="맑은 고딕"/>
            </a:endParaRPr>
          </a:p>
        </p:txBody>
      </p:sp>
      <p:sp>
        <p:nvSpPr>
          <p:cNvPr id="19" name="Text 17"/>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250" dirty="0">
                <a:solidFill>
                  <a:srgbClr val="6E7F9C"/>
                </a:solidFill>
                <a:latin typeface="Calibri" pitchFamily="34" charset="0"/>
                <a:ea typeface="맑은 고딕" pitchFamily="34" charset="-122"/>
                <a:cs typeface="맑은 고딕" pitchFamily="34" charset="-120"/>
              </a:rPr>
              <a:t>Timing:  6 parts × 15 min  ·  your paper 30 min</a:t>
            </a:r>
            <a:endParaRPr lang="en-US" sz="1250" dirty="0">
              <a:latin typeface="Calibri"/>
              <a:ea typeface="맑은 고딕"/>
              <a:cs typeface="맑은 고딕"/>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1 · DENMARK · Michael Kjær — youtu.be/CiDPEiVWVLE</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3  ·  4:15 – 6:00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Old and young both lose muscle in bed. What's actually different?</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부동 14일이면 젊은이는 20% 넘게, 노인은 10% 정도 잃는다 — 비율로만 보면 노인이 오히려 적다. 그런데 노인은 4일 만에 이미 14일치 손실에 도달하고, 젊은이는 시간에 따라 계속 늘어난다. 생검으로 보면 초기 손실은 나이와 무관하게 분해가 주도하고, 후기에는 젊은이는 계속 분해되는 반면 노인은 남은 근육을 지키려 반대로 움직인다. 아포토시스·오토파지 마커로는 설명되지 않는다. 임상 결론은 하나 — 재활은 첫 며칠 안에 들어가야 한다.</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immobilization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부동</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percent-wise loss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비율로 본 손실</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muscle biopsy</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근육 생검</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proteolysis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단백질 분해</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age-independent</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나이와 무관한</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inhibition of muscle formation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근육 생성 억제</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apoptosis / autophagy markers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세포자멸사 / 자가포식 마커</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“the elder in fact” → the elderly, in fact (4:20)</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“deceased” → diseased</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10% · 20% · 4 days · 14 days 연속</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“basically lost” — 빠르게 붙여서</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rehabilitation</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재활</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breakdown</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분해</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reverse the situation</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상황을 되돌리다</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clinical point of view</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임상적 관점</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1 · DENMARK · Michael Kjær — youtu.be/CiDPEiVWVLE</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4  ·  6:00 – 7:30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They tried two drugs. What happened?</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항염증제를 줬을 때 차이가 조금 있어 보이지만 통계적으로 유의하지 않다. 성장호르몬은 근육량 손실을 약간 줄이지만 근력에는 영향이 없고, 대신 부동 기간 동안 결합조직을 단단하게 만든다. 결론은 지금으로선 부동 중 근손실을 막는 약이 없다는 것. 이어서 84~85세 환자를 10일간 노인병동에서 관찰한 실험으로 넘어간다 — 30초 의자 일어서기 검사.</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pharmaceutical attempt</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약물적 시도</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administer</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투여하다</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anti-inflammatory medication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항염증제</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statistical significance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통계적 유의성</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growth hormone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성장호르몬</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connective tissue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결합조직</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geriatric ward</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노인병동</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“damage score” → chair rising test (7:40)</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“deceased” → diseased (7:05)</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“84 5 years” → 84–85 years</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“inflammatory inflammatory” — 말더듬</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chair rising test</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의자 일어서기 검사</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admission / discharge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입원 / 퇴원</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muscle strength</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근력</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counteract</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막다, 상쇄하다</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2 · IRELAND · Eamonn Delahunt — youtu.be/VILeC-4nHJE</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3  ·  4:30 – 7:30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Two epidemiology studies. What do the numbers say?</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덴마크 청소년 여자 축구 438명을 매주 문자로 추적해 결장 부상과 비결장 부상을 조사했다 — 노출 2만 8천 시간, 결장 부상이 훨씬 많고 무릎과 발목이 가장 흔한 부위였다. Ekstrand·Waldén·Hägglund의 2011년 연구는 유럽 23개 팀을 7시즌 따라갔다 — 훈련 50만 시간, 경기 9만 시간, 부상의 57%가 경기 중. 발목은 고관절·서혜부와 함께 세 번째로 흔했다.</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epidemiology</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역학</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prevalence / incidence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유병률 / 발생률</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time-loss injury</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결장 부상</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player exposure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선수 노출 시간</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cohort</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코호트</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consecutive seasons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연속 시즌</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seminal paper</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기념비적 논문</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“top-sided paper” → top-cited (6:40)</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“Jan extra” → Jan Ekstrand</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“Marcus Walden” · “Martin hagland”</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시즌 연도가 줄줄이 나오는 구간</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sample size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표본 수</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flowchart</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흐름도</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systematic review</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체계적 문헌고찰</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citations</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피인용 수</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2 · IRELAND · Eamonn Delahunt — youtu.be/VILeC-4nHJE</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4  ·  17:00 – 21:00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A handball player sprained her ankle inside a lab. What did the data show?</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컷팅 동작을 분석하던 중 세 번째 시행에서 우발적으로 외측 염좌가 났고, 힘판과 동작분석 장비가 그 순간을 다 기록했다. 세 단계로 나뉜다 — 접지 시점에 이미 내번과 내회전이 정상 시행보다 컸고(14도 대 6도, 8도 대 4도), 이어서 압력중심이 급격히 외측으로 이동했고, 마지막에 최대 내번 23도와 최대 내회전 46도에 도달했다. 이 모든 게 접지 후 200밀리초 안에 일어난다. 그리고 통념이 하나 깨진다 — 내번은 시상면 움직임과 무관하게 먼저 올 수 있다.</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force plate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힘판</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motion capture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동작 분석</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center of pressure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압력 중심</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joint moment</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관절 모멘트</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kinematics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운동학</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inversion / internal rotation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내번 / 내회전</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model-based image matching</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모델 기반 영상 정합</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“Christ students” → Christensen</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“emotion analysis” → motion analysis</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“Angler accelerations” → angular</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각도·밀리초가 몰린 구간</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foot strike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접지</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angular velocity</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각속도</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plantar flexion</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족저굴곡</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sagittal plane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시상면</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3 · FRANCE · Romain Tourillon — youtu.be/oiukJodaQg4</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3  ·  12:00 – 15:00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Why does he say we overestimate the calf?</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가속이든 최고속도든 컷팅이든, 어느 생체역학 연구를 봐도 발과 발목의 기여는 크다. 그런데 마커 시스템이 발을 하나의 강체로 단순화하기 때문에 종아리 기여가 과대평가된다. 발은 실제로 변형되는 구조고, 외재근과 내재근이 함께 에너지를 흩뜨리고 만들어낸다. 스프링-질량 모델에서 아치는 중요한 스프링이다.</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contribution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기여도</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stance phase</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입각기</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negative / positive work</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음의 일 / 양의 일</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marker system</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마커 시스템</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rigid / deform</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강체 / 변형되다</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extrinsic / intrinsic foot muscles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외재근 / 내재근</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spring-mass model</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스프링-질량 모델</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“exposit” → explosive</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“anchor” → ankle · “Cal” → calf</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“might foot” → midfoot · “tools” → toes</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프랑스 억양이라 자막이 거의 못 잡음</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dissipate energy</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에너지를 흩뜨리다</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store and release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저장했다 방출</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overestimate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과대평가하다</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arch</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아치, 족궁</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03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normAutofit/>
          </a:bodyPr>
          <a:lstStyle/>
          <a:p>
            <a:pPr indent="0" marL="0">
              <a:buNone/>
            </a:pPr>
            <a:r>
              <a:rPr lang="en-US" sz="1300" b="1" spc="300" kern="0" dirty="0">
                <a:solidFill>
                  <a:srgbClr val="C9A432"/>
                </a:solidFill>
                <a:latin typeface="Calibri" pitchFamily="34" charset="0"/>
                <a:ea typeface="맑은 고딕" pitchFamily="34" charset="-122"/>
                <a:cs typeface="맑은 고딕" pitchFamily="34" charset="-120"/>
              </a:rPr>
              <a:t>SPEAKER 3 · FRANCE · Romain Tourillon — youtu.be/oiukJodaQg4</a:t>
            </a:r>
            <a:endParaRPr lang="en-US" sz="1300" dirty="0">
              <a:latin typeface="Calibri"/>
              <a:ea typeface="맑은 고딕"/>
              <a:cs typeface="맑은 고딕"/>
            </a:endParaRPr>
          </a:p>
        </p:txBody>
      </p:sp>
      <p:sp>
        <p:nvSpPr>
          <p:cNvPr id="3" name="Text 1"/>
          <p:cNvSpPr txBox="1"/>
          <p:nvPr/>
        </p:nvSpPr>
        <p:spPr>
          <a:xfrm>
            <a:off x="548640" y="576072"/>
            <a:ext cx="11064240" cy="54864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Georgia" pitchFamily="34" charset="0"/>
                <a:ea typeface="맑은 고딕" pitchFamily="34" charset="-122"/>
                <a:cs typeface="맑은 고딕" pitchFamily="34" charset="-120"/>
              </a:rPr>
              <a:t>PART 4  ·  19:30 – 22:30</a:t>
            </a:r>
            <a:endParaRPr lang="en-US" sz="2800" dirty="0">
              <a:latin typeface="Calibri"/>
              <a:ea typeface="맑은 고딕"/>
              <a:cs typeface="맑은 고딕"/>
            </a:endParaRPr>
          </a:p>
        </p:txBody>
      </p:sp>
      <p:sp>
        <p:nvSpPr>
          <p:cNvPr id="4" name="Shape 2"/>
          <p:cNvSpPr/>
          <p:nvPr/>
        </p:nvSpPr>
        <p:spPr>
          <a:xfrm>
            <a:off x="548640" y="1371600"/>
            <a:ext cx="7223760" cy="5074920"/>
          </a:xfrm>
          <a:prstGeom prst="roundRect">
            <a:avLst>
              <a:gd name="adj" fmla="val 162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5" name="Text 3"/>
          <p:cNvSpPr txBox="1"/>
          <p:nvPr/>
        </p:nvSpPr>
        <p:spPr>
          <a:xfrm>
            <a:off x="822960" y="1554480"/>
            <a:ext cx="6675120" cy="685800"/>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Calibri" pitchFamily="34" charset="0"/>
                <a:ea typeface="맑은 고딕" pitchFamily="34" charset="-122"/>
                <a:cs typeface="맑은 고딕" pitchFamily="34" charset="-120"/>
              </a:rPr>
              <a:t>What happens to the calf if the toes don't do their job?</a:t>
            </a:r>
            <a:endParaRPr lang="en-US" sz="1700" dirty="0">
              <a:latin typeface="Calibri"/>
              <a:ea typeface="맑은 고딕"/>
              <a:cs typeface="맑은 고딕"/>
            </a:endParaRPr>
          </a:p>
        </p:txBody>
      </p:sp>
      <p:sp>
        <p:nvSpPr>
          <p:cNvPr id="6" name="Text 4"/>
          <p:cNvSpPr txBox="1"/>
          <p:nvPr/>
        </p:nvSpPr>
        <p:spPr>
          <a:xfrm>
            <a:off x="914400" y="2286000"/>
            <a:ext cx="6583680" cy="1371600"/>
          </a:xfrm>
          <a:prstGeom prst="rect">
            <a:avLst/>
          </a:prstGeom>
          <a:noFill/>
          <a:ln/>
        </p:spPr>
        <p:txBody>
          <a:bodyPr wrap="square" lIns="0" tIns="0" rIns="0" bIns="0" rtlCol="0" anchor="t">
            <a:normAutofit/>
          </a:bodyPr>
          <a:lstStyle/>
          <a:p>
            <a:pPr indent="0" marL="0">
              <a:buNone/>
            </a:pPr>
            <a:r>
              <a:rPr lang="en-US" sz="1300" i="1" dirty="0">
                <a:solidFill>
                  <a:srgbClr val="8FA0BD"/>
                </a:solidFill>
                <a:latin typeface="Calibri" pitchFamily="34" charset="0"/>
                <a:ea typeface="맑은 고딕" pitchFamily="34" charset="-122"/>
                <a:cs typeface="맑은 고딕" pitchFamily="34" charset="-120"/>
              </a:rPr>
              <a:t>↳ MTP 관절의 강성이 떨어지면, 즉 발가락 굴곡근이 제 역할을 못 하면 종아리의 양의 일이 손상된다. 종아리가 아무리 큰 힘을 내도 전족과 중족이 전달해주지 않으면 소용이 없다. 경사판에서 발가락을 신전시킨 채 카프 레이즈를 시켜보면, 평지에서 수십 개씩 하던 선수가 무너진다. 전족 강성은 힘 작용점을 앞으로 보내 gear ratio를 키우고, 슈퍼슈즈도 결국 종아리가 있어야 의미가 있다.</a:t>
            </a:r>
            <a:endParaRPr lang="en-US" sz="1300" dirty="0">
              <a:latin typeface="Calibri"/>
              <a:ea typeface="맑은 고딕"/>
              <a:cs typeface="맑은 고딕"/>
            </a:endParaRPr>
          </a:p>
        </p:txBody>
      </p:sp>
      <p:sp>
        <p:nvSpPr>
          <p:cNvPr id="7" name="Text 5"/>
          <p:cNvSpPr txBox="1"/>
          <p:nvPr/>
        </p:nvSpPr>
        <p:spPr>
          <a:xfrm>
            <a:off x="914400" y="3749040"/>
            <a:ext cx="6583680" cy="2560320"/>
          </a:xfrm>
          <a:prstGeom prst="rect">
            <a:avLst/>
          </a:prstGeom>
          <a:noFill/>
          <a:ln/>
        </p:spPr>
        <p:txBody>
          <a:bodyPr wrap="square" lIns="0" tIns="0" rIns="0" bIns="0" rtlCol="0" anchor="t">
            <a:normAutofit/>
          </a:bodyPr>
          <a:lstStyle/>
          <a:p>
            <a:pPr indent="0" marL="0">
              <a:spcAft>
                <a:spcPts val="600"/>
              </a:spcAft>
              <a:buNone/>
            </a:pPr>
            <a:r>
              <a:rPr lang="en-US" sz="1150" b="1" spc="200" kern="0" dirty="0">
                <a:solidFill>
                  <a:srgbClr val="C9A432"/>
                </a:solidFill>
                <a:latin typeface="Calibri" pitchFamily="34" charset="0"/>
                <a:ea typeface="맑은 고딕" pitchFamily="34" charset="-122"/>
                <a:cs typeface="맑은 고딕" pitchFamily="34" charset="-120"/>
              </a:rPr>
              <a:t>↳ WORDS</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MTP joint</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중족지절 관절</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stiffness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강성</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toe flexors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발가락 굴곡근</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impair</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손상시키다</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transmission</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전달</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gear ratio</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기어비</a:t>
            </a:r>
            <a:endParaRPr lang="en-US" sz="1150" dirty="0">
              <a:latin typeface="Calibri"/>
              <a:ea typeface="맑은 고딕"/>
              <a:cs typeface="맑은 고딕"/>
            </a:endParaRPr>
          </a:p>
          <a:p>
            <a:pPr indent="0" marL="0">
              <a:buNone/>
            </a:pPr>
            <a:r>
              <a:rPr lang="en-US" sz="1350" b="1" dirty="0">
                <a:solidFill>
                  <a:srgbClr val="FFFFFF"/>
                </a:solidFill>
                <a:latin typeface="Calibri" pitchFamily="34" charset="0"/>
                <a:ea typeface="맑은 고딕" pitchFamily="34" charset="-122"/>
                <a:cs typeface="맑은 고딕" pitchFamily="34" charset="-120"/>
              </a:rPr>
              <a:t>bending stiffness</a:t>
            </a:r>
            <a:pPr indent="0" marL="0">
              <a:spcAft>
                <a:spcPts val="300"/>
              </a:spcAft>
              <a:buNone/>
            </a:pPr>
            <a:r>
              <a:rPr lang="en-US" sz="1150" dirty="0">
                <a:solidFill>
                  <a:srgbClr val="9FB0CC"/>
                </a:solidFill>
                <a:latin typeface="Calibri" pitchFamily="34" charset="0"/>
                <a:ea typeface="맑은 고딕" pitchFamily="34" charset="-122"/>
                <a:cs typeface="맑은 고딕" pitchFamily="34" charset="-120"/>
              </a:rPr>
              <a:t>   굽힘 강성</a:t>
            </a:r>
            <a:endParaRPr lang="en-US" sz="1150" dirty="0">
              <a:latin typeface="Calibri"/>
              <a:ea typeface="맑은 고딕"/>
              <a:cs typeface="맑은 고딕"/>
            </a:endParaRPr>
          </a:p>
        </p:txBody>
      </p:sp>
      <p:sp>
        <p:nvSpPr>
          <p:cNvPr id="8" name="Shape 6"/>
          <p:cNvSpPr/>
          <p:nvPr/>
        </p:nvSpPr>
        <p:spPr>
          <a:xfrm>
            <a:off x="7955280" y="1371600"/>
            <a:ext cx="3685032" cy="2377440"/>
          </a:xfrm>
          <a:prstGeom prst="roundRect">
            <a:avLst>
              <a:gd name="adj" fmla="val 3462"/>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9" name="Text 7"/>
          <p:cNvSpPr txBox="1"/>
          <p:nvPr/>
        </p:nvSpPr>
        <p:spPr>
          <a:xfrm>
            <a:off x="8211312" y="15270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EAR TRAPS · 자막도 틀린 자리</a:t>
            </a:r>
            <a:endParaRPr lang="en-US" sz="1100" dirty="0">
              <a:latin typeface="Calibri"/>
              <a:ea typeface="맑은 고딕"/>
              <a:cs typeface="맑은 고딕"/>
            </a:endParaRPr>
          </a:p>
        </p:txBody>
      </p:sp>
      <p:sp>
        <p:nvSpPr>
          <p:cNvPr id="10" name="Text 8"/>
          <p:cNvSpPr txBox="1"/>
          <p:nvPr/>
        </p:nvSpPr>
        <p:spPr>
          <a:xfrm>
            <a:off x="8211312" y="1819656"/>
            <a:ext cx="3200400" cy="182880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“mtyp joint” → MTP joint</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“Destroyer” → destroyed</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“Super Shoes” — 실제 용어</a:t>
            </a:r>
            <a:endParaRPr lang="en-US" sz="1150" dirty="0">
              <a:latin typeface="Calibri"/>
              <a:ea typeface="맑은 고딕"/>
              <a:cs typeface="맑은 고딕"/>
            </a:endParaRPr>
          </a:p>
          <a:p>
            <a:pPr indent="0" marL="0">
              <a:spcAft>
                <a:spcPts val="400"/>
              </a:spcAft>
              <a:buNone/>
            </a:pPr>
            <a:r>
              <a:rPr lang="en-US" sz="1150" dirty="0">
                <a:solidFill>
                  <a:srgbClr val="FFFFFF"/>
                </a:solidFill>
                <a:latin typeface="Calibri" pitchFamily="34" charset="0"/>
                <a:ea typeface="맑은 고딕" pitchFamily="34" charset="-122"/>
                <a:cs typeface="맑은 고딕" pitchFamily="34" charset="-120"/>
              </a:rPr>
              <a:t>· 신체 부위 이름이 전부 뭉개짐</a:t>
            </a:r>
            <a:endParaRPr lang="en-US" sz="1150" dirty="0">
              <a:latin typeface="Calibri"/>
              <a:ea typeface="맑은 고딕"/>
              <a:cs typeface="맑은 고딕"/>
            </a:endParaRPr>
          </a:p>
        </p:txBody>
      </p:sp>
      <p:sp>
        <p:nvSpPr>
          <p:cNvPr id="11" name="Shape 9"/>
          <p:cNvSpPr/>
          <p:nvPr/>
        </p:nvSpPr>
        <p:spPr>
          <a:xfrm>
            <a:off x="7955280" y="3886200"/>
            <a:ext cx="3685032" cy="2560320"/>
          </a:xfrm>
          <a:prstGeom prst="roundRect">
            <a:avLst>
              <a:gd name="adj" fmla="val 3214"/>
            </a:avLst>
          </a:prstGeom>
          <a:solidFill>
            <a:srgbClr val="16273F"/>
          </a:solidFill>
          <a:ln w="12700">
            <a:solidFill>
              <a:srgbClr val="223756"/>
            </a:solidFill>
            <a:prstDash val="solid"/>
          </a:ln>
        </p:spPr>
        <p:txBody>
          <a:bodyPr/>
          <a:p>
            <a:endParaRPr sz="1400">
              <a:solidFill>
                <a:srgbClr val="FFFFFF"/>
              </a:solidFill>
              <a:latin typeface="Calibri"/>
              <a:ea typeface="맑은 고딕"/>
              <a:cs typeface="맑은 고딕"/>
            </a:endParaRPr>
          </a:p>
        </p:txBody>
      </p:sp>
      <p:sp>
        <p:nvSpPr>
          <p:cNvPr id="12" name="Text 10"/>
          <p:cNvSpPr txBox="1"/>
          <p:nvPr/>
        </p:nvSpPr>
        <p:spPr>
          <a:xfrm>
            <a:off x="8211312" y="4041648"/>
            <a:ext cx="32004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432"/>
                </a:solidFill>
                <a:latin typeface="Calibri" pitchFamily="34" charset="0"/>
                <a:ea typeface="맑은 고딕" pitchFamily="34" charset="-122"/>
                <a:cs typeface="맑은 고딕" pitchFamily="34" charset="-120"/>
              </a:rPr>
              <a:t>TERMS · 미리 알아야 잡히는 말</a:t>
            </a:r>
            <a:endParaRPr lang="en-US" sz="1100" dirty="0">
              <a:latin typeface="Calibri"/>
              <a:ea typeface="맑은 고딕"/>
              <a:cs typeface="맑은 고딕"/>
            </a:endParaRPr>
          </a:p>
        </p:txBody>
      </p:sp>
      <p:sp>
        <p:nvSpPr>
          <p:cNvPr id="13" name="Text 11"/>
          <p:cNvSpPr txBox="1"/>
          <p:nvPr/>
        </p:nvSpPr>
        <p:spPr>
          <a:xfrm>
            <a:off x="8211312" y="4334256"/>
            <a:ext cx="3200400" cy="201168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Calibri" pitchFamily="34" charset="0"/>
                <a:ea typeface="맑은 고딕" pitchFamily="34" charset="-122"/>
                <a:cs typeface="맑은 고딕" pitchFamily="34" charset="-120"/>
              </a:rPr>
              <a:t>heel raise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카프 레이즈</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inclined plate</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경사판</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moment arm</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모멘트 암</a:t>
            </a:r>
            <a:endParaRPr lang="en-US" sz="1200" dirty="0">
              <a:latin typeface="Calibri"/>
              <a:ea typeface="맑은 고딕"/>
              <a:cs typeface="맑은 고딕"/>
            </a:endParaRPr>
          </a:p>
          <a:p>
            <a:pPr indent="0" marL="0">
              <a:buNone/>
            </a:pPr>
            <a:r>
              <a:rPr lang="en-US" sz="1200" b="1" dirty="0">
                <a:solidFill>
                  <a:srgbClr val="FFFFFF"/>
                </a:solidFill>
                <a:latin typeface="Calibri" pitchFamily="34" charset="0"/>
                <a:ea typeface="맑은 고딕" pitchFamily="34" charset="-122"/>
                <a:cs typeface="맑은 고딕" pitchFamily="34" charset="-120"/>
              </a:rPr>
              <a:t>anteriorization</a:t>
            </a:r>
            <a:pPr indent="0" marL="0">
              <a:spcAft>
                <a:spcPts val="200"/>
              </a:spcAft>
              <a:buNone/>
            </a:pPr>
            <a:r>
              <a:rPr lang="en-US" sz="1050" dirty="0">
                <a:solidFill>
                  <a:srgbClr val="9FB0CC"/>
                </a:solidFill>
                <a:latin typeface="Calibri" pitchFamily="34" charset="0"/>
                <a:ea typeface="맑은 고딕" pitchFamily="34" charset="-122"/>
                <a:cs typeface="맑은 고딕" pitchFamily="34" charset="-120"/>
              </a:rPr>
              <a:t>  전방화</a:t>
            </a:r>
            <a:endParaRPr lang="en-US" sz="1200" dirty="0">
              <a:latin typeface="Calibri"/>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2026-09-17T03:48:25Z</dcterms:created>
  <dcterms:modified xsi:type="dcterms:W3CDTF">2026-09-17T03:48:25Z</dcterms:modified>
</cp:coreProperties>
</file>