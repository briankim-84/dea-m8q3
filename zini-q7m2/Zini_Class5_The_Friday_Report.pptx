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비즈니스 시리즈 3편. C4가 “I'll send you what we find by Friday”로 끝났으니, 이번에는 그 보고를 하는 회의. 원인 보고 → 조치 → 재발 방지 → 신뢰 회복.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번째 질문이 수업 본론으로 가는 다리 — 실제로 어떻게 처리했는지가 다음 장의 재료가 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C3와 동일한 장치 — 막히는 지점이 표현의 필요를 만듦. 아직 표현 안 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2→3→4가 한 호흡: 찾았다 → 무엇이었다 → 결국 하나의 문제. 5는 보고 시점에 조치가 이미 끝나 있음을 보여주는 표현 — 신뢰는 여기서 쌓임.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9번이 관계 자산 — 문제가 생겨도 먼저 말하겠다는 약속은 품질 자체보다 오래 간다. 10은 다음 선적으로 자연스럽게 연결.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잽 2번이 가장 아픈 질문 — 검수 체계 자체를 묻는 것. 여기서 방어적으로 가면 안 되고, going forward 패턴으로 체계 변경을 답하게. 잽 3은 if anything comes up로 받는 연습.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정답: 1 promised / 2 bottom / 3 turned / 4 down / 5 already / 6 Going / 7 check / 8 word / 9 up / 10 chance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D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65592" y="64739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3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of 7   ·   Do English with Brian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214884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D8B6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 O   E N G L I S H   W I T H   B R I A 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697480"/>
            <a:ext cx="10543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Zini — Class 5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22960" y="365760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i="1" dirty="0">
                <a:solidFill>
                  <a:srgbClr val="D8B6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Friday Report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822960" y="4343400"/>
            <a:ext cx="10543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B0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Warm-up  ·  The Story So Far  ·  Ten Expressions  ·  Report Mode  ·  Quiz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D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47472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8B6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WARM-UP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603504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Since the Meeting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188720"/>
            <a:ext cx="10543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FB0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가벼게 — 근황과 그 회의 뒤에 무슨 일이 있었는지.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165592" y="64739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3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of 7   ·   Do English with Brian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2960" y="1783080"/>
            <a:ext cx="10543032" cy="1170432"/>
          </a:xfrm>
          <a:prstGeom prst="roundRect">
            <a:avLst>
              <a:gd name="adj" fmla="val 7031"/>
            </a:avLst>
          </a:prstGeom>
          <a:solidFill>
            <a:srgbClr val="223A5E"/>
          </a:solidFill>
          <a:ln w="12700">
            <a:solidFill>
              <a:srgbClr val="223A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1892808"/>
            <a:ext cx="9902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“How has the factory been since we last talked?”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143000" y="2514600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7E93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공장 근황부터 — 자유 대화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22960" y="3136392"/>
            <a:ext cx="10543032" cy="1170432"/>
          </a:xfrm>
          <a:prstGeom prst="roundRect">
            <a:avLst>
              <a:gd name="adj" fmla="val 7031"/>
            </a:avLst>
          </a:prstGeom>
          <a:solidFill>
            <a:srgbClr val="223A5E"/>
          </a:solidFill>
          <a:ln w="12700">
            <a:solidFill>
              <a:srgbClr val="223A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3246120"/>
            <a:ext cx="9902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“After that meeting with Autry — what happened next?”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143000" y="386791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7E93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그 회의 뒤 실제 흐름을 꼺아보기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22960" y="4489704"/>
            <a:ext cx="10543032" cy="1170432"/>
          </a:xfrm>
          <a:prstGeom prst="roundRect">
            <a:avLst>
              <a:gd name="adj" fmla="val 7031"/>
            </a:avLst>
          </a:prstGeom>
          <a:solidFill>
            <a:srgbClr val="223A5E"/>
          </a:solidFill>
          <a:ln w="12700">
            <a:solidFill>
              <a:srgbClr val="223A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3000" y="4599432"/>
            <a:ext cx="9902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“Did you send them something, or talk it through on a call?”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143000" y="5221224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7E93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보고 형식(메일/콜) — 오늘 롤플레이의 설정으로 연결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D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47472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8B6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FREE TALK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603504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Story So Far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188720"/>
            <a:ext cx="10543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FB0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먼저 지금 영어로 — 회의 뒤에 실제로 무엇을 했는지 처음부터 끝까지.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165592" y="64739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3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of 7   ·   Do English with Brian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2960" y="1783080"/>
            <a:ext cx="10543032" cy="1005840"/>
          </a:xfrm>
          <a:prstGeom prst="roundRect">
            <a:avLst>
              <a:gd name="adj" fmla="val 8182"/>
            </a:avLst>
          </a:prstGeom>
          <a:solidFill>
            <a:srgbClr val="2A4670"/>
          </a:solidFill>
          <a:ln w="12700">
            <a:solidFill>
              <a:srgbClr val="2A467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1856232"/>
            <a:ext cx="990295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i="1" dirty="0">
                <a:solidFill>
                  <a:srgbClr val="D8B6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“So — walk me through what you did after that meeting.”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822960" y="3063240"/>
            <a:ext cx="5180076" cy="1371600"/>
          </a:xfrm>
          <a:prstGeom prst="roundRect">
            <a:avLst>
              <a:gd name="adj" fmla="val 6000"/>
            </a:avLst>
          </a:prstGeom>
          <a:solidFill>
            <a:srgbClr val="223A5E"/>
          </a:solidFill>
          <a:ln w="12700">
            <a:solidFill>
              <a:srgbClr val="223A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3200400"/>
            <a:ext cx="47228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D8B6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checked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078992" y="3630168"/>
            <a:ext cx="47228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무엇을 확인했나 — 라인, 장비, 공정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85916" y="3063240"/>
            <a:ext cx="5180076" cy="1371600"/>
          </a:xfrm>
          <a:prstGeom prst="roundRect">
            <a:avLst>
              <a:gd name="adj" fmla="val 6000"/>
            </a:avLst>
          </a:prstGeom>
          <a:solidFill>
            <a:srgbClr val="223A5E"/>
          </a:solidFill>
          <a:ln w="12700">
            <a:solidFill>
              <a:srgbClr val="223A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1948" y="3200400"/>
            <a:ext cx="47228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D8B6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found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441948" y="3630168"/>
            <a:ext cx="47228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원인은 무엇이었나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" y="4617720"/>
            <a:ext cx="5180076" cy="1371600"/>
          </a:xfrm>
          <a:prstGeom prst="roundRect">
            <a:avLst>
              <a:gd name="adj" fmla="val 6000"/>
            </a:avLst>
          </a:prstGeom>
          <a:solidFill>
            <a:srgbClr val="223A5E"/>
          </a:solidFill>
          <a:ln w="12700">
            <a:solidFill>
              <a:srgbClr val="223A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8992" y="4754880"/>
            <a:ext cx="47228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D8B6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changed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1078992" y="5184648"/>
            <a:ext cx="47228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무엇을 바꿨나 — 설비·절차·사람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85916" y="4617720"/>
            <a:ext cx="5180076" cy="1371600"/>
          </a:xfrm>
          <a:prstGeom prst="roundRect">
            <a:avLst>
              <a:gd name="adj" fmla="val 6000"/>
            </a:avLst>
          </a:prstGeom>
          <a:solidFill>
            <a:srgbClr val="223A5E"/>
          </a:solidFill>
          <a:ln w="12700">
            <a:solidFill>
              <a:srgbClr val="223A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1948" y="4754880"/>
            <a:ext cx="47228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D8B6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told Autry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441948" y="5184648"/>
            <a:ext cx="47228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언제 어떻게 알렸나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22960" y="617220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i="1" dirty="0">
                <a:solidFill>
                  <a:srgbClr val="9FB0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Brian listens — and takes notes on where you get stuck. That's our shopping list.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D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47472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8B6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TEN EXPRESSIONS (1–5)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603504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Reporting Back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188720"/>
            <a:ext cx="10543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FB0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약속한 보고로 엽니다 — 원인부터, 변명 없이.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165592" y="64739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3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of 7   ·   Do English with Brian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2960" y="1609344"/>
            <a:ext cx="10543032" cy="786384"/>
          </a:xfrm>
          <a:prstGeom prst="roundRect">
            <a:avLst>
              <a:gd name="adj" fmla="val 10465"/>
            </a:avLst>
          </a:prstGeom>
          <a:solidFill>
            <a:srgbClr val="223A5E"/>
          </a:solidFill>
          <a:ln w="12700">
            <a:solidFill>
              <a:srgbClr val="223A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70078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B6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44752" y="1673352"/>
            <a:ext cx="9720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D8B6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 promised, ~</a:t>
            </a:r>
            <a:pPr indent="0" marL="0">
              <a:buNone/>
            </a:pPr>
            <a:r>
              <a:rPr lang="en-US" sz="1150" dirty="0">
                <a:solidFill>
                  <a:srgbClr val="9FB0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—   약속드린 대로 —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444752" y="2011680"/>
            <a:ext cx="9720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“As promised, here's what we found.”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22960" y="2468880"/>
            <a:ext cx="10543032" cy="786384"/>
          </a:xfrm>
          <a:prstGeom prst="roundRect">
            <a:avLst>
              <a:gd name="adj" fmla="val 10465"/>
            </a:avLst>
          </a:prstGeom>
          <a:solidFill>
            <a:srgbClr val="223A5E"/>
          </a:solidFill>
          <a:ln w="12700">
            <a:solidFill>
              <a:srgbClr val="223A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256032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B6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44752" y="2532888"/>
            <a:ext cx="9720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D8B6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got to the bottom of ~</a:t>
            </a:r>
            <a:pPr indent="0" marL="0">
              <a:buNone/>
            </a:pPr>
            <a:r>
              <a:rPr lang="en-US" sz="1150" dirty="0">
                <a:solidFill>
                  <a:srgbClr val="9FB0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—   ~의 원인을 끝까지 찾았습니다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444752" y="2871216"/>
            <a:ext cx="9720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“We got to the bottom of the uneven finish.”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" y="3328416"/>
            <a:ext cx="10543032" cy="786384"/>
          </a:xfrm>
          <a:prstGeom prst="roundRect">
            <a:avLst>
              <a:gd name="adj" fmla="val 10465"/>
            </a:avLst>
          </a:prstGeom>
          <a:solidFill>
            <a:srgbClr val="223A5E"/>
          </a:solidFill>
          <a:ln w="12700">
            <a:solidFill>
              <a:srgbClr val="223A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" y="341985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B6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44752" y="3392424"/>
            <a:ext cx="9720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D8B6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turned out to be ~</a:t>
            </a:r>
            <a:pPr indent="0" marL="0">
              <a:buNone/>
            </a:pPr>
            <a:r>
              <a:rPr lang="en-US" sz="1150" dirty="0">
                <a:solidFill>
                  <a:srgbClr val="9FB0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—   원인은 ~로 확인됐습니다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444752" y="3730752"/>
            <a:ext cx="9720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“It turned out to be the mold temperature.”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22960" y="4187952"/>
            <a:ext cx="10543032" cy="786384"/>
          </a:xfrm>
          <a:prstGeom prst="roundRect">
            <a:avLst>
              <a:gd name="adj" fmla="val 10465"/>
            </a:avLst>
          </a:prstGeom>
          <a:solidFill>
            <a:srgbClr val="223A5E"/>
          </a:solidFill>
          <a:ln w="12700">
            <a:solidFill>
              <a:srgbClr val="223A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7552" y="427939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B6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44752" y="4251960"/>
            <a:ext cx="9720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D8B6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 came down to ~</a:t>
            </a:r>
            <a:pPr indent="0" marL="0">
              <a:buNone/>
            </a:pPr>
            <a:r>
              <a:rPr lang="en-US" sz="1150" dirty="0">
                <a:solidFill>
                  <a:srgbClr val="9FB0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—   결국 ~ 문제였습니다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1444752" y="4590288"/>
            <a:ext cx="9720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“The whole thing came down to one setting.”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22960" y="5047488"/>
            <a:ext cx="10543032" cy="786384"/>
          </a:xfrm>
          <a:prstGeom prst="roundRect">
            <a:avLst>
              <a:gd name="adj" fmla="val 10465"/>
            </a:avLst>
          </a:prstGeom>
          <a:solidFill>
            <a:srgbClr val="223A5E"/>
          </a:solidFill>
          <a:ln w="12700">
            <a:solidFill>
              <a:srgbClr val="223A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7552" y="513892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B6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444752" y="5111496"/>
            <a:ext cx="9720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D8B6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We've already ~</a:t>
            </a:r>
            <a:pPr indent="0" marL="0">
              <a:buNone/>
            </a:pPr>
            <a:r>
              <a:rPr lang="en-US" sz="1150" dirty="0">
                <a:solidFill>
                  <a:srgbClr val="9FB0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—   이미 ~해든습니다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1444752" y="5449824"/>
            <a:ext cx="9720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“We've already adjusted it and examined every insole from that lot.”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22960" y="5961888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FB0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1번이 문을 여는 한 마디 — 금요일 약속을 기억하고 있다는 신호입니다.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D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47472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8B6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TEN EXPRESSIONS (6–10)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603504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Rebuilding Trust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188720"/>
            <a:ext cx="10543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FB0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재발 방지를 보여주고, 다음 기회를 요청합니다.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165592" y="64739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3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of 7   ·   Do English with Brian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2960" y="1609344"/>
            <a:ext cx="10543032" cy="786384"/>
          </a:xfrm>
          <a:prstGeom prst="roundRect">
            <a:avLst>
              <a:gd name="adj" fmla="val 10465"/>
            </a:avLst>
          </a:prstGeom>
          <a:solidFill>
            <a:srgbClr val="223A5E"/>
          </a:solidFill>
          <a:ln w="12700">
            <a:solidFill>
              <a:srgbClr val="223A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70078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B6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44752" y="1673352"/>
            <a:ext cx="9720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D8B6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Going forward, every ~ will be ~</a:t>
            </a:r>
            <a:pPr indent="0" marL="0">
              <a:buNone/>
            </a:pPr>
            <a:r>
              <a:rPr lang="en-US" sz="1150" dirty="0">
                <a:solidFill>
                  <a:srgbClr val="9FB0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—   앞으로 모든 ~는 ~됩니다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444752" y="2011680"/>
            <a:ext cx="9720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“Going forward, every batch will be checked twice.”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22960" y="2468880"/>
            <a:ext cx="10543032" cy="786384"/>
          </a:xfrm>
          <a:prstGeom prst="roundRect">
            <a:avLst>
              <a:gd name="adj" fmla="val 10465"/>
            </a:avLst>
          </a:prstGeom>
          <a:solidFill>
            <a:srgbClr val="223A5E"/>
          </a:solidFill>
          <a:ln w="12700">
            <a:solidFill>
              <a:srgbClr val="223A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256032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B6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44752" y="2532888"/>
            <a:ext cx="9720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D8B6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 a full check on ~</a:t>
            </a:r>
            <a:pPr indent="0" marL="0">
              <a:buNone/>
            </a:pPr>
            <a:r>
              <a:rPr lang="en-US" sz="1150" dirty="0">
                <a:solidFill>
                  <a:srgbClr val="9FB0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—   ~ 전수 검사를 하다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444752" y="2871216"/>
            <a:ext cx="9720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“We ran a full check on the rejected lot.”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" y="3328416"/>
            <a:ext cx="10543032" cy="786384"/>
          </a:xfrm>
          <a:prstGeom prst="roundRect">
            <a:avLst>
              <a:gd name="adj" fmla="val 10465"/>
            </a:avLst>
          </a:prstGeom>
          <a:solidFill>
            <a:srgbClr val="223A5E"/>
          </a:solidFill>
          <a:ln w="12700">
            <a:solidFill>
              <a:srgbClr val="223A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" y="341985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B6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44752" y="3392424"/>
            <a:ext cx="9720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D8B6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have my word that ~</a:t>
            </a:r>
            <a:pPr indent="0" marL="0">
              <a:buNone/>
            </a:pPr>
            <a:r>
              <a:rPr lang="en-US" sz="1150" dirty="0">
                <a:solidFill>
                  <a:srgbClr val="9FB0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—   ~는 책임지고 약속드립니다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444752" y="3730752"/>
            <a:ext cx="9720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“You have my word that this mistake stays fixed.”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22960" y="4187952"/>
            <a:ext cx="10543032" cy="786384"/>
          </a:xfrm>
          <a:prstGeom prst="roundRect">
            <a:avLst>
              <a:gd name="adj" fmla="val 10465"/>
            </a:avLst>
          </a:prstGeom>
          <a:solidFill>
            <a:srgbClr val="223A5E"/>
          </a:solidFill>
          <a:ln w="12700">
            <a:solidFill>
              <a:srgbClr val="223A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7552" y="427939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B6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44752" y="4251960"/>
            <a:ext cx="9720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D8B6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anything comes up, ~</a:t>
            </a:r>
            <a:pPr indent="0" marL="0">
              <a:buNone/>
            </a:pPr>
            <a:r>
              <a:rPr lang="en-US" sz="1150" dirty="0">
                <a:solidFill>
                  <a:srgbClr val="9FB0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—   뭐가 생기면 ~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1444752" y="4590288"/>
            <a:ext cx="9720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“If anything comes up, you'll hear it from me first.”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22960" y="5047488"/>
            <a:ext cx="10543032" cy="786384"/>
          </a:xfrm>
          <a:prstGeom prst="roundRect">
            <a:avLst>
              <a:gd name="adj" fmla="val 10465"/>
            </a:avLst>
          </a:prstGeom>
          <a:solidFill>
            <a:srgbClr val="223A5E"/>
          </a:solidFill>
          <a:ln w="12700">
            <a:solidFill>
              <a:srgbClr val="223A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7552" y="513892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B6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444752" y="5111496"/>
            <a:ext cx="9720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D8B6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We'd like a chance to ~</a:t>
            </a:r>
            <a:pPr indent="0" marL="0">
              <a:buNone/>
            </a:pPr>
            <a:r>
              <a:rPr lang="en-US" sz="1150" dirty="0">
                <a:solidFill>
                  <a:srgbClr val="9FB0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—   ~할 기회를 주시면 좋겠습니다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1444752" y="5449824"/>
            <a:ext cx="9720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“We'd like a chance to win back your confidence with the next shipment.”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22960" y="5961888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FB0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8번은 크게 쓰면 가벼워집니다 — 한 번, 확인한 것에만.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D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47472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8B6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ROLEPLAY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603504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 Mode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188720"/>
            <a:ext cx="10543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FB0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Brian이 Autry 담당자 — 금요일의 그 콜입니다.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165592" y="64739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3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of 7   ·   Do English with Brian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2960" y="1737360"/>
            <a:ext cx="10543032" cy="1051560"/>
          </a:xfrm>
          <a:prstGeom prst="roundRect">
            <a:avLst>
              <a:gd name="adj" fmla="val 7826"/>
            </a:avLst>
          </a:prstGeom>
          <a:solidFill>
            <a:srgbClr val="2A4670"/>
          </a:solidFill>
          <a:ln w="12700">
            <a:solidFill>
              <a:srgbClr val="2A467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1810512"/>
            <a:ext cx="990295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i="1" dirty="0">
                <a:solidFill>
                  <a:srgbClr val="D8B6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“Hi Zini — you said you'd have something for us by Friday. What did you find?”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822960" y="301752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8B6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Flow guide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3310128"/>
            <a:ext cx="10543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 promised → 원인 (got to the bottom / turned out / came down to) → 조치 (already / full check) → 재발 방지 (going forward / my word) → 다음 (if anything comes up / a chance to)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397764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8B6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Follow-up jabs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" y="4279392"/>
            <a:ext cx="10543032" cy="566928"/>
          </a:xfrm>
          <a:prstGeom prst="roundRect">
            <a:avLst>
              <a:gd name="adj" fmla="val 14516"/>
            </a:avLst>
          </a:prstGeom>
          <a:solidFill>
            <a:srgbClr val="223A5E"/>
          </a:solidFill>
          <a:ln w="12700">
            <a:solidFill>
              <a:srgbClr val="223A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4343400"/>
            <a:ext cx="9994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“How do I know it won't happen again?”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22960" y="4937760"/>
            <a:ext cx="10543032" cy="566928"/>
          </a:xfrm>
          <a:prstGeom prst="roundRect">
            <a:avLst>
              <a:gd name="adj" fmla="val 14516"/>
            </a:avLst>
          </a:prstGeom>
          <a:solidFill>
            <a:srgbClr val="223A5E"/>
          </a:solidFill>
          <a:ln w="12700">
            <a:solidFill>
              <a:srgbClr val="223A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5001768"/>
            <a:ext cx="9994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“Why didn't your check catch it the first time?”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22960" y="5596128"/>
            <a:ext cx="10543032" cy="566928"/>
          </a:xfrm>
          <a:prstGeom prst="roundRect">
            <a:avLst>
              <a:gd name="adj" fmla="val 14516"/>
            </a:avLst>
          </a:prstGeom>
          <a:solidFill>
            <a:srgbClr val="223A5E"/>
          </a:solidFill>
          <a:ln w="12700">
            <a:solidFill>
              <a:srgbClr val="223A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5660136"/>
            <a:ext cx="9994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“If the next batch has one bad pair — then what?”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22960" y="6300216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i="1" dirty="0">
                <a:solidFill>
                  <a:srgbClr val="9FB0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isn't practice — this is the call you'll actually make.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D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47472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8B6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QUIZ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603504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Fill in the Blanks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188720"/>
            <a:ext cx="10543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FB0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빈칸 10 — 오늘 표현 그대로.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165592" y="64739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3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of 7   ·   Do English with Brian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2960" y="1645920"/>
            <a:ext cx="5134356" cy="822960"/>
          </a:xfrm>
          <a:prstGeom prst="roundRect">
            <a:avLst>
              <a:gd name="adj" fmla="val 10000"/>
            </a:avLst>
          </a:prstGeom>
          <a:solidFill>
            <a:srgbClr val="223A5E"/>
          </a:solidFill>
          <a:ln w="12700">
            <a:solidFill>
              <a:srgbClr val="223A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8B6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1719072"/>
            <a:ext cx="440283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 ____, here's what we found.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2578608"/>
            <a:ext cx="5134356" cy="822960"/>
          </a:xfrm>
          <a:prstGeom prst="roundRect">
            <a:avLst>
              <a:gd name="adj" fmla="val 10000"/>
            </a:avLst>
          </a:prstGeom>
          <a:solidFill>
            <a:srgbClr val="223A5E"/>
          </a:solidFill>
          <a:ln w="12700">
            <a:solidFill>
              <a:srgbClr val="223A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2670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8B6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2651760"/>
            <a:ext cx="440283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got to the ____ of the problem.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3511296"/>
            <a:ext cx="5134356" cy="822960"/>
          </a:xfrm>
          <a:prstGeom prst="roundRect">
            <a:avLst>
              <a:gd name="adj" fmla="val 10000"/>
            </a:avLst>
          </a:prstGeom>
          <a:solidFill>
            <a:srgbClr val="223A5E"/>
          </a:solidFill>
          <a:ln w="12700">
            <a:solidFill>
              <a:srgbClr val="223A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36027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8B6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3584448"/>
            <a:ext cx="440283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____ out to be the mold temperature.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" y="4443984"/>
            <a:ext cx="5134356" cy="822960"/>
          </a:xfrm>
          <a:prstGeom prst="roundRect">
            <a:avLst>
              <a:gd name="adj" fmla="val 10000"/>
            </a:avLst>
          </a:prstGeom>
          <a:solidFill>
            <a:srgbClr val="223A5E"/>
          </a:solidFill>
          <a:ln w="12700">
            <a:solidFill>
              <a:srgbClr val="223A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7552" y="45354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8B6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4517136"/>
            <a:ext cx="440283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whole thing came ____ to one setting.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22960" y="5376672"/>
            <a:ext cx="5134356" cy="822960"/>
          </a:xfrm>
          <a:prstGeom prst="roundRect">
            <a:avLst>
              <a:gd name="adj" fmla="val 10000"/>
            </a:avLst>
          </a:prstGeom>
          <a:solidFill>
            <a:srgbClr val="223A5E"/>
          </a:solidFill>
          <a:ln w="12700">
            <a:solidFill>
              <a:srgbClr val="223A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7552" y="54681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8B6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71600" y="5449824"/>
            <a:ext cx="440283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We've ____ adjusted it.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31636" y="1645920"/>
            <a:ext cx="5134356" cy="822960"/>
          </a:xfrm>
          <a:prstGeom prst="roundRect">
            <a:avLst>
              <a:gd name="adj" fmla="val 10000"/>
            </a:avLst>
          </a:prstGeom>
          <a:solidFill>
            <a:srgbClr val="223A5E"/>
          </a:solidFill>
          <a:ln w="12700">
            <a:solidFill>
              <a:srgbClr val="223A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96228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8B6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780276" y="1719072"/>
            <a:ext cx="440283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____ forward, every batch will be checked twice.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31636" y="2578608"/>
            <a:ext cx="5134356" cy="822960"/>
          </a:xfrm>
          <a:prstGeom prst="roundRect">
            <a:avLst>
              <a:gd name="adj" fmla="val 10000"/>
            </a:avLst>
          </a:prstGeom>
          <a:solidFill>
            <a:srgbClr val="223A5E"/>
          </a:solidFill>
          <a:ln w="12700">
            <a:solidFill>
              <a:srgbClr val="223A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96228" y="2670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8B6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780276" y="2651760"/>
            <a:ext cx="440283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ran a full ____ on that lot.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231636" y="3511296"/>
            <a:ext cx="5134356" cy="822960"/>
          </a:xfrm>
          <a:prstGeom prst="roundRect">
            <a:avLst>
              <a:gd name="adj" fmla="val 10000"/>
            </a:avLst>
          </a:prstGeom>
          <a:solidFill>
            <a:srgbClr val="223A5E"/>
          </a:solidFill>
          <a:ln w="12700">
            <a:solidFill>
              <a:srgbClr val="223A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96228" y="36027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8B6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780276" y="3584448"/>
            <a:ext cx="440283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have my ____ that it stays fixed.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231636" y="4443984"/>
            <a:ext cx="5134356" cy="822960"/>
          </a:xfrm>
          <a:prstGeom prst="roundRect">
            <a:avLst>
              <a:gd name="adj" fmla="val 10000"/>
            </a:avLst>
          </a:prstGeom>
          <a:solidFill>
            <a:srgbClr val="223A5E"/>
          </a:solidFill>
          <a:ln w="12700">
            <a:solidFill>
              <a:srgbClr val="223A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96228" y="45354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8B6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780276" y="4517136"/>
            <a:ext cx="440283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anything comes ____, you'll hear it from me first.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231636" y="5376672"/>
            <a:ext cx="5134356" cy="822960"/>
          </a:xfrm>
          <a:prstGeom prst="roundRect">
            <a:avLst>
              <a:gd name="adj" fmla="val 10000"/>
            </a:avLst>
          </a:prstGeom>
          <a:solidFill>
            <a:srgbClr val="223A5E"/>
          </a:solidFill>
          <a:ln w="12700">
            <a:solidFill>
              <a:srgbClr val="223A5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96228" y="54681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8B6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780276" y="5449824"/>
            <a:ext cx="440283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We'd like a ____ to win back your confidence.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2026-08-17T23:53:53Z</dcterms:created>
  <dcterms:modified xsi:type="dcterms:W3CDTF">2026-08-17T23:53:53Z</dcterms:modified>
</cp:coreProperties>
</file>