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80540" cy="6858000"/>
  <p:notesSz cx="6858000" cy="1218054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Autry와의 최근 회의에서 quality rejection 발생 — 실제 상황 기반. 핵심 톤: 무겁게 가지 않기. 변명도 과잉 사과도 아닌 '공급자로서 묻고, 판단하고, 해결책 내는' 화법. Autry는 인도네시아 현지 — 출장 인사 아닌 현지 관계 스몰토크.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표현 15개가 이 세 함정을 피하도록 설계됨. Zini에게 '사과를 잘하는 법'이 아니라 '문제를 다루는 법'을 배우는 거라고 프레임.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2번이 관계 자산 — 지난 대화를 기억했다는 신호. Autry가 인도네시아 현지라 출장·날씨 인사는 부자연스러움. 업계 소식(3)과 자기 근황(4·5)으로 여는 게 자연스러움.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4·5가 감정 대화를 사실 대화로 옮기는 장치 — 범위와 로트가 잡히면 회의 온도가 자동으로 내려감. 여기서 절대 원인 설명하지 말 것을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8번이 공급자 화법의 핵심 — 모르면 짐작이라도 주되 확인을 약속. '모르겠습니다'로 끝내면 신뢰가 빠지고, 확답하면 나중에 뒤집힘. 9는 반드시 두 가지 이상 제시.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성공 조건: ① 스몰토크에서 Zini가 먼저 화제를 던졌는가 ② 원인 설명을 사실 확인 뒤로 미뤘는가 ③ 인정이 한 번, 짧게였는가 ④ 계획으로 닫혔는가. '두 번째'라는 압박(2회차 언급)에서 방어로 넘어가지 않는지 관찰.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103120"/>
            <a:ext cx="121805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4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O   E N G L I S H   W I T H   B R I A 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0" y="2560320"/>
            <a:ext cx="121805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Zini — Class 4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0" y="3429000"/>
            <a:ext cx="121805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the Batch Comes Back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0" y="4069080"/>
            <a:ext cx="121805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quality rejection, handled without the weight.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65760"/>
            <a:ext cx="109735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START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3504" y="621792"/>
            <a:ext cx="109735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Heavy Should This Be?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3504" y="1152144"/>
            <a:ext cx="109735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클레임 회의가 무거워지는 건 대개 이 세 가지 때문이에요.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03504" y="1691640"/>
            <a:ext cx="10973532" cy="1371600"/>
          </a:xfrm>
          <a:prstGeom prst="roundRect">
            <a:avLst>
              <a:gd name="adj" fmla="val 6000"/>
            </a:avLst>
          </a:prstGeom>
          <a:solidFill>
            <a:srgbClr val="16273F"/>
          </a:solidFill>
          <a:ln w="8890">
            <a:solidFill>
              <a:srgbClr val="3E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1801368"/>
            <a:ext cx="104248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Over-apologizing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77824" y="2185416"/>
            <a:ext cx="104248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long apology makes the problem sound bigger than it is.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77824" y="2606040"/>
            <a:ext cx="104248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사과가 길어질수록 문제가 커 보여요. 짧게 인정하고 넘어가는 게 더 신뢰를 줍니다.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03504" y="3246120"/>
            <a:ext cx="10973532" cy="1371600"/>
          </a:xfrm>
          <a:prstGeom prst="roundRect">
            <a:avLst>
              <a:gd name="adj" fmla="val 6000"/>
            </a:avLst>
          </a:prstGeom>
          <a:solidFill>
            <a:srgbClr val="16273F"/>
          </a:solidFill>
          <a:ln w="8890">
            <a:solidFill>
              <a:srgbClr val="3E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3355848"/>
            <a:ext cx="104248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Explaining too early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877824" y="3739896"/>
            <a:ext cx="104248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Explaining before you know sounds like an excuse. Ask first.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77824" y="4160520"/>
            <a:ext cx="104248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원인을 알기 전에 설명부터 하면 변명으로 들려요. 먼저 묻고, 그다음 판단합니다.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3504" y="4800600"/>
            <a:ext cx="10973532" cy="1371600"/>
          </a:xfrm>
          <a:prstGeom prst="roundRect">
            <a:avLst>
              <a:gd name="adj" fmla="val 6000"/>
            </a:avLst>
          </a:prstGeom>
          <a:solidFill>
            <a:srgbClr val="16273F"/>
          </a:solidFill>
          <a:ln w="8890">
            <a:solidFill>
              <a:srgbClr val="3E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4910328"/>
            <a:ext cx="104248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Leaving it open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877824" y="5294376"/>
            <a:ext cx="104248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with a plan — or the weight follows you to the next meeting.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77824" y="5715000"/>
            <a:ext cx="104248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해결책과 재발 방지 없이 끝나면 다음 회의까지 무게가 이어져요.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03504" y="64922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7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833836" y="64922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65760"/>
            <a:ext cx="109735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WARMING THE ROOM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3504" y="621792"/>
            <a:ext cx="109735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Open the Conversation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3504" y="1152144"/>
            <a:ext cx="109735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다섯 개 모두 Zini가 먼저 던지는 말 — 화제를 만드는 쪽이 됩니다.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03504" y="1609344"/>
            <a:ext cx="10973532" cy="786384"/>
          </a:xfrm>
          <a:prstGeom prst="roundRect">
            <a:avLst>
              <a:gd name="adj" fmla="val 9302"/>
            </a:avLst>
          </a:prstGeom>
          <a:solidFill>
            <a:srgbClr val="16273F"/>
          </a:solidFill>
          <a:ln w="7620">
            <a:solidFill>
              <a:srgbClr val="3E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1664208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98448" y="1645920"/>
            <a:ext cx="100591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I've been meaning to ask you about ~</a:t>
            </a:r>
            <a:pPr indent="0" marL="0">
              <a:buNone/>
            </a:pPr>
            <a:r>
              <a:rPr lang="en-US" sz="11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안 그래도 ~를 여쭤보려던 참이었어요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298448" y="1956816"/>
            <a:ext cx="100591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“I've been meaning to ask you about the new season's colorways.”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3504" y="2468880"/>
            <a:ext cx="10973532" cy="786384"/>
          </a:xfrm>
          <a:prstGeom prst="roundRect">
            <a:avLst>
              <a:gd name="adj" fmla="val 9302"/>
            </a:avLst>
          </a:prstGeom>
          <a:solidFill>
            <a:srgbClr val="16273F"/>
          </a:solidFill>
          <a:ln w="7620">
            <a:solidFill>
              <a:srgbClr val="3E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2523744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98448" y="2505456"/>
            <a:ext cx="100591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Last time you mentioned ~ — how did that go?</a:t>
            </a:r>
            <a:pPr indent="0" marL="0">
              <a:buNone/>
            </a:pPr>
            <a:r>
              <a:rPr lang="en-US" sz="11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지난번에 ~ 말씀하셨는데, 어떻게 됐어요?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298448" y="2816352"/>
            <a:ext cx="100591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“Last time you mentioned the Milan showroom — how did that go?”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" y="3328416"/>
            <a:ext cx="10973532" cy="786384"/>
          </a:xfrm>
          <a:prstGeom prst="roundRect">
            <a:avLst>
              <a:gd name="adj" fmla="val 9302"/>
            </a:avLst>
          </a:prstGeom>
          <a:solidFill>
            <a:srgbClr val="16273F"/>
          </a:solidFill>
          <a:ln w="7620">
            <a:solidFill>
              <a:srgbClr val="3E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" y="3383280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98448" y="3364992"/>
            <a:ext cx="100591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You've probably heard about ~</a:t>
            </a:r>
            <a:pPr indent="0" marL="0">
              <a:buNone/>
            </a:pPr>
            <a:r>
              <a:rPr lang="en-US" sz="11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~ 얘기 들으셨죠?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298448" y="3675888"/>
            <a:ext cx="100591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“You've probably heard about the new rubber prices.”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" y="4187952"/>
            <a:ext cx="10973532" cy="786384"/>
          </a:xfrm>
          <a:prstGeom prst="roundRect">
            <a:avLst>
              <a:gd name="adj" fmla="val 9302"/>
            </a:avLst>
          </a:prstGeom>
          <a:solidFill>
            <a:srgbClr val="16273F"/>
          </a:solidFill>
          <a:ln w="7620">
            <a:solidFill>
              <a:srgbClr val="3E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" y="4242816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98448" y="4224528"/>
            <a:ext cx="100591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We've been flat out since ~</a:t>
            </a:r>
            <a:pPr indent="0" marL="0">
              <a:buNone/>
            </a:pPr>
            <a:r>
              <a:rPr lang="en-US" sz="11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~ 이후로 정신없이 바빴어요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298448" y="4535424"/>
            <a:ext cx="100591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“We've been flat out since the last shipment went out.”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3504" y="5047488"/>
            <a:ext cx="10973532" cy="786384"/>
          </a:xfrm>
          <a:prstGeom prst="roundRect">
            <a:avLst>
              <a:gd name="adj" fmla="val 9302"/>
            </a:avLst>
          </a:prstGeom>
          <a:solidFill>
            <a:srgbClr val="16273F"/>
          </a:solidFill>
          <a:ln w="7620">
            <a:solidFill>
              <a:srgbClr val="3E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5102352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98448" y="5084064"/>
            <a:ext cx="100591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our side, ~ has been the big one</a:t>
            </a:r>
            <a:pPr indent="0" marL="0">
              <a:buNone/>
            </a:pPr>
            <a:r>
              <a:rPr lang="en-US" sz="11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저희 쪽은 ~가 제일 큰 건이었어요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298448" y="5394960"/>
            <a:ext cx="100591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“On our side, the new line has been the big one — which is what I wanted to talk about.”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03504" y="5961888"/>
            <a:ext cx="109735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5번이 본론으로 가는 다리예요 — 내 근황을 꼺내면서 자연스럽게 주제를 엽니다.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03504" y="64922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7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833836" y="64922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65760"/>
            <a:ext cx="109735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THE REJECTION (1–5)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3504" y="621792"/>
            <a:ext cx="109735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 Before You Explain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3504" y="1152144"/>
            <a:ext cx="109735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감사로 열고, 사실로 좁힙니다. 아직 사과도 설명도 하지 않아요.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03504" y="1609344"/>
            <a:ext cx="10973532" cy="786384"/>
          </a:xfrm>
          <a:prstGeom prst="roundRect">
            <a:avLst>
              <a:gd name="adj" fmla="val 9302"/>
            </a:avLst>
          </a:prstGeom>
          <a:solidFill>
            <a:srgbClr val="16273F"/>
          </a:solidFill>
          <a:ln w="7620">
            <a:solidFill>
              <a:srgbClr val="3E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1664208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98448" y="1645920"/>
            <a:ext cx="100591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Thanks for flagging ~</a:t>
            </a:r>
            <a:pPr indent="0" marL="0">
              <a:buNone/>
            </a:pPr>
            <a:r>
              <a:rPr lang="en-US" sz="11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~ 알려주셔서 감사합니다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298448" y="1956816"/>
            <a:ext cx="100591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“Thanks for flagging this before the next run.”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3504" y="2468880"/>
            <a:ext cx="10973532" cy="786384"/>
          </a:xfrm>
          <a:prstGeom prst="roundRect">
            <a:avLst>
              <a:gd name="adj" fmla="val 9302"/>
            </a:avLst>
          </a:prstGeom>
          <a:solidFill>
            <a:srgbClr val="16273F"/>
          </a:solidFill>
          <a:ln w="7620">
            <a:solidFill>
              <a:srgbClr val="3E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2523744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98448" y="2505456"/>
            <a:ext cx="100591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I'd like to understand ~ better</a:t>
            </a:r>
            <a:pPr indent="0" marL="0">
              <a:buNone/>
            </a:pPr>
            <a:r>
              <a:rPr lang="en-US" sz="11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~를 더 정확히 이해하고 싶습니다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298448" y="2816352"/>
            <a:ext cx="100591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“I'd like to understand the issue better before I say anything.”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" y="3328416"/>
            <a:ext cx="10973532" cy="786384"/>
          </a:xfrm>
          <a:prstGeom prst="roundRect">
            <a:avLst>
              <a:gd name="adj" fmla="val 9302"/>
            </a:avLst>
          </a:prstGeom>
          <a:solidFill>
            <a:srgbClr val="16273F"/>
          </a:solidFill>
          <a:ln w="7620">
            <a:solidFill>
              <a:srgbClr val="3E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" y="3383280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98448" y="3364992"/>
            <a:ext cx="100591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Could you walk me through what you saw?</a:t>
            </a:r>
            <a:pPr indent="0" marL="0">
              <a:buNone/>
            </a:pPr>
            <a:r>
              <a:rPr lang="en-US" sz="11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어떤 걸 보셨는지 설명해주시겠어요?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298448" y="3675888"/>
            <a:ext cx="100591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“Could you walk me through what you saw on the outsoles?”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" y="4187952"/>
            <a:ext cx="10973532" cy="786384"/>
          </a:xfrm>
          <a:prstGeom prst="roundRect">
            <a:avLst>
              <a:gd name="adj" fmla="val 9302"/>
            </a:avLst>
          </a:prstGeom>
          <a:solidFill>
            <a:srgbClr val="16273F"/>
          </a:solidFill>
          <a:ln w="7620">
            <a:solidFill>
              <a:srgbClr val="3E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" y="4242816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98448" y="4224528"/>
            <a:ext cx="100591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it across the whole batch, or just ~?</a:t>
            </a:r>
            <a:pPr indent="0" marL="0">
              <a:buNone/>
            </a:pPr>
            <a:r>
              <a:rPr lang="en-US" sz="11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배치 전체였나요, 아니면 ~만?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298448" y="4535424"/>
            <a:ext cx="100591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“Was it across the whole batch, or just the black ones?”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3504" y="5047488"/>
            <a:ext cx="10973532" cy="786384"/>
          </a:xfrm>
          <a:prstGeom prst="roundRect">
            <a:avLst>
              <a:gd name="adj" fmla="val 9302"/>
            </a:avLst>
          </a:prstGeom>
          <a:solidFill>
            <a:srgbClr val="16273F"/>
          </a:solidFill>
          <a:ln w="7620">
            <a:solidFill>
              <a:srgbClr val="3E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5102352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98448" y="5084064"/>
            <a:ext cx="100591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you have the lot number handy?</a:t>
            </a:r>
            <a:pPr indent="0" marL="0">
              <a:buNone/>
            </a:pPr>
            <a:r>
              <a:rPr lang="en-US" sz="11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로트 번호 갖고 계세요?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298448" y="5394960"/>
            <a:ext cx="100591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 you have the lot number handy? That'll tell us which line it came off.”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03504" y="5961888"/>
            <a:ext cx="109735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1번이 톤을 결정해요 — 지적을 공격이 아니라 정보로 받아들이는 순간.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03504" y="64922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7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833836" y="64922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65760"/>
            <a:ext cx="109735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THE REJECTION (6–10)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3504" y="621792"/>
            <a:ext cx="109735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Own It, Then Fix It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3504" y="1152144"/>
            <a:ext cx="109735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짧게 인정하고, 확인을 약속하고, 계획으로 닫습니다.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03504" y="1609344"/>
            <a:ext cx="10973532" cy="786384"/>
          </a:xfrm>
          <a:prstGeom prst="roundRect">
            <a:avLst>
              <a:gd name="adj" fmla="val 9302"/>
            </a:avLst>
          </a:prstGeom>
          <a:solidFill>
            <a:srgbClr val="16273F"/>
          </a:solidFill>
          <a:ln w="7620">
            <a:solidFill>
              <a:srgbClr val="3E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1664208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98448" y="1645920"/>
            <a:ext cx="100591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That's on us</a:t>
            </a:r>
            <a:pPr indent="0" marL="0">
              <a:buNone/>
            </a:pPr>
            <a:r>
              <a:rPr lang="en-US" sz="11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그건 저희 잘못입니다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298448" y="1956816"/>
            <a:ext cx="100591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it came off our line like that — that's on us.”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3504" y="2468880"/>
            <a:ext cx="10973532" cy="786384"/>
          </a:xfrm>
          <a:prstGeom prst="roundRect">
            <a:avLst>
              <a:gd name="adj" fmla="val 9302"/>
            </a:avLst>
          </a:prstGeom>
          <a:solidFill>
            <a:srgbClr val="16273F"/>
          </a:solidFill>
          <a:ln w="7620">
            <a:solidFill>
              <a:srgbClr val="3E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2523744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98448" y="2505456"/>
            <a:ext cx="100591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 me look into ~ on our side</a:t>
            </a:r>
            <a:pPr indent="0" marL="0">
              <a:buNone/>
            </a:pPr>
            <a:r>
              <a:rPr lang="en-US" sz="11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~는 저희 쪽에서 확인해보겠습니다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298448" y="2816352"/>
            <a:ext cx="100591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“Let me look into the curing time on our side.”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" y="3328416"/>
            <a:ext cx="10973532" cy="786384"/>
          </a:xfrm>
          <a:prstGeom prst="roundRect">
            <a:avLst>
              <a:gd name="adj" fmla="val 9302"/>
            </a:avLst>
          </a:prstGeom>
          <a:solidFill>
            <a:srgbClr val="16273F"/>
          </a:solidFill>
          <a:ln w="7620">
            <a:solidFill>
              <a:srgbClr val="3E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" y="3383280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98448" y="3364992"/>
            <a:ext cx="100591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 guess is ~, but I'll confirm</a:t>
            </a:r>
            <a:pPr indent="0" marL="0">
              <a:buNone/>
            </a:pPr>
            <a:r>
              <a:rPr lang="en-US" sz="11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짐작으로는 ~인데, 확인하겠습니다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298448" y="3675888"/>
            <a:ext cx="100591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“My guess is the mold temperature, but I'll confirm before I promise anything.”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" y="4187952"/>
            <a:ext cx="10973532" cy="786384"/>
          </a:xfrm>
          <a:prstGeom prst="roundRect">
            <a:avLst>
              <a:gd name="adj" fmla="val 9302"/>
            </a:avLst>
          </a:prstGeom>
          <a:solidFill>
            <a:srgbClr val="16273F"/>
          </a:solidFill>
          <a:ln w="7620">
            <a:solidFill>
              <a:srgbClr val="3E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" y="4242816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98448" y="4224528"/>
            <a:ext cx="100591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Here's what we can do: ~</a:t>
            </a:r>
            <a:pPr indent="0" marL="0">
              <a:buNone/>
            </a:pPr>
            <a:r>
              <a:rPr lang="en-US" sz="11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저희가 할 수 있는 건 이렇습니다: ~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298448" y="4535424"/>
            <a:ext cx="100591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“Here's what we can do: replace the rejected units, and hold the next batch until you sign off.”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3504" y="5047488"/>
            <a:ext cx="10973532" cy="786384"/>
          </a:xfrm>
          <a:prstGeom prst="roundRect">
            <a:avLst>
              <a:gd name="adj" fmla="val 9302"/>
            </a:avLst>
          </a:prstGeom>
          <a:solidFill>
            <a:srgbClr val="16273F"/>
          </a:solidFill>
          <a:ln w="7620">
            <a:solidFill>
              <a:srgbClr val="3E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5102352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98448" y="5084064"/>
            <a:ext cx="100591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make sure it doesn't happen again, we'll ~</a:t>
            </a:r>
            <a:pPr indent="0" marL="0">
              <a:buNone/>
            </a:pPr>
            <a:r>
              <a:rPr lang="en-US" sz="11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재발 방지를 위해 ~하겠습니다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298448" y="5394960"/>
            <a:ext cx="100591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“To make sure it doesn't happen again, we'll add a check at the trimming stage.”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03504" y="5961888"/>
            <a:ext cx="109735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6번은 짧게, 한 번만 — 길어지면 문제가 더 커 보입니다.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03504" y="64922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of 7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833836" y="64922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65760"/>
            <a:ext cx="109735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ROLEPLAY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3504" y="621792"/>
            <a:ext cx="109735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Meeting, Start to Finish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03504" y="1645920"/>
            <a:ext cx="10973532" cy="3566160"/>
          </a:xfrm>
          <a:prstGeom prst="roundRect">
            <a:avLst>
              <a:gd name="adj" fmla="val 2564"/>
            </a:avLst>
          </a:prstGeom>
          <a:solidFill>
            <a:srgbClr val="2E4A52"/>
          </a:solidFill>
          <a:ln w="12700">
            <a:solidFill>
              <a:srgbClr val="A0D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23544" y="1874520"/>
            <a:ext cx="1033345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spc="150" kern="0" dirty="0">
                <a:solidFill>
                  <a:srgbClr val="A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MISSION
</a:t>
            </a:r>
            <a:pPr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light, get the facts, own it once, and leave with a plan.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흐름:  스몰토크(1–5)  →  사실 확인(1–5)  →  인정과 확인 약속(6–8)  →  해결책과 재발 방지(9–10)
</a:t>
            </a:r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Brian은 Autry 구매 담당 — 처음엔 가벼운 얼굴이다가 본론에서 톤이 낮아집니다:
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“We had to pull about forty pairs from the last shipment.”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“Honestly, this is the second time this year.”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“What are you going to do about it?”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3504" y="64922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of 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833836" y="64922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65760"/>
            <a:ext cx="109735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UP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3504" y="621792"/>
            <a:ext cx="109735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We Finish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03504" y="1783080"/>
            <a:ext cx="10973532" cy="1298448"/>
          </a:xfrm>
          <a:prstGeom prst="roundRect">
            <a:avLst>
              <a:gd name="adj" fmla="val 6338"/>
            </a:avLst>
          </a:prstGeom>
          <a:solidFill>
            <a:srgbClr val="16273F"/>
          </a:solidFill>
          <a:ln w="8890">
            <a:solidFill>
              <a:srgbClr val="3E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7824" y="1929384"/>
            <a:ext cx="104248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order matters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877824" y="2368296"/>
            <a:ext cx="104248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묻고 → 인정하고 → 고치기. 순서를 바꾸면 변명이 됩니다.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3504" y="3264408"/>
            <a:ext cx="10973532" cy="1298448"/>
          </a:xfrm>
          <a:prstGeom prst="roundRect">
            <a:avLst>
              <a:gd name="adj" fmla="val 6338"/>
            </a:avLst>
          </a:prstGeom>
          <a:solidFill>
            <a:srgbClr val="16273F"/>
          </a:solidFill>
          <a:ln w="8890">
            <a:solidFill>
              <a:srgbClr val="3E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3410712"/>
            <a:ext cx="104248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sentences to keep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877824" y="3849624"/>
            <a:ext cx="104248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on us · Here's what we can do — 오늘의 두 문장.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3504" y="4745736"/>
            <a:ext cx="10973532" cy="1298448"/>
          </a:xfrm>
          <a:prstGeom prst="roundRect">
            <a:avLst>
              <a:gd name="adj" fmla="val 6338"/>
            </a:avLst>
          </a:prstGeom>
          <a:solidFill>
            <a:srgbClr val="16273F"/>
          </a:solidFill>
          <a:ln w="8890">
            <a:solidFill>
              <a:srgbClr val="3E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4892040"/>
            <a:ext cx="104248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time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877824" y="5330952"/>
            <a:ext cx="104248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해결책을 약속한 다음 — 결과를 보고하는 후속 대화로 이어가요.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0" y="6217920"/>
            <a:ext cx="12180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work today, Zini!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03504" y="64922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of 7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833836" y="64922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2026-08-09T11:40:37Z</dcterms:created>
  <dcterms:modified xsi:type="dcterms:W3CDTF">2026-08-09T11:40:37Z</dcterms:modified>
</cp:coreProperties>
</file>